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rgbClr val="1B4F8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9FB8CC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Quantum-Inspired</a:t>
            </a:r>
            <a:r>
              <a:rPr dirty="0" spc="80"/>
              <a:t> </a:t>
            </a:r>
            <a:r>
              <a:rPr dirty="0"/>
              <a:t>NIDS</a:t>
            </a:r>
            <a:r>
              <a:rPr dirty="0" spc="355"/>
              <a:t> </a:t>
            </a:r>
            <a:r>
              <a:rPr dirty="0"/>
              <a:t>|</a:t>
            </a:r>
            <a:r>
              <a:rPr dirty="0" spc="250"/>
              <a:t> </a:t>
            </a:r>
            <a:r>
              <a:rPr dirty="0"/>
              <a:t>Ini</a:t>
            </a:r>
            <a:r>
              <a:rPr dirty="0" spc="-55"/>
              <a:t> </a:t>
            </a:r>
            <a:r>
              <a:rPr dirty="0"/>
              <a:t>tial</a:t>
            </a:r>
            <a:r>
              <a:rPr dirty="0" spc="155"/>
              <a:t> </a:t>
            </a:r>
            <a:r>
              <a:rPr dirty="0" spc="-10"/>
              <a:t>Defence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1B4F8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9FB8CC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Quantum-Inspired</a:t>
            </a:r>
            <a:r>
              <a:rPr dirty="0" spc="80"/>
              <a:t> </a:t>
            </a:r>
            <a:r>
              <a:rPr dirty="0"/>
              <a:t>NIDS</a:t>
            </a:r>
            <a:r>
              <a:rPr dirty="0" spc="355"/>
              <a:t> </a:t>
            </a:r>
            <a:r>
              <a:rPr dirty="0"/>
              <a:t>|</a:t>
            </a:r>
            <a:r>
              <a:rPr dirty="0" spc="250"/>
              <a:t> </a:t>
            </a:r>
            <a:r>
              <a:rPr dirty="0"/>
              <a:t>Ini</a:t>
            </a:r>
            <a:r>
              <a:rPr dirty="0" spc="-55"/>
              <a:t> </a:t>
            </a:r>
            <a:r>
              <a:rPr dirty="0"/>
              <a:t>tial</a:t>
            </a:r>
            <a:r>
              <a:rPr dirty="0" spc="155"/>
              <a:t> </a:t>
            </a:r>
            <a:r>
              <a:rPr dirty="0" spc="-10"/>
              <a:t>Defence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1B4F8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9FB8CC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Quantum-Inspired</a:t>
            </a:r>
            <a:r>
              <a:rPr dirty="0" spc="80"/>
              <a:t> </a:t>
            </a:r>
            <a:r>
              <a:rPr dirty="0"/>
              <a:t>NIDS</a:t>
            </a:r>
            <a:r>
              <a:rPr dirty="0" spc="355"/>
              <a:t> </a:t>
            </a:r>
            <a:r>
              <a:rPr dirty="0"/>
              <a:t>|</a:t>
            </a:r>
            <a:r>
              <a:rPr dirty="0" spc="250"/>
              <a:t> </a:t>
            </a:r>
            <a:r>
              <a:rPr dirty="0"/>
              <a:t>Ini</a:t>
            </a:r>
            <a:r>
              <a:rPr dirty="0" spc="-55"/>
              <a:t> </a:t>
            </a:r>
            <a:r>
              <a:rPr dirty="0"/>
              <a:t>tial</a:t>
            </a:r>
            <a:r>
              <a:rPr dirty="0" spc="155"/>
              <a:t> </a:t>
            </a:r>
            <a:r>
              <a:rPr dirty="0" spc="-10"/>
              <a:t>Defence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62625" y="0"/>
            <a:ext cx="3381375" cy="51435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38850" y="552450"/>
            <a:ext cx="2552700" cy="255270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23850" y="266700"/>
            <a:ext cx="19050" cy="800100"/>
          </a:xfrm>
          <a:custGeom>
            <a:avLst/>
            <a:gdLst/>
            <a:ahLst/>
            <a:cxnLst/>
            <a:rect l="l" t="t" r="r" b="b"/>
            <a:pathLst>
              <a:path w="19050" h="800100">
                <a:moveTo>
                  <a:pt x="19050" y="0"/>
                </a:moveTo>
                <a:lnTo>
                  <a:pt x="0" y="0"/>
                </a:lnTo>
                <a:lnTo>
                  <a:pt x="0" y="800100"/>
                </a:lnTo>
                <a:lnTo>
                  <a:pt x="19050" y="800100"/>
                </a:lnTo>
                <a:lnTo>
                  <a:pt x="19050" y="0"/>
                </a:lnTo>
                <a:close/>
              </a:path>
            </a:pathLst>
          </a:custGeom>
          <a:solidFill>
            <a:srgbClr val="297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1B4F8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9FB8CC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Quantum-Inspired</a:t>
            </a:r>
            <a:r>
              <a:rPr dirty="0" spc="80"/>
              <a:t> </a:t>
            </a:r>
            <a:r>
              <a:rPr dirty="0"/>
              <a:t>NIDS</a:t>
            </a:r>
            <a:r>
              <a:rPr dirty="0" spc="355"/>
              <a:t> </a:t>
            </a:r>
            <a:r>
              <a:rPr dirty="0"/>
              <a:t>|</a:t>
            </a:r>
            <a:r>
              <a:rPr dirty="0" spc="250"/>
              <a:t> </a:t>
            </a:r>
            <a:r>
              <a:rPr dirty="0"/>
              <a:t>Ini</a:t>
            </a:r>
            <a:r>
              <a:rPr dirty="0" spc="-55"/>
              <a:t> </a:t>
            </a:r>
            <a:r>
              <a:rPr dirty="0"/>
              <a:t>tial</a:t>
            </a:r>
            <a:r>
              <a:rPr dirty="0" spc="155"/>
              <a:t> </a:t>
            </a:r>
            <a:r>
              <a:rPr dirty="0" spc="-10"/>
              <a:t>Defence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9FB8CC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Quantum-Inspired</a:t>
            </a:r>
            <a:r>
              <a:rPr dirty="0" spc="80"/>
              <a:t> </a:t>
            </a:r>
            <a:r>
              <a:rPr dirty="0"/>
              <a:t>NIDS</a:t>
            </a:r>
            <a:r>
              <a:rPr dirty="0" spc="355"/>
              <a:t> </a:t>
            </a:r>
            <a:r>
              <a:rPr dirty="0"/>
              <a:t>|</a:t>
            </a:r>
            <a:r>
              <a:rPr dirty="0" spc="250"/>
              <a:t> </a:t>
            </a:r>
            <a:r>
              <a:rPr dirty="0"/>
              <a:t>Ini</a:t>
            </a:r>
            <a:r>
              <a:rPr dirty="0" spc="-55"/>
              <a:t> </a:t>
            </a:r>
            <a:r>
              <a:rPr dirty="0"/>
              <a:t>tial</a:t>
            </a:r>
            <a:r>
              <a:rPr dirty="0" spc="155"/>
              <a:t> </a:t>
            </a:r>
            <a:r>
              <a:rPr dirty="0" spc="-10"/>
              <a:t>Defence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3200400" cy="66675"/>
          </a:xfrm>
          <a:custGeom>
            <a:avLst/>
            <a:gdLst/>
            <a:ahLst/>
            <a:cxnLst/>
            <a:rect l="l" t="t" r="r" b="b"/>
            <a:pathLst>
              <a:path w="3200400" h="66675">
                <a:moveTo>
                  <a:pt x="3200400" y="0"/>
                </a:moveTo>
                <a:lnTo>
                  <a:pt x="0" y="0"/>
                </a:lnTo>
                <a:lnTo>
                  <a:pt x="0" y="66675"/>
                </a:lnTo>
                <a:lnTo>
                  <a:pt x="3200400" y="66675"/>
                </a:lnTo>
                <a:lnTo>
                  <a:pt x="3200400" y="0"/>
                </a:lnTo>
                <a:close/>
              </a:path>
            </a:pathLst>
          </a:custGeom>
          <a:solidFill>
            <a:srgbClr val="1B4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200400" y="0"/>
            <a:ext cx="5943600" cy="66675"/>
          </a:xfrm>
          <a:custGeom>
            <a:avLst/>
            <a:gdLst/>
            <a:ahLst/>
            <a:cxnLst/>
            <a:rect l="l" t="t" r="r" b="b"/>
            <a:pathLst>
              <a:path w="5943600" h="66675">
                <a:moveTo>
                  <a:pt x="5943600" y="0"/>
                </a:moveTo>
                <a:lnTo>
                  <a:pt x="0" y="0"/>
                </a:lnTo>
                <a:lnTo>
                  <a:pt x="0" y="66675"/>
                </a:lnTo>
                <a:lnTo>
                  <a:pt x="5943600" y="66675"/>
                </a:lnTo>
                <a:lnTo>
                  <a:pt x="5943600" y="0"/>
                </a:lnTo>
                <a:close/>
              </a:path>
            </a:pathLst>
          </a:custGeom>
          <a:solidFill>
            <a:srgbClr val="297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3522" y="523874"/>
            <a:ext cx="8656955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rgbClr val="1B4F8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657" y="1233252"/>
            <a:ext cx="4144010" cy="1866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16217" y="5031714"/>
            <a:ext cx="1522730" cy="13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9FB8CC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Quantum-Inspired</a:t>
            </a:r>
            <a:r>
              <a:rPr dirty="0" spc="80"/>
              <a:t> </a:t>
            </a:r>
            <a:r>
              <a:rPr dirty="0"/>
              <a:t>NIDS</a:t>
            </a:r>
            <a:r>
              <a:rPr dirty="0" spc="355"/>
              <a:t> </a:t>
            </a:r>
            <a:r>
              <a:rPr dirty="0"/>
              <a:t>|</a:t>
            </a:r>
            <a:r>
              <a:rPr dirty="0" spc="250"/>
              <a:t> </a:t>
            </a:r>
            <a:r>
              <a:rPr dirty="0"/>
              <a:t>Ini</a:t>
            </a:r>
            <a:r>
              <a:rPr dirty="0" spc="-55"/>
              <a:t> </a:t>
            </a:r>
            <a:r>
              <a:rPr dirty="0"/>
              <a:t>tial</a:t>
            </a:r>
            <a:r>
              <a:rPr dirty="0" spc="155"/>
              <a:t> </a:t>
            </a:r>
            <a:r>
              <a:rPr dirty="0" spc="-10"/>
              <a:t>Defence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3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2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29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4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23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5667375" y="0"/>
            <a:ext cx="3476625" cy="5143500"/>
            <a:chOff x="5667375" y="0"/>
            <a:chExt cx="3476625" cy="514350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7375" y="0"/>
              <a:ext cx="3476625" cy="5143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3600" y="457200"/>
              <a:ext cx="2743200" cy="2743200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323850" y="295275"/>
            <a:ext cx="47625" cy="819150"/>
          </a:xfrm>
          <a:custGeom>
            <a:avLst/>
            <a:gdLst/>
            <a:ahLst/>
            <a:cxnLst/>
            <a:rect l="l" t="t" r="r" b="b"/>
            <a:pathLst>
              <a:path w="47625" h="819150">
                <a:moveTo>
                  <a:pt x="47625" y="0"/>
                </a:moveTo>
                <a:lnTo>
                  <a:pt x="0" y="0"/>
                </a:lnTo>
                <a:lnTo>
                  <a:pt x="0" y="819150"/>
                </a:lnTo>
                <a:lnTo>
                  <a:pt x="47625" y="819150"/>
                </a:lnTo>
                <a:lnTo>
                  <a:pt x="47625" y="0"/>
                </a:lnTo>
                <a:close/>
              </a:path>
            </a:pathLst>
          </a:custGeom>
          <a:solidFill>
            <a:srgbClr val="297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90855" y="339407"/>
            <a:ext cx="226060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I</a:t>
            </a:r>
            <a:r>
              <a:rPr dirty="0" sz="900" spc="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N</a:t>
            </a:r>
            <a:r>
              <a:rPr dirty="0" sz="900" spc="-50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I</a:t>
            </a:r>
            <a:r>
              <a:rPr dirty="0" sz="900" spc="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T</a:t>
            </a:r>
            <a:r>
              <a:rPr dirty="0" sz="900" spc="20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I</a:t>
            </a:r>
            <a:r>
              <a:rPr dirty="0" sz="900" spc="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A</a:t>
            </a:r>
            <a:r>
              <a:rPr dirty="0" sz="900" spc="-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L</a:t>
            </a:r>
            <a:r>
              <a:rPr dirty="0" sz="900" spc="380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D</a:t>
            </a:r>
            <a:r>
              <a:rPr dirty="0" sz="900" spc="-20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E</a:t>
            </a:r>
            <a:r>
              <a:rPr dirty="0" sz="900" spc="-4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F</a:t>
            </a:r>
            <a:r>
              <a:rPr dirty="0" sz="900" spc="5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E</a:t>
            </a:r>
            <a:r>
              <a:rPr dirty="0" sz="900" spc="-4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N</a:t>
            </a:r>
            <a:r>
              <a:rPr dirty="0" sz="900" spc="2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C</a:t>
            </a:r>
            <a:r>
              <a:rPr dirty="0" sz="900" spc="-10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E</a:t>
            </a:r>
            <a:r>
              <a:rPr dirty="0" sz="900" spc="320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P</a:t>
            </a:r>
            <a:r>
              <a:rPr dirty="0" sz="900" spc="-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R</a:t>
            </a:r>
            <a:r>
              <a:rPr dirty="0" sz="900" spc="3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E</a:t>
            </a:r>
            <a:r>
              <a:rPr dirty="0" sz="900" spc="-4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S</a:t>
            </a:r>
            <a:r>
              <a:rPr dirty="0" sz="900" spc="40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E</a:t>
            </a:r>
            <a:r>
              <a:rPr dirty="0" sz="900" spc="-4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N</a:t>
            </a:r>
            <a:r>
              <a:rPr dirty="0" sz="900" spc="2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79ABDC"/>
                </a:solidFill>
                <a:latin typeface="Calibri"/>
                <a:cs typeface="Calibri"/>
              </a:rPr>
              <a:t>T</a:t>
            </a:r>
            <a:r>
              <a:rPr dirty="0" sz="900" spc="-5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A</a:t>
            </a:r>
            <a:r>
              <a:rPr dirty="0" sz="900" spc="-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T</a:t>
            </a:r>
            <a:r>
              <a:rPr dirty="0" sz="900" spc="20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I</a:t>
            </a:r>
            <a:r>
              <a:rPr dirty="0" sz="900" spc="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79ABDC"/>
                </a:solidFill>
                <a:latin typeface="Calibri"/>
                <a:cs typeface="Calibri"/>
              </a:rPr>
              <a:t>O</a:t>
            </a:r>
            <a:r>
              <a:rPr dirty="0" sz="900" spc="15" b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900" spc="-50" b="1">
                <a:solidFill>
                  <a:srgbClr val="79ABDC"/>
                </a:solidFill>
                <a:latin typeface="Calibri"/>
                <a:cs typeface="Calibri"/>
              </a:rPr>
              <a:t>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90855" y="618553"/>
            <a:ext cx="189293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55">
                <a:solidFill>
                  <a:srgbClr val="5A8BAF"/>
                </a:solidFill>
                <a:latin typeface="Calibri"/>
                <a:cs typeface="Calibri"/>
              </a:rPr>
              <a:t>CO</a:t>
            </a:r>
            <a:r>
              <a:rPr dirty="0" sz="800" spc="-45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A8BAF"/>
                </a:solidFill>
                <a:latin typeface="Calibri"/>
                <a:cs typeface="Calibri"/>
              </a:rPr>
              <a:t>M</a:t>
            </a:r>
            <a:r>
              <a:rPr dirty="0" sz="800" spc="-50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 spc="60">
                <a:solidFill>
                  <a:srgbClr val="5A8BAF"/>
                </a:solidFill>
                <a:latin typeface="Calibri"/>
                <a:cs typeface="Calibri"/>
              </a:rPr>
              <a:t>PU</a:t>
            </a:r>
            <a:r>
              <a:rPr dirty="0" sz="800" spc="-25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A8BAF"/>
                </a:solidFill>
                <a:latin typeface="Calibri"/>
                <a:cs typeface="Calibri"/>
              </a:rPr>
              <a:t>T</a:t>
            </a:r>
            <a:r>
              <a:rPr dirty="0" sz="800" spc="-55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A8BAF"/>
                </a:solidFill>
                <a:latin typeface="Calibri"/>
                <a:cs typeface="Calibri"/>
              </a:rPr>
              <a:t>E</a:t>
            </a:r>
            <a:r>
              <a:rPr dirty="0" sz="800" spc="-55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A8BAF"/>
                </a:solidFill>
                <a:latin typeface="Calibri"/>
                <a:cs typeface="Calibri"/>
              </a:rPr>
              <a:t>R</a:t>
            </a:r>
            <a:r>
              <a:rPr dirty="0" sz="800" spc="225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A8BAF"/>
                </a:solidFill>
                <a:latin typeface="Calibri"/>
                <a:cs typeface="Calibri"/>
              </a:rPr>
              <a:t>S</a:t>
            </a:r>
            <a:r>
              <a:rPr dirty="0" sz="800" spc="-25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 spc="65">
                <a:solidFill>
                  <a:srgbClr val="5A8BAF"/>
                </a:solidFill>
                <a:latin typeface="Calibri"/>
                <a:cs typeface="Calibri"/>
              </a:rPr>
              <a:t>CIE</a:t>
            </a:r>
            <a:r>
              <a:rPr dirty="0" sz="800" spc="-50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A8BAF"/>
                </a:solidFill>
                <a:latin typeface="Calibri"/>
                <a:cs typeface="Calibri"/>
              </a:rPr>
              <a:t>N</a:t>
            </a:r>
            <a:r>
              <a:rPr dirty="0" sz="800" spc="-30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 spc="50">
                <a:solidFill>
                  <a:srgbClr val="5A8BAF"/>
                </a:solidFill>
                <a:latin typeface="Calibri"/>
                <a:cs typeface="Calibri"/>
              </a:rPr>
              <a:t>CE</a:t>
            </a:r>
            <a:r>
              <a:rPr dirty="0" sz="800" spc="270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 spc="60">
                <a:solidFill>
                  <a:srgbClr val="5A8BAF"/>
                </a:solidFill>
                <a:latin typeface="Calibri"/>
                <a:cs typeface="Calibri"/>
              </a:rPr>
              <a:t>DE</a:t>
            </a:r>
            <a:r>
              <a:rPr dirty="0" sz="800" spc="-50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 spc="60">
                <a:solidFill>
                  <a:srgbClr val="5A8BAF"/>
                </a:solidFill>
                <a:latin typeface="Calibri"/>
                <a:cs typeface="Calibri"/>
              </a:rPr>
              <a:t>PA</a:t>
            </a:r>
            <a:r>
              <a:rPr dirty="0" sz="800" spc="-55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A8BAF"/>
                </a:solidFill>
                <a:latin typeface="Calibri"/>
                <a:cs typeface="Calibri"/>
              </a:rPr>
              <a:t>RT</a:t>
            </a:r>
            <a:r>
              <a:rPr dirty="0" sz="800" spc="-50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A8BAF"/>
                </a:solidFill>
                <a:latin typeface="Calibri"/>
                <a:cs typeface="Calibri"/>
              </a:rPr>
              <a:t>M</a:t>
            </a:r>
            <a:r>
              <a:rPr dirty="0" sz="800" spc="-55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A8BAF"/>
                </a:solidFill>
                <a:latin typeface="Calibri"/>
                <a:cs typeface="Calibri"/>
              </a:rPr>
              <a:t>E</a:t>
            </a:r>
            <a:r>
              <a:rPr dirty="0" sz="800" spc="-50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A8BAF"/>
                </a:solidFill>
                <a:latin typeface="Calibri"/>
                <a:cs typeface="Calibri"/>
              </a:rPr>
              <a:t>N</a:t>
            </a:r>
            <a:r>
              <a:rPr dirty="0" sz="800" spc="-35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5A8BAF"/>
                </a:solidFill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06000"/>
              </a:lnSpc>
              <a:spcBef>
                <a:spcPts val="90"/>
              </a:spcBef>
            </a:pPr>
            <a:r>
              <a:rPr dirty="0" spc="-20"/>
              <a:t>Quantum-</a:t>
            </a:r>
            <a:r>
              <a:rPr dirty="0" spc="-10"/>
              <a:t>Inspired </a:t>
            </a:r>
            <a:r>
              <a:rPr dirty="0" spc="-10">
                <a:solidFill>
                  <a:srgbClr val="5BC7F5"/>
                </a:solidFill>
              </a:rPr>
              <a:t>Network</a:t>
            </a:r>
            <a:r>
              <a:rPr dirty="0" spc="-150">
                <a:solidFill>
                  <a:srgbClr val="5BC7F5"/>
                </a:solidFill>
              </a:rPr>
              <a:t> </a:t>
            </a:r>
            <a:r>
              <a:rPr dirty="0" spc="-10">
                <a:solidFill>
                  <a:srgbClr val="5BC7F5"/>
                </a:solidFill>
              </a:rPr>
              <a:t>Intrusion </a:t>
            </a:r>
            <a:r>
              <a:rPr dirty="0"/>
              <a:t>Detection</a:t>
            </a:r>
            <a:r>
              <a:rPr dirty="0" spc="-135"/>
              <a:t> </a:t>
            </a:r>
            <a:r>
              <a:rPr dirty="0" spc="-10"/>
              <a:t>System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307657" y="3353498"/>
            <a:ext cx="3183890" cy="38989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dirty="0" sz="1200" i="1">
                <a:solidFill>
                  <a:srgbClr val="8ABCD9"/>
                </a:solidFill>
                <a:latin typeface="Calibri"/>
                <a:cs typeface="Calibri"/>
              </a:rPr>
              <a:t>Optimizing</a:t>
            </a:r>
            <a:r>
              <a:rPr dirty="0" sz="1200" spc="-20" i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8ABCD9"/>
                </a:solidFill>
                <a:latin typeface="Calibri"/>
                <a:cs typeface="Calibri"/>
              </a:rPr>
              <a:t>ML-</a:t>
            </a:r>
            <a:r>
              <a:rPr dirty="0" sz="1200" i="1">
                <a:solidFill>
                  <a:srgbClr val="8ABCD9"/>
                </a:solidFill>
                <a:latin typeface="Calibri"/>
                <a:cs typeface="Calibri"/>
              </a:rPr>
              <a:t>based</a:t>
            </a:r>
            <a:r>
              <a:rPr dirty="0" sz="1200" spc="-20" i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8ABCD9"/>
                </a:solidFill>
                <a:latin typeface="Calibri"/>
                <a:cs typeface="Calibri"/>
              </a:rPr>
              <a:t>NIDS</a:t>
            </a:r>
            <a:r>
              <a:rPr dirty="0" sz="1200" spc="-20" i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8ABCD9"/>
                </a:solidFill>
                <a:latin typeface="Calibri"/>
                <a:cs typeface="Calibri"/>
              </a:rPr>
              <a:t>using</a:t>
            </a:r>
            <a:r>
              <a:rPr dirty="0" sz="1200" spc="-15" i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8ABCD9"/>
                </a:solidFill>
                <a:latin typeface="Calibri"/>
                <a:cs typeface="Calibri"/>
              </a:rPr>
              <a:t>Quantum-Inspired </a:t>
            </a:r>
            <a:r>
              <a:rPr dirty="0" sz="1200" i="1">
                <a:solidFill>
                  <a:srgbClr val="8ABCD9"/>
                </a:solidFill>
                <a:latin typeface="Calibri"/>
                <a:cs typeface="Calibri"/>
              </a:rPr>
              <a:t>Algorithms</a:t>
            </a:r>
            <a:r>
              <a:rPr dirty="0" sz="1200" spc="-35" i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1200" spc="-20" i="1">
                <a:solidFill>
                  <a:srgbClr val="8ABCD9"/>
                </a:solidFill>
                <a:latin typeface="Calibri"/>
                <a:cs typeface="Calibri"/>
              </a:rPr>
              <a:t>for</a:t>
            </a:r>
            <a:r>
              <a:rPr dirty="0" sz="1200" spc="-45" i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8ABCD9"/>
                </a:solidFill>
                <a:latin typeface="Calibri"/>
                <a:cs typeface="Calibri"/>
              </a:rPr>
              <a:t>Feature</a:t>
            </a:r>
            <a:r>
              <a:rPr dirty="0" sz="1200" spc="10" i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8ABCD9"/>
                </a:solidFill>
                <a:latin typeface="Calibri"/>
                <a:cs typeface="Calibri"/>
              </a:rPr>
              <a:t>Selection</a:t>
            </a:r>
            <a:r>
              <a:rPr dirty="0" sz="1200" spc="-25" i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8ABCD9"/>
                </a:solidFill>
                <a:latin typeface="Calibri"/>
                <a:cs typeface="Calibri"/>
              </a:rPr>
              <a:t>&amp;</a:t>
            </a:r>
            <a:r>
              <a:rPr dirty="0" sz="1200" spc="-70" i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8ABCD9"/>
                </a:solidFill>
                <a:latin typeface="Calibri"/>
                <a:cs typeface="Calibri"/>
              </a:rPr>
              <a:t>Classification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23850" y="3952875"/>
            <a:ext cx="4752975" cy="28575"/>
          </a:xfrm>
          <a:custGeom>
            <a:avLst/>
            <a:gdLst/>
            <a:ahLst/>
            <a:cxnLst/>
            <a:rect l="l" t="t" r="r" b="b"/>
            <a:pathLst>
              <a:path w="4752975" h="28575">
                <a:moveTo>
                  <a:pt x="4752975" y="0"/>
                </a:moveTo>
                <a:lnTo>
                  <a:pt x="0" y="0"/>
                </a:lnTo>
                <a:lnTo>
                  <a:pt x="0" y="28575"/>
                </a:lnTo>
                <a:lnTo>
                  <a:pt x="4752975" y="28575"/>
                </a:lnTo>
                <a:lnTo>
                  <a:pt x="4752975" y="0"/>
                </a:lnTo>
                <a:close/>
              </a:path>
            </a:pathLst>
          </a:custGeom>
          <a:solidFill>
            <a:srgbClr val="395F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307657" y="4066857"/>
            <a:ext cx="656590" cy="431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100"/>
              </a:spcBef>
            </a:pPr>
            <a:r>
              <a:rPr dirty="0" sz="800">
                <a:solidFill>
                  <a:srgbClr val="5A8BAF"/>
                </a:solidFill>
                <a:latin typeface="Calibri"/>
                <a:cs typeface="Calibri"/>
              </a:rPr>
              <a:t>Presented</a:t>
            </a:r>
            <a:r>
              <a:rPr dirty="0" sz="800" spc="-20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5A8BAF"/>
                </a:solidFill>
                <a:latin typeface="Calibri"/>
                <a:cs typeface="Calibri"/>
              </a:rPr>
              <a:t>by</a:t>
            </a:r>
            <a:r>
              <a:rPr dirty="0" sz="800" spc="500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Anita 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Bashir</a:t>
            </a:r>
            <a:r>
              <a:rPr dirty="0" sz="900" spc="5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Nayab</a:t>
            </a:r>
            <a:r>
              <a:rPr dirty="0" sz="9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Bashir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15999" y="4066857"/>
            <a:ext cx="328295" cy="4311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5A8BAF"/>
                </a:solidFill>
                <a:latin typeface="Calibri"/>
                <a:cs typeface="Calibri"/>
              </a:rPr>
              <a:t>Roll</a:t>
            </a:r>
            <a:r>
              <a:rPr dirty="0" sz="800" spc="-15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5A8BAF"/>
                </a:solidFill>
                <a:latin typeface="Calibri"/>
                <a:cs typeface="Calibri"/>
              </a:rPr>
              <a:t>No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25" b="1">
                <a:solidFill>
                  <a:srgbClr val="FFFFFF"/>
                </a:solidFill>
                <a:latin typeface="Calibri"/>
                <a:cs typeface="Calibri"/>
              </a:rPr>
              <a:t>92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00" spc="-25" b="1">
                <a:solidFill>
                  <a:srgbClr val="FFFFFF"/>
                </a:solidFill>
                <a:latin typeface="Calibri"/>
                <a:cs typeface="Calibri"/>
              </a:rPr>
              <a:t>74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724150" y="4004283"/>
            <a:ext cx="1748789" cy="419734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  <a:tabLst>
                <a:tab pos="1220470" algn="l"/>
              </a:tabLst>
            </a:pPr>
            <a:r>
              <a:rPr dirty="0" sz="800" spc="-10">
                <a:solidFill>
                  <a:srgbClr val="5A8BAF"/>
                </a:solidFill>
                <a:latin typeface="Calibri"/>
                <a:cs typeface="Calibri"/>
              </a:rPr>
              <a:t>Supervisor</a:t>
            </a:r>
            <a:r>
              <a:rPr dirty="0" sz="800">
                <a:solidFill>
                  <a:srgbClr val="5A8BAF"/>
                </a:solidFill>
                <a:latin typeface="Calibri"/>
                <a:cs typeface="Calibri"/>
              </a:rPr>
              <a:t>	</a:t>
            </a:r>
            <a:r>
              <a:rPr dirty="0" sz="800" spc="-10">
                <a:solidFill>
                  <a:srgbClr val="5A8BAF"/>
                </a:solidFill>
                <a:latin typeface="Calibri"/>
                <a:cs typeface="Calibri"/>
              </a:rPr>
              <a:t>Session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Prof.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 Dr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Syed</a:t>
            </a:r>
            <a:r>
              <a:rPr dirty="0" sz="9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Ali</a:t>
            </a:r>
            <a:r>
              <a:rPr dirty="0" sz="90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Abbas</a:t>
            </a:r>
            <a:r>
              <a:rPr dirty="0" sz="900" spc="22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2022–2026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48625" y="4391025"/>
            <a:ext cx="638175" cy="6381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28625" y="152400"/>
            <a:ext cx="1657350" cy="257175"/>
          </a:xfrm>
          <a:custGeom>
            <a:avLst/>
            <a:gdLst/>
            <a:ahLst/>
            <a:cxnLst/>
            <a:rect l="l" t="t" r="r" b="b"/>
            <a:pathLst>
              <a:path w="1657350" h="257175">
                <a:moveTo>
                  <a:pt x="1528800" y="0"/>
                </a:moveTo>
                <a:lnTo>
                  <a:pt x="128561" y="0"/>
                </a:lnTo>
                <a:lnTo>
                  <a:pt x="78509" y="10100"/>
                </a:lnTo>
                <a:lnTo>
                  <a:pt x="37636" y="37655"/>
                </a:lnTo>
                <a:lnTo>
                  <a:pt x="10079" y="78545"/>
                </a:lnTo>
                <a:lnTo>
                  <a:pt x="0" y="128650"/>
                </a:lnTo>
                <a:lnTo>
                  <a:pt x="10115" y="178683"/>
                </a:lnTo>
                <a:lnTo>
                  <a:pt x="37659" y="219535"/>
                </a:lnTo>
                <a:lnTo>
                  <a:pt x="78519" y="247076"/>
                </a:lnTo>
                <a:lnTo>
                  <a:pt x="128561" y="257175"/>
                </a:lnTo>
                <a:lnTo>
                  <a:pt x="1528673" y="257175"/>
                </a:lnTo>
                <a:lnTo>
                  <a:pt x="1578778" y="247076"/>
                </a:lnTo>
                <a:lnTo>
                  <a:pt x="1619668" y="219535"/>
                </a:lnTo>
                <a:lnTo>
                  <a:pt x="1647223" y="178683"/>
                </a:lnTo>
                <a:lnTo>
                  <a:pt x="1657324" y="128650"/>
                </a:lnTo>
                <a:lnTo>
                  <a:pt x="1647225" y="78545"/>
                </a:lnTo>
                <a:lnTo>
                  <a:pt x="1619684" y="37655"/>
                </a:lnTo>
                <a:lnTo>
                  <a:pt x="1578832" y="10100"/>
                </a:lnTo>
                <a:lnTo>
                  <a:pt x="1528800" y="0"/>
                </a:lnTo>
                <a:close/>
              </a:path>
            </a:pathLst>
          </a:custGeom>
          <a:solidFill>
            <a:srgbClr val="1B4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89242" y="201040"/>
            <a:ext cx="12903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8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dirty="0" sz="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60" b="1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dirty="0" sz="800" spc="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dirty="0" sz="800" spc="2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80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55" b="1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dirty="0" sz="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80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dirty="0" sz="8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8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/>
              <a:t>Why</a:t>
            </a:r>
            <a:r>
              <a:rPr dirty="0" spc="5"/>
              <a:t> </a:t>
            </a:r>
            <a:r>
              <a:rPr dirty="0"/>
              <a:t>Do</a:t>
            </a:r>
            <a:r>
              <a:rPr dirty="0" spc="60"/>
              <a:t> </a:t>
            </a:r>
            <a:r>
              <a:rPr dirty="0"/>
              <a:t>We</a:t>
            </a:r>
            <a:r>
              <a:rPr dirty="0" spc="15"/>
              <a:t> </a:t>
            </a:r>
            <a:r>
              <a:rPr dirty="0"/>
              <a:t>Need</a:t>
            </a:r>
            <a:r>
              <a:rPr dirty="0" spc="-5"/>
              <a:t> </a:t>
            </a:r>
            <a:r>
              <a:rPr dirty="0"/>
              <a:t>This</a:t>
            </a:r>
            <a:r>
              <a:rPr dirty="0" spc="45"/>
              <a:t> </a:t>
            </a:r>
            <a:r>
              <a:rPr dirty="0" spc="-10"/>
              <a:t>System?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216217" y="995362"/>
            <a:ext cx="331279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Network intrusion</a:t>
            </a:r>
            <a:r>
              <a:rPr dirty="0" sz="950" spc="-5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is</a:t>
            </a:r>
            <a:r>
              <a:rPr dirty="0" sz="950" spc="-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a</a:t>
            </a:r>
            <a:r>
              <a:rPr dirty="0" sz="950" spc="-5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growing</a:t>
            </a:r>
            <a:r>
              <a:rPr dirty="0" sz="950" spc="-50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threat</a:t>
            </a:r>
            <a:r>
              <a:rPr dirty="0" sz="950" spc="2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—</a:t>
            </a:r>
            <a:r>
              <a:rPr dirty="0" sz="950" spc="-3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existing</a:t>
            </a:r>
            <a:r>
              <a:rPr dirty="0" sz="950" spc="-50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solutions</a:t>
            </a:r>
            <a:r>
              <a:rPr dirty="0" sz="950" spc="-10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fall</a:t>
            </a:r>
            <a:r>
              <a:rPr dirty="0" sz="950" spc="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spc="-20" i="1">
                <a:solidFill>
                  <a:srgbClr val="6B7C8E"/>
                </a:solidFill>
                <a:latin typeface="Calibri"/>
                <a:cs typeface="Calibri"/>
              </a:rPr>
              <a:t>short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25805" y="1602105"/>
            <a:ext cx="2939415" cy="2644140"/>
            <a:chOff x="725805" y="1602105"/>
            <a:chExt cx="2939415" cy="264414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805" y="1602105"/>
              <a:ext cx="2939415" cy="26441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4050" y="2667000"/>
              <a:ext cx="542925" cy="51435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38450" y="3219513"/>
              <a:ext cx="785812" cy="604837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019425" y="3324225"/>
              <a:ext cx="504825" cy="323850"/>
            </a:xfrm>
            <a:custGeom>
              <a:avLst/>
              <a:gdLst/>
              <a:ahLst/>
              <a:cxnLst/>
              <a:rect l="l" t="t" r="r" b="b"/>
              <a:pathLst>
                <a:path w="504825" h="323850">
                  <a:moveTo>
                    <a:pt x="252475" y="0"/>
                  </a:moveTo>
                  <a:lnTo>
                    <a:pt x="194583" y="4277"/>
                  </a:lnTo>
                  <a:lnTo>
                    <a:pt x="141440" y="16461"/>
                  </a:lnTo>
                  <a:lnTo>
                    <a:pt x="94562" y="35579"/>
                  </a:lnTo>
                  <a:lnTo>
                    <a:pt x="55463" y="60657"/>
                  </a:lnTo>
                  <a:lnTo>
                    <a:pt x="25660" y="90723"/>
                  </a:lnTo>
                  <a:lnTo>
                    <a:pt x="6667" y="124803"/>
                  </a:lnTo>
                  <a:lnTo>
                    <a:pt x="0" y="161925"/>
                  </a:lnTo>
                  <a:lnTo>
                    <a:pt x="6667" y="199046"/>
                  </a:lnTo>
                  <a:lnTo>
                    <a:pt x="25660" y="233126"/>
                  </a:lnTo>
                  <a:lnTo>
                    <a:pt x="55463" y="263192"/>
                  </a:lnTo>
                  <a:lnTo>
                    <a:pt x="94562" y="288270"/>
                  </a:lnTo>
                  <a:lnTo>
                    <a:pt x="141440" y="307388"/>
                  </a:lnTo>
                  <a:lnTo>
                    <a:pt x="194583" y="319572"/>
                  </a:lnTo>
                  <a:lnTo>
                    <a:pt x="252475" y="323850"/>
                  </a:lnTo>
                  <a:lnTo>
                    <a:pt x="310321" y="319572"/>
                  </a:lnTo>
                  <a:lnTo>
                    <a:pt x="363431" y="307388"/>
                  </a:lnTo>
                  <a:lnTo>
                    <a:pt x="410286" y="288270"/>
                  </a:lnTo>
                  <a:lnTo>
                    <a:pt x="449371" y="263192"/>
                  </a:lnTo>
                  <a:lnTo>
                    <a:pt x="479167" y="233126"/>
                  </a:lnTo>
                  <a:lnTo>
                    <a:pt x="498157" y="199046"/>
                  </a:lnTo>
                  <a:lnTo>
                    <a:pt x="504825" y="161925"/>
                  </a:lnTo>
                  <a:lnTo>
                    <a:pt x="498157" y="124803"/>
                  </a:lnTo>
                  <a:lnTo>
                    <a:pt x="479167" y="90723"/>
                  </a:lnTo>
                  <a:lnTo>
                    <a:pt x="449371" y="60657"/>
                  </a:lnTo>
                  <a:lnTo>
                    <a:pt x="410286" y="35579"/>
                  </a:lnTo>
                  <a:lnTo>
                    <a:pt x="363431" y="16461"/>
                  </a:lnTo>
                  <a:lnTo>
                    <a:pt x="310321" y="4277"/>
                  </a:lnTo>
                  <a:lnTo>
                    <a:pt x="252475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0" y="1190625"/>
            <a:ext cx="9144000" cy="3952875"/>
            <a:chOff x="0" y="1190625"/>
            <a:chExt cx="9144000" cy="3952875"/>
          </a:xfrm>
        </p:grpSpPr>
        <p:sp>
          <p:nvSpPr>
            <p:cNvPr id="12" name="object 12" descr=""/>
            <p:cNvSpPr/>
            <p:nvPr/>
          </p:nvSpPr>
          <p:spPr>
            <a:xfrm>
              <a:off x="0" y="5029200"/>
              <a:ext cx="9144000" cy="114300"/>
            </a:xfrm>
            <a:custGeom>
              <a:avLst/>
              <a:gdLst/>
              <a:ahLst/>
              <a:cxnLst/>
              <a:rect l="l" t="t" r="r" b="b"/>
              <a:pathLst>
                <a:path w="9144000" h="114300">
                  <a:moveTo>
                    <a:pt x="9144000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9144000" y="1143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4F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7675" y="1190625"/>
              <a:ext cx="4767326" cy="1404874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443476" y="1300226"/>
              <a:ext cx="4476750" cy="1114425"/>
            </a:xfrm>
            <a:custGeom>
              <a:avLst/>
              <a:gdLst/>
              <a:ahLst/>
              <a:cxnLst/>
              <a:rect l="l" t="t" r="r" b="b"/>
              <a:pathLst>
                <a:path w="4476750" h="1114425">
                  <a:moveTo>
                    <a:pt x="4385309" y="0"/>
                  </a:moveTo>
                  <a:lnTo>
                    <a:pt x="91312" y="0"/>
                  </a:lnTo>
                  <a:lnTo>
                    <a:pt x="55774" y="7177"/>
                  </a:lnTo>
                  <a:lnTo>
                    <a:pt x="26749" y="26749"/>
                  </a:lnTo>
                  <a:lnTo>
                    <a:pt x="7177" y="55774"/>
                  </a:lnTo>
                  <a:lnTo>
                    <a:pt x="0" y="91312"/>
                  </a:lnTo>
                  <a:lnTo>
                    <a:pt x="0" y="1022985"/>
                  </a:lnTo>
                  <a:lnTo>
                    <a:pt x="7177" y="1058543"/>
                  </a:lnTo>
                  <a:lnTo>
                    <a:pt x="26749" y="1087612"/>
                  </a:lnTo>
                  <a:lnTo>
                    <a:pt x="55774" y="1107227"/>
                  </a:lnTo>
                  <a:lnTo>
                    <a:pt x="91312" y="1114425"/>
                  </a:lnTo>
                  <a:lnTo>
                    <a:pt x="4385309" y="1114425"/>
                  </a:lnTo>
                  <a:lnTo>
                    <a:pt x="4420868" y="1107227"/>
                  </a:lnTo>
                  <a:lnTo>
                    <a:pt x="4449937" y="1087612"/>
                  </a:lnTo>
                  <a:lnTo>
                    <a:pt x="4469552" y="1058543"/>
                  </a:lnTo>
                  <a:lnTo>
                    <a:pt x="4476750" y="1022985"/>
                  </a:lnTo>
                  <a:lnTo>
                    <a:pt x="4476750" y="91312"/>
                  </a:lnTo>
                  <a:lnTo>
                    <a:pt x="4469552" y="55774"/>
                  </a:lnTo>
                  <a:lnTo>
                    <a:pt x="4449937" y="26749"/>
                  </a:lnTo>
                  <a:lnTo>
                    <a:pt x="4420868" y="7177"/>
                  </a:lnTo>
                  <a:lnTo>
                    <a:pt x="4385309" y="0"/>
                  </a:lnTo>
                  <a:close/>
                </a:path>
              </a:pathLst>
            </a:custGeom>
            <a:solidFill>
              <a:srgbClr val="EB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443476" y="1300226"/>
              <a:ext cx="4476750" cy="1114425"/>
            </a:xfrm>
            <a:custGeom>
              <a:avLst/>
              <a:gdLst/>
              <a:ahLst/>
              <a:cxnLst/>
              <a:rect l="l" t="t" r="r" b="b"/>
              <a:pathLst>
                <a:path w="4476750" h="1114425">
                  <a:moveTo>
                    <a:pt x="0" y="91312"/>
                  </a:moveTo>
                  <a:lnTo>
                    <a:pt x="7177" y="55774"/>
                  </a:lnTo>
                  <a:lnTo>
                    <a:pt x="26749" y="26749"/>
                  </a:lnTo>
                  <a:lnTo>
                    <a:pt x="55774" y="7177"/>
                  </a:lnTo>
                  <a:lnTo>
                    <a:pt x="91312" y="0"/>
                  </a:lnTo>
                  <a:lnTo>
                    <a:pt x="4385309" y="0"/>
                  </a:lnTo>
                  <a:lnTo>
                    <a:pt x="4420868" y="7177"/>
                  </a:lnTo>
                  <a:lnTo>
                    <a:pt x="4449937" y="26749"/>
                  </a:lnTo>
                  <a:lnTo>
                    <a:pt x="4469552" y="55774"/>
                  </a:lnTo>
                  <a:lnTo>
                    <a:pt x="4476750" y="91312"/>
                  </a:lnTo>
                  <a:lnTo>
                    <a:pt x="4476750" y="1022985"/>
                  </a:lnTo>
                  <a:lnTo>
                    <a:pt x="4469552" y="1058543"/>
                  </a:lnTo>
                  <a:lnTo>
                    <a:pt x="4449937" y="1087612"/>
                  </a:lnTo>
                  <a:lnTo>
                    <a:pt x="4420868" y="1107227"/>
                  </a:lnTo>
                  <a:lnTo>
                    <a:pt x="4385309" y="1114425"/>
                  </a:lnTo>
                  <a:lnTo>
                    <a:pt x="91312" y="1114425"/>
                  </a:lnTo>
                  <a:lnTo>
                    <a:pt x="55774" y="1107227"/>
                  </a:lnTo>
                  <a:lnTo>
                    <a:pt x="26749" y="1087612"/>
                  </a:lnTo>
                  <a:lnTo>
                    <a:pt x="7177" y="1058543"/>
                  </a:lnTo>
                  <a:lnTo>
                    <a:pt x="0" y="1022985"/>
                  </a:lnTo>
                  <a:lnTo>
                    <a:pt x="0" y="91312"/>
                  </a:lnTo>
                  <a:close/>
                </a:path>
              </a:pathLst>
            </a:custGeom>
            <a:ln w="10160">
              <a:solidFill>
                <a:srgbClr val="1B4F8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438650" y="1295400"/>
              <a:ext cx="1457325" cy="314325"/>
            </a:xfrm>
            <a:custGeom>
              <a:avLst/>
              <a:gdLst/>
              <a:ahLst/>
              <a:cxnLst/>
              <a:rect l="l" t="t" r="r" b="b"/>
              <a:pathLst>
                <a:path w="1457325" h="314325">
                  <a:moveTo>
                    <a:pt x="1364869" y="0"/>
                  </a:moveTo>
                  <a:lnTo>
                    <a:pt x="92455" y="0"/>
                  </a:lnTo>
                  <a:lnTo>
                    <a:pt x="56471" y="7266"/>
                  </a:lnTo>
                  <a:lnTo>
                    <a:pt x="27082" y="27082"/>
                  </a:lnTo>
                  <a:lnTo>
                    <a:pt x="7266" y="56471"/>
                  </a:lnTo>
                  <a:lnTo>
                    <a:pt x="0" y="92455"/>
                  </a:lnTo>
                  <a:lnTo>
                    <a:pt x="0" y="221869"/>
                  </a:lnTo>
                  <a:lnTo>
                    <a:pt x="7266" y="257853"/>
                  </a:lnTo>
                  <a:lnTo>
                    <a:pt x="27082" y="287242"/>
                  </a:lnTo>
                  <a:lnTo>
                    <a:pt x="56471" y="307058"/>
                  </a:lnTo>
                  <a:lnTo>
                    <a:pt x="92455" y="314325"/>
                  </a:lnTo>
                  <a:lnTo>
                    <a:pt x="1364869" y="314325"/>
                  </a:lnTo>
                  <a:lnTo>
                    <a:pt x="1400853" y="307058"/>
                  </a:lnTo>
                  <a:lnTo>
                    <a:pt x="1430242" y="287242"/>
                  </a:lnTo>
                  <a:lnTo>
                    <a:pt x="1450058" y="257853"/>
                  </a:lnTo>
                  <a:lnTo>
                    <a:pt x="1457325" y="221869"/>
                  </a:lnTo>
                  <a:lnTo>
                    <a:pt x="1457325" y="92455"/>
                  </a:lnTo>
                  <a:lnTo>
                    <a:pt x="1450058" y="56471"/>
                  </a:lnTo>
                  <a:lnTo>
                    <a:pt x="1430242" y="27082"/>
                  </a:lnTo>
                  <a:lnTo>
                    <a:pt x="1400853" y="7266"/>
                  </a:lnTo>
                  <a:lnTo>
                    <a:pt x="1364869" y="0"/>
                  </a:lnTo>
                  <a:close/>
                </a:path>
              </a:pathLst>
            </a:custGeom>
            <a:solidFill>
              <a:srgbClr val="1B4F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179445" y="3408616"/>
            <a:ext cx="18986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 b="1">
                <a:solidFill>
                  <a:srgbClr val="FFFFFF"/>
                </a:solidFill>
                <a:latin typeface="Calibri"/>
                <a:cs typeface="Calibri"/>
              </a:rPr>
              <a:t>DoS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647825" y="3771900"/>
            <a:ext cx="795655" cy="614680"/>
            <a:chOff x="1647825" y="3771900"/>
            <a:chExt cx="795655" cy="614680"/>
          </a:xfrm>
        </p:grpSpPr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7825" y="3771900"/>
              <a:ext cx="795337" cy="614362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828800" y="3876675"/>
              <a:ext cx="514350" cy="333375"/>
            </a:xfrm>
            <a:custGeom>
              <a:avLst/>
              <a:gdLst/>
              <a:ahLst/>
              <a:cxnLst/>
              <a:rect l="l" t="t" r="r" b="b"/>
              <a:pathLst>
                <a:path w="514350" h="333375">
                  <a:moveTo>
                    <a:pt x="257175" y="0"/>
                  </a:moveTo>
                  <a:lnTo>
                    <a:pt x="198222" y="4402"/>
                  </a:lnTo>
                  <a:lnTo>
                    <a:pt x="144096" y="16941"/>
                  </a:lnTo>
                  <a:lnTo>
                    <a:pt x="96345" y="36618"/>
                  </a:lnTo>
                  <a:lnTo>
                    <a:pt x="56513" y="62431"/>
                  </a:lnTo>
                  <a:lnTo>
                    <a:pt x="26147" y="93381"/>
                  </a:lnTo>
                  <a:lnTo>
                    <a:pt x="6794" y="128466"/>
                  </a:lnTo>
                  <a:lnTo>
                    <a:pt x="0" y="166687"/>
                  </a:lnTo>
                  <a:lnTo>
                    <a:pt x="6794" y="204908"/>
                  </a:lnTo>
                  <a:lnTo>
                    <a:pt x="26147" y="239993"/>
                  </a:lnTo>
                  <a:lnTo>
                    <a:pt x="56513" y="270943"/>
                  </a:lnTo>
                  <a:lnTo>
                    <a:pt x="96345" y="296756"/>
                  </a:lnTo>
                  <a:lnTo>
                    <a:pt x="144096" y="316433"/>
                  </a:lnTo>
                  <a:lnTo>
                    <a:pt x="198222" y="328972"/>
                  </a:lnTo>
                  <a:lnTo>
                    <a:pt x="257175" y="333375"/>
                  </a:lnTo>
                  <a:lnTo>
                    <a:pt x="316127" y="328972"/>
                  </a:lnTo>
                  <a:lnTo>
                    <a:pt x="370253" y="316433"/>
                  </a:lnTo>
                  <a:lnTo>
                    <a:pt x="418004" y="296756"/>
                  </a:lnTo>
                  <a:lnTo>
                    <a:pt x="457836" y="270943"/>
                  </a:lnTo>
                  <a:lnTo>
                    <a:pt x="488202" y="239993"/>
                  </a:lnTo>
                  <a:lnTo>
                    <a:pt x="507555" y="204908"/>
                  </a:lnTo>
                  <a:lnTo>
                    <a:pt x="514350" y="166687"/>
                  </a:lnTo>
                  <a:lnTo>
                    <a:pt x="507555" y="128466"/>
                  </a:lnTo>
                  <a:lnTo>
                    <a:pt x="488202" y="93381"/>
                  </a:lnTo>
                  <a:lnTo>
                    <a:pt x="457836" y="62431"/>
                  </a:lnTo>
                  <a:lnTo>
                    <a:pt x="418004" y="36618"/>
                  </a:lnTo>
                  <a:lnTo>
                    <a:pt x="370253" y="16941"/>
                  </a:lnTo>
                  <a:lnTo>
                    <a:pt x="316127" y="4402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951101" y="3965575"/>
            <a:ext cx="27813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 b="1">
                <a:solidFill>
                  <a:srgbClr val="FFFFFF"/>
                </a:solidFill>
                <a:latin typeface="Calibri"/>
                <a:cs typeface="Calibri"/>
              </a:rPr>
              <a:t>Probe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628650" y="3133788"/>
            <a:ext cx="795655" cy="605155"/>
            <a:chOff x="628650" y="3133788"/>
            <a:chExt cx="795655" cy="605155"/>
          </a:xfrm>
        </p:grpSpPr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8650" y="3133788"/>
              <a:ext cx="795337" cy="604837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809625" y="3238500"/>
              <a:ext cx="514350" cy="323850"/>
            </a:xfrm>
            <a:custGeom>
              <a:avLst/>
              <a:gdLst/>
              <a:ahLst/>
              <a:cxnLst/>
              <a:rect l="l" t="t" r="r" b="b"/>
              <a:pathLst>
                <a:path w="514350" h="323850">
                  <a:moveTo>
                    <a:pt x="257175" y="0"/>
                  </a:moveTo>
                  <a:lnTo>
                    <a:pt x="198206" y="4277"/>
                  </a:lnTo>
                  <a:lnTo>
                    <a:pt x="144074" y="16461"/>
                  </a:lnTo>
                  <a:lnTo>
                    <a:pt x="96323" y="35579"/>
                  </a:lnTo>
                  <a:lnTo>
                    <a:pt x="56497" y="60657"/>
                  </a:lnTo>
                  <a:lnTo>
                    <a:pt x="26139" y="90723"/>
                  </a:lnTo>
                  <a:lnTo>
                    <a:pt x="6792" y="124803"/>
                  </a:lnTo>
                  <a:lnTo>
                    <a:pt x="0" y="161925"/>
                  </a:lnTo>
                  <a:lnTo>
                    <a:pt x="6792" y="199046"/>
                  </a:lnTo>
                  <a:lnTo>
                    <a:pt x="26139" y="233126"/>
                  </a:lnTo>
                  <a:lnTo>
                    <a:pt x="56497" y="263192"/>
                  </a:lnTo>
                  <a:lnTo>
                    <a:pt x="96323" y="288270"/>
                  </a:lnTo>
                  <a:lnTo>
                    <a:pt x="144074" y="307388"/>
                  </a:lnTo>
                  <a:lnTo>
                    <a:pt x="198206" y="319572"/>
                  </a:lnTo>
                  <a:lnTo>
                    <a:pt x="257175" y="323850"/>
                  </a:lnTo>
                  <a:lnTo>
                    <a:pt x="316143" y="319572"/>
                  </a:lnTo>
                  <a:lnTo>
                    <a:pt x="370275" y="307388"/>
                  </a:lnTo>
                  <a:lnTo>
                    <a:pt x="418026" y="288270"/>
                  </a:lnTo>
                  <a:lnTo>
                    <a:pt x="457852" y="263192"/>
                  </a:lnTo>
                  <a:lnTo>
                    <a:pt x="488210" y="233126"/>
                  </a:lnTo>
                  <a:lnTo>
                    <a:pt x="507557" y="199046"/>
                  </a:lnTo>
                  <a:lnTo>
                    <a:pt x="514350" y="161925"/>
                  </a:lnTo>
                  <a:lnTo>
                    <a:pt x="507557" y="124803"/>
                  </a:lnTo>
                  <a:lnTo>
                    <a:pt x="488210" y="90723"/>
                  </a:lnTo>
                  <a:lnTo>
                    <a:pt x="457852" y="60657"/>
                  </a:lnTo>
                  <a:lnTo>
                    <a:pt x="418026" y="35579"/>
                  </a:lnTo>
                  <a:lnTo>
                    <a:pt x="370275" y="16461"/>
                  </a:lnTo>
                  <a:lnTo>
                    <a:pt x="316143" y="4277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980439" y="3322002"/>
            <a:ext cx="17462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 b="1">
                <a:solidFill>
                  <a:srgbClr val="FFFFFF"/>
                </a:solidFill>
                <a:latin typeface="Calibri"/>
                <a:cs typeface="Calibri"/>
              </a:rPr>
              <a:t>R2L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76275" y="2095436"/>
            <a:ext cx="795655" cy="614680"/>
            <a:chOff x="676275" y="2095436"/>
            <a:chExt cx="795655" cy="614680"/>
          </a:xfrm>
        </p:grpSpPr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6275" y="2095436"/>
              <a:ext cx="795337" cy="614362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857250" y="2200274"/>
              <a:ext cx="514350" cy="333375"/>
            </a:xfrm>
            <a:custGeom>
              <a:avLst/>
              <a:gdLst/>
              <a:ahLst/>
              <a:cxnLst/>
              <a:rect l="l" t="t" r="r" b="b"/>
              <a:pathLst>
                <a:path w="514350" h="333375">
                  <a:moveTo>
                    <a:pt x="257175" y="0"/>
                  </a:moveTo>
                  <a:lnTo>
                    <a:pt x="198206" y="4404"/>
                  </a:lnTo>
                  <a:lnTo>
                    <a:pt x="144074" y="16949"/>
                  </a:lnTo>
                  <a:lnTo>
                    <a:pt x="96323" y="36629"/>
                  </a:lnTo>
                  <a:lnTo>
                    <a:pt x="56497" y="62441"/>
                  </a:lnTo>
                  <a:lnTo>
                    <a:pt x="26139" y="93380"/>
                  </a:lnTo>
                  <a:lnTo>
                    <a:pt x="6792" y="128442"/>
                  </a:lnTo>
                  <a:lnTo>
                    <a:pt x="0" y="166624"/>
                  </a:lnTo>
                  <a:lnTo>
                    <a:pt x="6792" y="204852"/>
                  </a:lnTo>
                  <a:lnTo>
                    <a:pt x="26139" y="239948"/>
                  </a:lnTo>
                  <a:lnTo>
                    <a:pt x="56497" y="270910"/>
                  </a:lnTo>
                  <a:lnTo>
                    <a:pt x="96323" y="296735"/>
                  </a:lnTo>
                  <a:lnTo>
                    <a:pt x="144074" y="316422"/>
                  </a:lnTo>
                  <a:lnTo>
                    <a:pt x="198206" y="328969"/>
                  </a:lnTo>
                  <a:lnTo>
                    <a:pt x="257175" y="333375"/>
                  </a:lnTo>
                  <a:lnTo>
                    <a:pt x="316143" y="328969"/>
                  </a:lnTo>
                  <a:lnTo>
                    <a:pt x="370275" y="316422"/>
                  </a:lnTo>
                  <a:lnTo>
                    <a:pt x="418026" y="296735"/>
                  </a:lnTo>
                  <a:lnTo>
                    <a:pt x="457852" y="270910"/>
                  </a:lnTo>
                  <a:lnTo>
                    <a:pt x="488210" y="239948"/>
                  </a:lnTo>
                  <a:lnTo>
                    <a:pt x="507557" y="204852"/>
                  </a:lnTo>
                  <a:lnTo>
                    <a:pt x="514350" y="166624"/>
                  </a:lnTo>
                  <a:lnTo>
                    <a:pt x="507557" y="128442"/>
                  </a:lnTo>
                  <a:lnTo>
                    <a:pt x="488210" y="93380"/>
                  </a:lnTo>
                  <a:lnTo>
                    <a:pt x="457852" y="62441"/>
                  </a:lnTo>
                  <a:lnTo>
                    <a:pt x="418026" y="36629"/>
                  </a:lnTo>
                  <a:lnTo>
                    <a:pt x="370275" y="16949"/>
                  </a:lnTo>
                  <a:lnTo>
                    <a:pt x="316143" y="4404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018539" y="2287904"/>
            <a:ext cx="19939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 b="1">
                <a:solidFill>
                  <a:srgbClr val="FFFFFF"/>
                </a:solidFill>
                <a:latin typeface="Calibri"/>
                <a:cs typeface="Calibri"/>
              </a:rPr>
              <a:t>U2R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762125" y="1533461"/>
            <a:ext cx="786130" cy="614680"/>
            <a:chOff x="1762125" y="1533461"/>
            <a:chExt cx="786130" cy="614680"/>
          </a:xfrm>
        </p:grpSpPr>
        <p:pic>
          <p:nvPicPr>
            <p:cNvPr id="31" name="object 3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2125" y="1533461"/>
              <a:ext cx="785812" cy="614362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943100" y="1638300"/>
              <a:ext cx="504825" cy="333375"/>
            </a:xfrm>
            <a:custGeom>
              <a:avLst/>
              <a:gdLst/>
              <a:ahLst/>
              <a:cxnLst/>
              <a:rect l="l" t="t" r="r" b="b"/>
              <a:pathLst>
                <a:path w="504825" h="333375">
                  <a:moveTo>
                    <a:pt x="252475" y="0"/>
                  </a:moveTo>
                  <a:lnTo>
                    <a:pt x="194583" y="4404"/>
                  </a:lnTo>
                  <a:lnTo>
                    <a:pt x="141440" y="16949"/>
                  </a:lnTo>
                  <a:lnTo>
                    <a:pt x="94562" y="36629"/>
                  </a:lnTo>
                  <a:lnTo>
                    <a:pt x="55463" y="62441"/>
                  </a:lnTo>
                  <a:lnTo>
                    <a:pt x="25660" y="93380"/>
                  </a:lnTo>
                  <a:lnTo>
                    <a:pt x="6667" y="128442"/>
                  </a:lnTo>
                  <a:lnTo>
                    <a:pt x="0" y="166624"/>
                  </a:lnTo>
                  <a:lnTo>
                    <a:pt x="6667" y="204852"/>
                  </a:lnTo>
                  <a:lnTo>
                    <a:pt x="25660" y="239948"/>
                  </a:lnTo>
                  <a:lnTo>
                    <a:pt x="55463" y="270910"/>
                  </a:lnTo>
                  <a:lnTo>
                    <a:pt x="94562" y="296735"/>
                  </a:lnTo>
                  <a:lnTo>
                    <a:pt x="141440" y="316422"/>
                  </a:lnTo>
                  <a:lnTo>
                    <a:pt x="194583" y="328969"/>
                  </a:lnTo>
                  <a:lnTo>
                    <a:pt x="252475" y="333375"/>
                  </a:lnTo>
                  <a:lnTo>
                    <a:pt x="310321" y="328969"/>
                  </a:lnTo>
                  <a:lnTo>
                    <a:pt x="363431" y="316422"/>
                  </a:lnTo>
                  <a:lnTo>
                    <a:pt x="410286" y="296735"/>
                  </a:lnTo>
                  <a:lnTo>
                    <a:pt x="449371" y="270910"/>
                  </a:lnTo>
                  <a:lnTo>
                    <a:pt x="479167" y="239948"/>
                  </a:lnTo>
                  <a:lnTo>
                    <a:pt x="498157" y="204852"/>
                  </a:lnTo>
                  <a:lnTo>
                    <a:pt x="504825" y="166624"/>
                  </a:lnTo>
                  <a:lnTo>
                    <a:pt x="498157" y="128442"/>
                  </a:lnTo>
                  <a:lnTo>
                    <a:pt x="479167" y="93380"/>
                  </a:lnTo>
                  <a:lnTo>
                    <a:pt x="449371" y="62441"/>
                  </a:lnTo>
                  <a:lnTo>
                    <a:pt x="410286" y="36629"/>
                  </a:lnTo>
                  <a:lnTo>
                    <a:pt x="363431" y="16949"/>
                  </a:lnTo>
                  <a:lnTo>
                    <a:pt x="310321" y="4404"/>
                  </a:lnTo>
                  <a:lnTo>
                    <a:pt x="252475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2069845" y="1727200"/>
            <a:ext cx="25590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 b="1">
                <a:solidFill>
                  <a:srgbClr val="FFFFFF"/>
                </a:solidFill>
                <a:latin typeface="Calibri"/>
                <a:cs typeface="Calibri"/>
              </a:rPr>
              <a:t>DDoS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2838450" y="2095436"/>
            <a:ext cx="786130" cy="614680"/>
            <a:chOff x="2838450" y="2095436"/>
            <a:chExt cx="786130" cy="614680"/>
          </a:xfrm>
        </p:grpSpPr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38450" y="2095436"/>
              <a:ext cx="785812" cy="614362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3019425" y="2200274"/>
              <a:ext cx="504825" cy="333375"/>
            </a:xfrm>
            <a:custGeom>
              <a:avLst/>
              <a:gdLst/>
              <a:ahLst/>
              <a:cxnLst/>
              <a:rect l="l" t="t" r="r" b="b"/>
              <a:pathLst>
                <a:path w="504825" h="333375">
                  <a:moveTo>
                    <a:pt x="252475" y="0"/>
                  </a:moveTo>
                  <a:lnTo>
                    <a:pt x="194583" y="4404"/>
                  </a:lnTo>
                  <a:lnTo>
                    <a:pt x="141440" y="16949"/>
                  </a:lnTo>
                  <a:lnTo>
                    <a:pt x="94562" y="36629"/>
                  </a:lnTo>
                  <a:lnTo>
                    <a:pt x="55463" y="62441"/>
                  </a:lnTo>
                  <a:lnTo>
                    <a:pt x="25660" y="93380"/>
                  </a:lnTo>
                  <a:lnTo>
                    <a:pt x="6667" y="128442"/>
                  </a:lnTo>
                  <a:lnTo>
                    <a:pt x="0" y="166624"/>
                  </a:lnTo>
                  <a:lnTo>
                    <a:pt x="6667" y="204852"/>
                  </a:lnTo>
                  <a:lnTo>
                    <a:pt x="25660" y="239948"/>
                  </a:lnTo>
                  <a:lnTo>
                    <a:pt x="55463" y="270910"/>
                  </a:lnTo>
                  <a:lnTo>
                    <a:pt x="94562" y="296735"/>
                  </a:lnTo>
                  <a:lnTo>
                    <a:pt x="141440" y="316422"/>
                  </a:lnTo>
                  <a:lnTo>
                    <a:pt x="194583" y="328969"/>
                  </a:lnTo>
                  <a:lnTo>
                    <a:pt x="252475" y="333375"/>
                  </a:lnTo>
                  <a:lnTo>
                    <a:pt x="310321" y="328969"/>
                  </a:lnTo>
                  <a:lnTo>
                    <a:pt x="363431" y="316422"/>
                  </a:lnTo>
                  <a:lnTo>
                    <a:pt x="410286" y="296735"/>
                  </a:lnTo>
                  <a:lnTo>
                    <a:pt x="449371" y="270910"/>
                  </a:lnTo>
                  <a:lnTo>
                    <a:pt x="479167" y="239948"/>
                  </a:lnTo>
                  <a:lnTo>
                    <a:pt x="498157" y="204852"/>
                  </a:lnTo>
                  <a:lnTo>
                    <a:pt x="504825" y="166624"/>
                  </a:lnTo>
                  <a:lnTo>
                    <a:pt x="498157" y="128442"/>
                  </a:lnTo>
                  <a:lnTo>
                    <a:pt x="479167" y="93380"/>
                  </a:lnTo>
                  <a:lnTo>
                    <a:pt x="449371" y="62441"/>
                  </a:lnTo>
                  <a:lnTo>
                    <a:pt x="410286" y="36629"/>
                  </a:lnTo>
                  <a:lnTo>
                    <a:pt x="363431" y="16949"/>
                  </a:lnTo>
                  <a:lnTo>
                    <a:pt x="310321" y="4404"/>
                  </a:lnTo>
                  <a:lnTo>
                    <a:pt x="252475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3142995" y="2287904"/>
            <a:ext cx="2698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 b="1">
                <a:solidFill>
                  <a:srgbClr val="FFFFFF"/>
                </a:solidFill>
                <a:latin typeface="Calibri"/>
                <a:cs typeface="Calibri"/>
              </a:rPr>
              <a:t>MitM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490720" y="1365567"/>
            <a:ext cx="33972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Global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4564126" y="1705292"/>
            <a:ext cx="2246630" cy="6508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25"/>
              </a:spcBef>
              <a:buFont typeface="Cambria Math"/>
              <a:buChar char="◗"/>
              <a:tabLst>
                <a:tab pos="167005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$10.5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Trillion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cybercrime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cost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by</a:t>
            </a:r>
            <a:r>
              <a:rPr dirty="0" sz="9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2025</a:t>
            </a:r>
            <a:endParaRPr sz="950">
              <a:latin typeface="Calibri"/>
              <a:cs typeface="Calibri"/>
            </a:endParaRPr>
          </a:p>
          <a:p>
            <a:pPr marL="167005" indent="-154305">
              <a:lnSpc>
                <a:spcPct val="100000"/>
              </a:lnSpc>
              <a:spcBef>
                <a:spcPts val="735"/>
              </a:spcBef>
              <a:buFont typeface="Cambria Math"/>
              <a:buChar char="◗"/>
              <a:tabLst>
                <a:tab pos="167005" algn="l"/>
              </a:tabLst>
            </a:pP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Cyberattacks</a:t>
            </a:r>
            <a:r>
              <a:rPr dirty="0" sz="950" spc="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↑</a:t>
            </a:r>
            <a:r>
              <a:rPr dirty="0" sz="950" spc="6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15%</a:t>
            </a:r>
            <a:r>
              <a:rPr dirty="0" sz="950" spc="-7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every</a:t>
            </a:r>
            <a:r>
              <a:rPr dirty="0" sz="950" spc="5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year</a:t>
            </a:r>
            <a:endParaRPr sz="950">
              <a:latin typeface="Calibri"/>
              <a:cs typeface="Calibri"/>
            </a:endParaRPr>
          </a:p>
          <a:p>
            <a:pPr marL="167005" indent="-154305">
              <a:lnSpc>
                <a:spcPct val="100000"/>
              </a:lnSpc>
              <a:spcBef>
                <a:spcPts val="735"/>
              </a:spcBef>
              <a:buFont typeface="Cambria Math"/>
              <a:buChar char="◗"/>
              <a:tabLst>
                <a:tab pos="167005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Traditional</a:t>
            </a:r>
            <a:r>
              <a:rPr dirty="0" sz="9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NIDS</a:t>
            </a:r>
            <a:r>
              <a:rPr dirty="0" sz="95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=</a:t>
            </a:r>
            <a:r>
              <a:rPr dirty="0" sz="9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high</a:t>
            </a:r>
            <a:r>
              <a:rPr dirty="0" sz="950" spc="-5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false-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positive</a:t>
            </a:r>
            <a:r>
              <a:rPr dirty="0" sz="9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rates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4257675" y="2429001"/>
            <a:ext cx="4767580" cy="1405255"/>
            <a:chOff x="4257675" y="2429001"/>
            <a:chExt cx="4767580" cy="1405255"/>
          </a:xfrm>
        </p:grpSpPr>
        <p:pic>
          <p:nvPicPr>
            <p:cNvPr id="41" name="object 4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7675" y="2429001"/>
              <a:ext cx="4767326" cy="1404874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4443476" y="2538475"/>
              <a:ext cx="4476750" cy="1114425"/>
            </a:xfrm>
            <a:custGeom>
              <a:avLst/>
              <a:gdLst/>
              <a:ahLst/>
              <a:cxnLst/>
              <a:rect l="l" t="t" r="r" b="b"/>
              <a:pathLst>
                <a:path w="4476750" h="1114425">
                  <a:moveTo>
                    <a:pt x="4385309" y="0"/>
                  </a:moveTo>
                  <a:lnTo>
                    <a:pt x="91312" y="0"/>
                  </a:lnTo>
                  <a:lnTo>
                    <a:pt x="55774" y="7177"/>
                  </a:lnTo>
                  <a:lnTo>
                    <a:pt x="26749" y="26749"/>
                  </a:lnTo>
                  <a:lnTo>
                    <a:pt x="7177" y="55774"/>
                  </a:lnTo>
                  <a:lnTo>
                    <a:pt x="0" y="91312"/>
                  </a:lnTo>
                  <a:lnTo>
                    <a:pt x="0" y="1022985"/>
                  </a:lnTo>
                  <a:lnTo>
                    <a:pt x="7177" y="1058543"/>
                  </a:lnTo>
                  <a:lnTo>
                    <a:pt x="26749" y="1087612"/>
                  </a:lnTo>
                  <a:lnTo>
                    <a:pt x="55774" y="1107227"/>
                  </a:lnTo>
                  <a:lnTo>
                    <a:pt x="91312" y="1114425"/>
                  </a:lnTo>
                  <a:lnTo>
                    <a:pt x="4385309" y="1114425"/>
                  </a:lnTo>
                  <a:lnTo>
                    <a:pt x="4420868" y="1107227"/>
                  </a:lnTo>
                  <a:lnTo>
                    <a:pt x="4449937" y="1087612"/>
                  </a:lnTo>
                  <a:lnTo>
                    <a:pt x="4469552" y="1058543"/>
                  </a:lnTo>
                  <a:lnTo>
                    <a:pt x="4476750" y="1022985"/>
                  </a:lnTo>
                  <a:lnTo>
                    <a:pt x="4476750" y="91312"/>
                  </a:lnTo>
                  <a:lnTo>
                    <a:pt x="4469552" y="55774"/>
                  </a:lnTo>
                  <a:lnTo>
                    <a:pt x="4449937" y="26749"/>
                  </a:lnTo>
                  <a:lnTo>
                    <a:pt x="4420868" y="7177"/>
                  </a:lnTo>
                  <a:lnTo>
                    <a:pt x="4385309" y="0"/>
                  </a:lnTo>
                  <a:close/>
                </a:path>
              </a:pathLst>
            </a:custGeom>
            <a:solidFill>
              <a:srgbClr val="E6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443476" y="2538475"/>
              <a:ext cx="4476750" cy="1114425"/>
            </a:xfrm>
            <a:custGeom>
              <a:avLst/>
              <a:gdLst/>
              <a:ahLst/>
              <a:cxnLst/>
              <a:rect l="l" t="t" r="r" b="b"/>
              <a:pathLst>
                <a:path w="4476750" h="1114425">
                  <a:moveTo>
                    <a:pt x="0" y="91312"/>
                  </a:moveTo>
                  <a:lnTo>
                    <a:pt x="7177" y="55774"/>
                  </a:lnTo>
                  <a:lnTo>
                    <a:pt x="26749" y="26749"/>
                  </a:lnTo>
                  <a:lnTo>
                    <a:pt x="55774" y="7177"/>
                  </a:lnTo>
                  <a:lnTo>
                    <a:pt x="91312" y="0"/>
                  </a:lnTo>
                  <a:lnTo>
                    <a:pt x="4385309" y="0"/>
                  </a:lnTo>
                  <a:lnTo>
                    <a:pt x="4420868" y="7177"/>
                  </a:lnTo>
                  <a:lnTo>
                    <a:pt x="4449937" y="26749"/>
                  </a:lnTo>
                  <a:lnTo>
                    <a:pt x="4469552" y="55774"/>
                  </a:lnTo>
                  <a:lnTo>
                    <a:pt x="4476750" y="91312"/>
                  </a:lnTo>
                  <a:lnTo>
                    <a:pt x="4476750" y="1022985"/>
                  </a:lnTo>
                  <a:lnTo>
                    <a:pt x="4469552" y="1058543"/>
                  </a:lnTo>
                  <a:lnTo>
                    <a:pt x="4449937" y="1087612"/>
                  </a:lnTo>
                  <a:lnTo>
                    <a:pt x="4420868" y="1107227"/>
                  </a:lnTo>
                  <a:lnTo>
                    <a:pt x="4385309" y="1114425"/>
                  </a:lnTo>
                  <a:lnTo>
                    <a:pt x="91312" y="1114425"/>
                  </a:lnTo>
                  <a:lnTo>
                    <a:pt x="55774" y="1107227"/>
                  </a:lnTo>
                  <a:lnTo>
                    <a:pt x="26749" y="1087612"/>
                  </a:lnTo>
                  <a:lnTo>
                    <a:pt x="7177" y="1058543"/>
                  </a:lnTo>
                  <a:lnTo>
                    <a:pt x="0" y="1022985"/>
                  </a:lnTo>
                  <a:lnTo>
                    <a:pt x="0" y="91312"/>
                  </a:lnTo>
                  <a:close/>
                </a:path>
              </a:pathLst>
            </a:custGeom>
            <a:ln w="10160">
              <a:solidFill>
                <a:srgbClr val="00798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438650" y="2533649"/>
              <a:ext cx="1457325" cy="314325"/>
            </a:xfrm>
            <a:custGeom>
              <a:avLst/>
              <a:gdLst/>
              <a:ahLst/>
              <a:cxnLst/>
              <a:rect l="l" t="t" r="r" b="b"/>
              <a:pathLst>
                <a:path w="1457325" h="314325">
                  <a:moveTo>
                    <a:pt x="1364869" y="0"/>
                  </a:moveTo>
                  <a:lnTo>
                    <a:pt x="92455" y="0"/>
                  </a:lnTo>
                  <a:lnTo>
                    <a:pt x="56471" y="7266"/>
                  </a:lnTo>
                  <a:lnTo>
                    <a:pt x="27082" y="27082"/>
                  </a:lnTo>
                  <a:lnTo>
                    <a:pt x="7266" y="56471"/>
                  </a:lnTo>
                  <a:lnTo>
                    <a:pt x="0" y="92456"/>
                  </a:lnTo>
                  <a:lnTo>
                    <a:pt x="0" y="221869"/>
                  </a:lnTo>
                  <a:lnTo>
                    <a:pt x="7266" y="257853"/>
                  </a:lnTo>
                  <a:lnTo>
                    <a:pt x="27082" y="287242"/>
                  </a:lnTo>
                  <a:lnTo>
                    <a:pt x="56471" y="307058"/>
                  </a:lnTo>
                  <a:lnTo>
                    <a:pt x="92455" y="314325"/>
                  </a:lnTo>
                  <a:lnTo>
                    <a:pt x="1364869" y="314325"/>
                  </a:lnTo>
                  <a:lnTo>
                    <a:pt x="1400853" y="307058"/>
                  </a:lnTo>
                  <a:lnTo>
                    <a:pt x="1430242" y="287242"/>
                  </a:lnTo>
                  <a:lnTo>
                    <a:pt x="1450058" y="257853"/>
                  </a:lnTo>
                  <a:lnTo>
                    <a:pt x="1457325" y="221869"/>
                  </a:lnTo>
                  <a:lnTo>
                    <a:pt x="1457325" y="92456"/>
                  </a:lnTo>
                  <a:lnTo>
                    <a:pt x="1450058" y="56471"/>
                  </a:lnTo>
                  <a:lnTo>
                    <a:pt x="1430242" y="27082"/>
                  </a:lnTo>
                  <a:lnTo>
                    <a:pt x="1400853" y="7266"/>
                  </a:lnTo>
                  <a:lnTo>
                    <a:pt x="1364869" y="0"/>
                  </a:lnTo>
                  <a:close/>
                </a:path>
              </a:pathLst>
            </a:custGeom>
            <a:solidFill>
              <a:srgbClr val="0079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29125" y="2571686"/>
              <a:ext cx="242887" cy="252412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4649851" y="2602166"/>
            <a:ext cx="51752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Nationally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4564126" y="2941891"/>
            <a:ext cx="2065655" cy="651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25"/>
              </a:spcBef>
              <a:buFont typeface="Cambria Math"/>
              <a:buChar char="◗"/>
              <a:tabLst>
                <a:tab pos="167005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Banks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&amp;</a:t>
            </a:r>
            <a:r>
              <a:rPr dirty="0" sz="95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telecom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sectors under</a:t>
            </a:r>
            <a:r>
              <a:rPr dirty="0" sz="950" spc="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attack</a:t>
            </a:r>
            <a:endParaRPr sz="950">
              <a:latin typeface="Calibri"/>
              <a:cs typeface="Calibri"/>
            </a:endParaRPr>
          </a:p>
          <a:p>
            <a:pPr marL="167005" indent="-154305">
              <a:lnSpc>
                <a:spcPct val="100000"/>
              </a:lnSpc>
              <a:spcBef>
                <a:spcPts val="735"/>
              </a:spcBef>
              <a:buFont typeface="Cambria Math"/>
              <a:buChar char="◗"/>
              <a:tabLst>
                <a:tab pos="167005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No</a:t>
            </a:r>
            <a:r>
              <a:rPr dirty="0" sz="950" spc="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indigenous</a:t>
            </a:r>
            <a:r>
              <a:rPr dirty="0" sz="950" spc="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cybersecurity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tools</a:t>
            </a:r>
            <a:endParaRPr sz="950">
              <a:latin typeface="Calibri"/>
              <a:cs typeface="Calibri"/>
            </a:endParaRPr>
          </a:p>
          <a:p>
            <a:pPr marL="166370" indent="-153670">
              <a:lnSpc>
                <a:spcPct val="100000"/>
              </a:lnSpc>
              <a:spcBef>
                <a:spcPts val="740"/>
              </a:spcBef>
              <a:buFont typeface="Cambria Math"/>
              <a:buChar char="◗"/>
              <a:tabLst>
                <a:tab pos="166370" algn="l"/>
              </a:tabLst>
            </a:pP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Real-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time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detection</a:t>
            </a:r>
            <a:r>
              <a:rPr dirty="0" sz="950" spc="-5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gap</a:t>
            </a:r>
            <a:r>
              <a:rPr dirty="0" sz="950" spc="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in</a:t>
            </a:r>
            <a:r>
              <a:rPr dirty="0" sz="9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critical</a:t>
            </a:r>
            <a:r>
              <a:rPr dirty="0" sz="950" spc="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infra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4257675" y="3667188"/>
            <a:ext cx="4767580" cy="1405255"/>
            <a:chOff x="4257675" y="3667188"/>
            <a:chExt cx="4767580" cy="1405255"/>
          </a:xfrm>
        </p:grpSpPr>
        <p:pic>
          <p:nvPicPr>
            <p:cNvPr id="49" name="object 4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7675" y="3667188"/>
              <a:ext cx="4767326" cy="1404874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4443476" y="3776726"/>
              <a:ext cx="4476750" cy="1114425"/>
            </a:xfrm>
            <a:custGeom>
              <a:avLst/>
              <a:gdLst/>
              <a:ahLst/>
              <a:cxnLst/>
              <a:rect l="l" t="t" r="r" b="b"/>
              <a:pathLst>
                <a:path w="4476750" h="1114425">
                  <a:moveTo>
                    <a:pt x="4385309" y="0"/>
                  </a:moveTo>
                  <a:lnTo>
                    <a:pt x="91312" y="0"/>
                  </a:lnTo>
                  <a:lnTo>
                    <a:pt x="55774" y="7177"/>
                  </a:lnTo>
                  <a:lnTo>
                    <a:pt x="26749" y="26749"/>
                  </a:lnTo>
                  <a:lnTo>
                    <a:pt x="7177" y="55774"/>
                  </a:lnTo>
                  <a:lnTo>
                    <a:pt x="0" y="91312"/>
                  </a:lnTo>
                  <a:lnTo>
                    <a:pt x="0" y="1023010"/>
                  </a:lnTo>
                  <a:lnTo>
                    <a:pt x="7177" y="1058570"/>
                  </a:lnTo>
                  <a:lnTo>
                    <a:pt x="26749" y="1087607"/>
                  </a:lnTo>
                  <a:lnTo>
                    <a:pt x="55774" y="1107183"/>
                  </a:lnTo>
                  <a:lnTo>
                    <a:pt x="91312" y="1114361"/>
                  </a:lnTo>
                  <a:lnTo>
                    <a:pt x="4385309" y="1114361"/>
                  </a:lnTo>
                  <a:lnTo>
                    <a:pt x="4420868" y="1107183"/>
                  </a:lnTo>
                  <a:lnTo>
                    <a:pt x="4449937" y="1087607"/>
                  </a:lnTo>
                  <a:lnTo>
                    <a:pt x="4469552" y="1058570"/>
                  </a:lnTo>
                  <a:lnTo>
                    <a:pt x="4476750" y="1023010"/>
                  </a:lnTo>
                  <a:lnTo>
                    <a:pt x="4476750" y="91312"/>
                  </a:lnTo>
                  <a:lnTo>
                    <a:pt x="4469552" y="55774"/>
                  </a:lnTo>
                  <a:lnTo>
                    <a:pt x="4449937" y="26749"/>
                  </a:lnTo>
                  <a:lnTo>
                    <a:pt x="4420868" y="7177"/>
                  </a:lnTo>
                  <a:lnTo>
                    <a:pt x="4385309" y="0"/>
                  </a:lnTo>
                  <a:close/>
                </a:path>
              </a:pathLst>
            </a:custGeom>
            <a:solidFill>
              <a:srgbClr val="E8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443476" y="3776726"/>
              <a:ext cx="4476750" cy="1114425"/>
            </a:xfrm>
            <a:custGeom>
              <a:avLst/>
              <a:gdLst/>
              <a:ahLst/>
              <a:cxnLst/>
              <a:rect l="l" t="t" r="r" b="b"/>
              <a:pathLst>
                <a:path w="4476750" h="1114425">
                  <a:moveTo>
                    <a:pt x="0" y="91312"/>
                  </a:moveTo>
                  <a:lnTo>
                    <a:pt x="7177" y="55774"/>
                  </a:lnTo>
                  <a:lnTo>
                    <a:pt x="26749" y="26749"/>
                  </a:lnTo>
                  <a:lnTo>
                    <a:pt x="55774" y="7177"/>
                  </a:lnTo>
                  <a:lnTo>
                    <a:pt x="91312" y="0"/>
                  </a:lnTo>
                  <a:lnTo>
                    <a:pt x="4385309" y="0"/>
                  </a:lnTo>
                  <a:lnTo>
                    <a:pt x="4420868" y="7177"/>
                  </a:lnTo>
                  <a:lnTo>
                    <a:pt x="4449937" y="26749"/>
                  </a:lnTo>
                  <a:lnTo>
                    <a:pt x="4469552" y="55774"/>
                  </a:lnTo>
                  <a:lnTo>
                    <a:pt x="4476750" y="91312"/>
                  </a:lnTo>
                  <a:lnTo>
                    <a:pt x="4476750" y="1023010"/>
                  </a:lnTo>
                  <a:lnTo>
                    <a:pt x="4469552" y="1058570"/>
                  </a:lnTo>
                  <a:lnTo>
                    <a:pt x="4449937" y="1087607"/>
                  </a:lnTo>
                  <a:lnTo>
                    <a:pt x="4420868" y="1107183"/>
                  </a:lnTo>
                  <a:lnTo>
                    <a:pt x="4385309" y="1114361"/>
                  </a:lnTo>
                  <a:lnTo>
                    <a:pt x="91312" y="1114361"/>
                  </a:lnTo>
                  <a:lnTo>
                    <a:pt x="55774" y="1107183"/>
                  </a:lnTo>
                  <a:lnTo>
                    <a:pt x="26749" y="1087607"/>
                  </a:lnTo>
                  <a:lnTo>
                    <a:pt x="7177" y="1058570"/>
                  </a:lnTo>
                  <a:lnTo>
                    <a:pt x="0" y="1023010"/>
                  </a:lnTo>
                  <a:lnTo>
                    <a:pt x="0" y="91312"/>
                  </a:lnTo>
                  <a:close/>
                </a:path>
              </a:pathLst>
            </a:custGeom>
            <a:ln w="10160">
              <a:solidFill>
                <a:srgbClr val="1A79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438650" y="3771900"/>
              <a:ext cx="1457325" cy="304800"/>
            </a:xfrm>
            <a:custGeom>
              <a:avLst/>
              <a:gdLst/>
              <a:ahLst/>
              <a:cxnLst/>
              <a:rect l="l" t="t" r="r" b="b"/>
              <a:pathLst>
                <a:path w="1457325" h="304800">
                  <a:moveTo>
                    <a:pt x="1367663" y="0"/>
                  </a:moveTo>
                  <a:lnTo>
                    <a:pt x="89662" y="0"/>
                  </a:lnTo>
                  <a:lnTo>
                    <a:pt x="54756" y="7044"/>
                  </a:lnTo>
                  <a:lnTo>
                    <a:pt x="26257" y="26257"/>
                  </a:lnTo>
                  <a:lnTo>
                    <a:pt x="7044" y="54756"/>
                  </a:lnTo>
                  <a:lnTo>
                    <a:pt x="0" y="89662"/>
                  </a:lnTo>
                  <a:lnTo>
                    <a:pt x="0" y="215150"/>
                  </a:lnTo>
                  <a:lnTo>
                    <a:pt x="7044" y="250048"/>
                  </a:lnTo>
                  <a:lnTo>
                    <a:pt x="26257" y="278544"/>
                  </a:lnTo>
                  <a:lnTo>
                    <a:pt x="54756" y="297755"/>
                  </a:lnTo>
                  <a:lnTo>
                    <a:pt x="89662" y="304800"/>
                  </a:lnTo>
                  <a:lnTo>
                    <a:pt x="1367663" y="304800"/>
                  </a:lnTo>
                  <a:lnTo>
                    <a:pt x="1402568" y="297755"/>
                  </a:lnTo>
                  <a:lnTo>
                    <a:pt x="1431067" y="278544"/>
                  </a:lnTo>
                  <a:lnTo>
                    <a:pt x="1450280" y="250048"/>
                  </a:lnTo>
                  <a:lnTo>
                    <a:pt x="1457325" y="215150"/>
                  </a:lnTo>
                  <a:lnTo>
                    <a:pt x="1457325" y="89662"/>
                  </a:lnTo>
                  <a:lnTo>
                    <a:pt x="1450280" y="54756"/>
                  </a:lnTo>
                  <a:lnTo>
                    <a:pt x="1431067" y="26257"/>
                  </a:lnTo>
                  <a:lnTo>
                    <a:pt x="1402568" y="7044"/>
                  </a:lnTo>
                  <a:lnTo>
                    <a:pt x="1367663" y="0"/>
                  </a:lnTo>
                  <a:close/>
                </a:path>
              </a:pathLst>
            </a:custGeom>
            <a:solidFill>
              <a:srgbClr val="1A79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4490720" y="3838892"/>
            <a:ext cx="27305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5" name="object 5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Quantum-Inspired</a:t>
            </a:r>
            <a:r>
              <a:rPr dirty="0" spc="80"/>
              <a:t> </a:t>
            </a:r>
            <a:r>
              <a:rPr dirty="0"/>
              <a:t>NIDS</a:t>
            </a:r>
            <a:r>
              <a:rPr dirty="0" spc="355"/>
              <a:t> </a:t>
            </a:r>
            <a:r>
              <a:rPr dirty="0"/>
              <a:t>|</a:t>
            </a:r>
            <a:r>
              <a:rPr dirty="0" spc="250"/>
              <a:t> </a:t>
            </a:r>
            <a:r>
              <a:rPr dirty="0"/>
              <a:t>Ini</a:t>
            </a:r>
            <a:r>
              <a:rPr dirty="0" spc="-55"/>
              <a:t> </a:t>
            </a:r>
            <a:r>
              <a:rPr dirty="0"/>
              <a:t>tial</a:t>
            </a:r>
            <a:r>
              <a:rPr dirty="0" spc="155"/>
              <a:t> </a:t>
            </a:r>
            <a:r>
              <a:rPr dirty="0" spc="-10"/>
              <a:t>Defence</a:t>
            </a:r>
          </a:p>
        </p:txBody>
      </p:sp>
      <p:sp>
        <p:nvSpPr>
          <p:cNvPr id="54" name="object 54" descr=""/>
          <p:cNvSpPr txBox="1"/>
          <p:nvPr/>
        </p:nvSpPr>
        <p:spPr>
          <a:xfrm>
            <a:off x="4564126" y="4178617"/>
            <a:ext cx="2451735" cy="651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25"/>
              </a:spcBef>
              <a:buFont typeface="Cambria Math"/>
              <a:buChar char="◗"/>
              <a:tabLst>
                <a:tab pos="167005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Campus</a:t>
            </a:r>
            <a:r>
              <a:rPr dirty="0" sz="9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networks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unprotected</a:t>
            </a:r>
            <a:endParaRPr sz="950">
              <a:latin typeface="Calibri"/>
              <a:cs typeface="Calibri"/>
            </a:endParaRPr>
          </a:p>
          <a:p>
            <a:pPr marL="166370" indent="-153670">
              <a:lnSpc>
                <a:spcPct val="100000"/>
              </a:lnSpc>
              <a:spcBef>
                <a:spcPts val="740"/>
              </a:spcBef>
              <a:buFont typeface="Cambria Math"/>
              <a:buChar char="◗"/>
              <a:tabLst>
                <a:tab pos="166370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Manual</a:t>
            </a:r>
            <a:r>
              <a:rPr dirty="0" sz="950" spc="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monitoring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—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inefficient</a:t>
            </a:r>
            <a:endParaRPr sz="950">
              <a:latin typeface="Calibri"/>
              <a:cs typeface="Calibri"/>
            </a:endParaRPr>
          </a:p>
          <a:p>
            <a:pPr marL="167005" indent="-154305">
              <a:lnSpc>
                <a:spcPct val="100000"/>
              </a:lnSpc>
              <a:spcBef>
                <a:spcPts val="735"/>
              </a:spcBef>
              <a:buFont typeface="Cambria Math"/>
              <a:buChar char="◗"/>
              <a:tabLst>
                <a:tab pos="167005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Research</a:t>
            </a:r>
            <a:r>
              <a:rPr dirty="0" sz="950" spc="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gap:</a:t>
            </a:r>
            <a:r>
              <a:rPr dirty="0" sz="950" spc="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quantum-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ML</a:t>
            </a:r>
            <a:r>
              <a:rPr dirty="0" sz="9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NIDS</a:t>
            </a:r>
            <a:r>
              <a:rPr dirty="0" sz="9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not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explored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28625" y="152400"/>
            <a:ext cx="1657350" cy="257175"/>
          </a:xfrm>
          <a:custGeom>
            <a:avLst/>
            <a:gdLst/>
            <a:ahLst/>
            <a:cxnLst/>
            <a:rect l="l" t="t" r="r" b="b"/>
            <a:pathLst>
              <a:path w="1657350" h="257175">
                <a:moveTo>
                  <a:pt x="1528800" y="0"/>
                </a:moveTo>
                <a:lnTo>
                  <a:pt x="128561" y="0"/>
                </a:lnTo>
                <a:lnTo>
                  <a:pt x="78509" y="10100"/>
                </a:lnTo>
                <a:lnTo>
                  <a:pt x="37636" y="37655"/>
                </a:lnTo>
                <a:lnTo>
                  <a:pt x="10079" y="78545"/>
                </a:lnTo>
                <a:lnTo>
                  <a:pt x="0" y="128650"/>
                </a:lnTo>
                <a:lnTo>
                  <a:pt x="10115" y="178683"/>
                </a:lnTo>
                <a:lnTo>
                  <a:pt x="37659" y="219535"/>
                </a:lnTo>
                <a:lnTo>
                  <a:pt x="78519" y="247076"/>
                </a:lnTo>
                <a:lnTo>
                  <a:pt x="128561" y="257175"/>
                </a:lnTo>
                <a:lnTo>
                  <a:pt x="1528673" y="257175"/>
                </a:lnTo>
                <a:lnTo>
                  <a:pt x="1578778" y="247076"/>
                </a:lnTo>
                <a:lnTo>
                  <a:pt x="1619668" y="219535"/>
                </a:lnTo>
                <a:lnTo>
                  <a:pt x="1647223" y="178683"/>
                </a:lnTo>
                <a:lnTo>
                  <a:pt x="1657324" y="128650"/>
                </a:lnTo>
                <a:lnTo>
                  <a:pt x="1647225" y="78545"/>
                </a:lnTo>
                <a:lnTo>
                  <a:pt x="1619684" y="37655"/>
                </a:lnTo>
                <a:lnTo>
                  <a:pt x="1578832" y="10100"/>
                </a:lnTo>
                <a:lnTo>
                  <a:pt x="1528800" y="0"/>
                </a:lnTo>
                <a:close/>
              </a:path>
            </a:pathLst>
          </a:custGeom>
          <a:solidFill>
            <a:srgbClr val="1B4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89242" y="201040"/>
            <a:ext cx="12598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8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8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dirty="0" sz="800" spc="3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dirty="0" sz="80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dirty="0" sz="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8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/>
              <a:t>Hybrid</a:t>
            </a:r>
            <a:r>
              <a:rPr dirty="0" spc="145"/>
              <a:t> </a:t>
            </a:r>
            <a:r>
              <a:rPr dirty="0"/>
              <a:t>ML-NIDS</a:t>
            </a:r>
            <a:r>
              <a:rPr dirty="0" spc="140"/>
              <a:t> </a:t>
            </a:r>
            <a:r>
              <a:rPr dirty="0"/>
              <a:t>with</a:t>
            </a:r>
            <a:r>
              <a:rPr dirty="0" spc="150"/>
              <a:t> </a:t>
            </a:r>
            <a:r>
              <a:rPr dirty="0"/>
              <a:t>Quantum-Inspired</a:t>
            </a:r>
            <a:r>
              <a:rPr dirty="0" spc="160"/>
              <a:t> </a:t>
            </a:r>
            <a:r>
              <a:rPr dirty="0" spc="-10"/>
              <a:t>Optimization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216217" y="995362"/>
            <a:ext cx="356235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Combining</a:t>
            </a:r>
            <a:r>
              <a:rPr dirty="0" sz="950" spc="2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classical ML</a:t>
            </a:r>
            <a:r>
              <a:rPr dirty="0" sz="950" spc="-3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with</a:t>
            </a:r>
            <a:r>
              <a:rPr dirty="0" sz="950" spc="-4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QPSO</a:t>
            </a:r>
            <a:r>
              <a:rPr dirty="0" sz="950" spc="-40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for</a:t>
            </a:r>
            <a:r>
              <a:rPr dirty="0" sz="950" spc="-30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smarter,</a:t>
            </a:r>
            <a:r>
              <a:rPr dirty="0" sz="950" spc="-1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6B7C8E"/>
                </a:solidFill>
                <a:latin typeface="Calibri"/>
                <a:cs typeface="Calibri"/>
              </a:rPr>
              <a:t>faster</a:t>
            </a:r>
            <a:r>
              <a:rPr dirty="0" sz="950" spc="-3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intrusion</a:t>
            </a:r>
            <a:r>
              <a:rPr dirty="0" sz="950" spc="-4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6B7C8E"/>
                </a:solidFill>
                <a:latin typeface="Calibri"/>
                <a:cs typeface="Calibri"/>
              </a:rPr>
              <a:t>detection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1276286"/>
            <a:ext cx="9144000" cy="3867785"/>
            <a:chOff x="0" y="1276286"/>
            <a:chExt cx="9144000" cy="3867785"/>
          </a:xfrm>
        </p:grpSpPr>
        <p:sp>
          <p:nvSpPr>
            <p:cNvPr id="7" name="object 7" descr=""/>
            <p:cNvSpPr/>
            <p:nvPr/>
          </p:nvSpPr>
          <p:spPr>
            <a:xfrm>
              <a:off x="0" y="5029200"/>
              <a:ext cx="9144000" cy="114300"/>
            </a:xfrm>
            <a:custGeom>
              <a:avLst/>
              <a:gdLst/>
              <a:ahLst/>
              <a:cxnLst/>
              <a:rect l="l" t="t" r="r" b="b"/>
              <a:pathLst>
                <a:path w="9144000" h="114300">
                  <a:moveTo>
                    <a:pt x="9144000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9144000" y="1143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4F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" y="1276286"/>
              <a:ext cx="3595751" cy="286232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28600" y="1390650"/>
              <a:ext cx="3295650" cy="2562225"/>
            </a:xfrm>
            <a:custGeom>
              <a:avLst/>
              <a:gdLst/>
              <a:ahLst/>
              <a:cxnLst/>
              <a:rect l="l" t="t" r="r" b="b"/>
              <a:pathLst>
                <a:path w="3295650" h="2562225">
                  <a:moveTo>
                    <a:pt x="1647825" y="0"/>
                  </a:moveTo>
                  <a:lnTo>
                    <a:pt x="1593432" y="684"/>
                  </a:lnTo>
                  <a:lnTo>
                    <a:pt x="1539479" y="2724"/>
                  </a:lnTo>
                  <a:lnTo>
                    <a:pt x="1485995" y="6099"/>
                  </a:lnTo>
                  <a:lnTo>
                    <a:pt x="1433006" y="10786"/>
                  </a:lnTo>
                  <a:lnTo>
                    <a:pt x="1380539" y="16766"/>
                  </a:lnTo>
                  <a:lnTo>
                    <a:pt x="1328621" y="24017"/>
                  </a:lnTo>
                  <a:lnTo>
                    <a:pt x="1277279" y="32517"/>
                  </a:lnTo>
                  <a:lnTo>
                    <a:pt x="1226541" y="42246"/>
                  </a:lnTo>
                  <a:lnTo>
                    <a:pt x="1176434" y="53183"/>
                  </a:lnTo>
                  <a:lnTo>
                    <a:pt x="1126984" y="65307"/>
                  </a:lnTo>
                  <a:lnTo>
                    <a:pt x="1078220" y="78596"/>
                  </a:lnTo>
                  <a:lnTo>
                    <a:pt x="1030167" y="93030"/>
                  </a:lnTo>
                  <a:lnTo>
                    <a:pt x="982854" y="108586"/>
                  </a:lnTo>
                  <a:lnTo>
                    <a:pt x="936307" y="125245"/>
                  </a:lnTo>
                  <a:lnTo>
                    <a:pt x="890554" y="142985"/>
                  </a:lnTo>
                  <a:lnTo>
                    <a:pt x="845621" y="161785"/>
                  </a:lnTo>
                  <a:lnTo>
                    <a:pt x="801536" y="181624"/>
                  </a:lnTo>
                  <a:lnTo>
                    <a:pt x="758326" y="202481"/>
                  </a:lnTo>
                  <a:lnTo>
                    <a:pt x="716019" y="224335"/>
                  </a:lnTo>
                  <a:lnTo>
                    <a:pt x="674640" y="247164"/>
                  </a:lnTo>
                  <a:lnTo>
                    <a:pt x="634218" y="270947"/>
                  </a:lnTo>
                  <a:lnTo>
                    <a:pt x="594779" y="295665"/>
                  </a:lnTo>
                  <a:lnTo>
                    <a:pt x="556351" y="321294"/>
                  </a:lnTo>
                  <a:lnTo>
                    <a:pt x="518961" y="347814"/>
                  </a:lnTo>
                  <a:lnTo>
                    <a:pt x="482636" y="375205"/>
                  </a:lnTo>
                  <a:lnTo>
                    <a:pt x="447403" y="403445"/>
                  </a:lnTo>
                  <a:lnTo>
                    <a:pt x="413289" y="432512"/>
                  </a:lnTo>
                  <a:lnTo>
                    <a:pt x="380321" y="462387"/>
                  </a:lnTo>
                  <a:lnTo>
                    <a:pt x="348527" y="493047"/>
                  </a:lnTo>
                  <a:lnTo>
                    <a:pt x="317934" y="524472"/>
                  </a:lnTo>
                  <a:lnTo>
                    <a:pt x="288568" y="556640"/>
                  </a:lnTo>
                  <a:lnTo>
                    <a:pt x="260458" y="589531"/>
                  </a:lnTo>
                  <a:lnTo>
                    <a:pt x="233629" y="623123"/>
                  </a:lnTo>
                  <a:lnTo>
                    <a:pt x="208110" y="657395"/>
                  </a:lnTo>
                  <a:lnTo>
                    <a:pt x="183927" y="692327"/>
                  </a:lnTo>
                  <a:lnTo>
                    <a:pt x="161107" y="727896"/>
                  </a:lnTo>
                  <a:lnTo>
                    <a:pt x="139678" y="764083"/>
                  </a:lnTo>
                  <a:lnTo>
                    <a:pt x="119667" y="800865"/>
                  </a:lnTo>
                  <a:lnTo>
                    <a:pt x="101101" y="838222"/>
                  </a:lnTo>
                  <a:lnTo>
                    <a:pt x="84007" y="876133"/>
                  </a:lnTo>
                  <a:lnTo>
                    <a:pt x="68412" y="914576"/>
                  </a:lnTo>
                  <a:lnTo>
                    <a:pt x="54343" y="953531"/>
                  </a:lnTo>
                  <a:lnTo>
                    <a:pt x="41828" y="992976"/>
                  </a:lnTo>
                  <a:lnTo>
                    <a:pt x="30893" y="1032890"/>
                  </a:lnTo>
                  <a:lnTo>
                    <a:pt x="21567" y="1073252"/>
                  </a:lnTo>
                  <a:lnTo>
                    <a:pt x="13875" y="1114042"/>
                  </a:lnTo>
                  <a:lnTo>
                    <a:pt x="7845" y="1155237"/>
                  </a:lnTo>
                  <a:lnTo>
                    <a:pt x="3505" y="1196818"/>
                  </a:lnTo>
                  <a:lnTo>
                    <a:pt x="880" y="1238762"/>
                  </a:lnTo>
                  <a:lnTo>
                    <a:pt x="0" y="1281049"/>
                  </a:lnTo>
                  <a:lnTo>
                    <a:pt x="880" y="1323343"/>
                  </a:lnTo>
                  <a:lnTo>
                    <a:pt x="3505" y="1365294"/>
                  </a:lnTo>
                  <a:lnTo>
                    <a:pt x="7845" y="1406881"/>
                  </a:lnTo>
                  <a:lnTo>
                    <a:pt x="13875" y="1448083"/>
                  </a:lnTo>
                  <a:lnTo>
                    <a:pt x="21567" y="1488879"/>
                  </a:lnTo>
                  <a:lnTo>
                    <a:pt x="30893" y="1529247"/>
                  </a:lnTo>
                  <a:lnTo>
                    <a:pt x="41828" y="1569167"/>
                  </a:lnTo>
                  <a:lnTo>
                    <a:pt x="54343" y="1608618"/>
                  </a:lnTo>
                  <a:lnTo>
                    <a:pt x="68412" y="1647578"/>
                  </a:lnTo>
                  <a:lnTo>
                    <a:pt x="84007" y="1686026"/>
                  </a:lnTo>
                  <a:lnTo>
                    <a:pt x="101101" y="1723942"/>
                  </a:lnTo>
                  <a:lnTo>
                    <a:pt x="119667" y="1761303"/>
                  </a:lnTo>
                  <a:lnTo>
                    <a:pt x="139678" y="1798090"/>
                  </a:lnTo>
                  <a:lnTo>
                    <a:pt x="161107" y="1834280"/>
                  </a:lnTo>
                  <a:lnTo>
                    <a:pt x="183927" y="1869854"/>
                  </a:lnTo>
                  <a:lnTo>
                    <a:pt x="208110" y="1904789"/>
                  </a:lnTo>
                  <a:lnTo>
                    <a:pt x="233629" y="1939064"/>
                  </a:lnTo>
                  <a:lnTo>
                    <a:pt x="260458" y="1972660"/>
                  </a:lnTo>
                  <a:lnTo>
                    <a:pt x="288568" y="2005553"/>
                  </a:lnTo>
                  <a:lnTo>
                    <a:pt x="317934" y="2037725"/>
                  </a:lnTo>
                  <a:lnTo>
                    <a:pt x="348527" y="2069152"/>
                  </a:lnTo>
                  <a:lnTo>
                    <a:pt x="380321" y="2099815"/>
                  </a:lnTo>
                  <a:lnTo>
                    <a:pt x="413289" y="2129692"/>
                  </a:lnTo>
                  <a:lnTo>
                    <a:pt x="447403" y="2158761"/>
                  </a:lnTo>
                  <a:lnTo>
                    <a:pt x="482636" y="2187003"/>
                  </a:lnTo>
                  <a:lnTo>
                    <a:pt x="518961" y="2214396"/>
                  </a:lnTo>
                  <a:lnTo>
                    <a:pt x="556351" y="2240918"/>
                  </a:lnTo>
                  <a:lnTo>
                    <a:pt x="594779" y="2266549"/>
                  </a:lnTo>
                  <a:lnTo>
                    <a:pt x="634218" y="2291267"/>
                  </a:lnTo>
                  <a:lnTo>
                    <a:pt x="674640" y="2315052"/>
                  </a:lnTo>
                  <a:lnTo>
                    <a:pt x="716019" y="2337882"/>
                  </a:lnTo>
                  <a:lnTo>
                    <a:pt x="758326" y="2359737"/>
                  </a:lnTo>
                  <a:lnTo>
                    <a:pt x="801536" y="2380595"/>
                  </a:lnTo>
                  <a:lnTo>
                    <a:pt x="845621" y="2400434"/>
                  </a:lnTo>
                  <a:lnTo>
                    <a:pt x="890554" y="2419235"/>
                  </a:lnTo>
                  <a:lnTo>
                    <a:pt x="936307" y="2436976"/>
                  </a:lnTo>
                  <a:lnTo>
                    <a:pt x="982854" y="2453635"/>
                  </a:lnTo>
                  <a:lnTo>
                    <a:pt x="1030167" y="2469193"/>
                  </a:lnTo>
                  <a:lnTo>
                    <a:pt x="1078220" y="2483627"/>
                  </a:lnTo>
                  <a:lnTo>
                    <a:pt x="1126984" y="2496916"/>
                  </a:lnTo>
                  <a:lnTo>
                    <a:pt x="1176434" y="2509040"/>
                  </a:lnTo>
                  <a:lnTo>
                    <a:pt x="1226541" y="2519977"/>
                  </a:lnTo>
                  <a:lnTo>
                    <a:pt x="1277279" y="2529707"/>
                  </a:lnTo>
                  <a:lnTo>
                    <a:pt x="1328621" y="2538207"/>
                  </a:lnTo>
                  <a:lnTo>
                    <a:pt x="1380539" y="2545458"/>
                  </a:lnTo>
                  <a:lnTo>
                    <a:pt x="1433006" y="2551438"/>
                  </a:lnTo>
                  <a:lnTo>
                    <a:pt x="1485995" y="2556125"/>
                  </a:lnTo>
                  <a:lnTo>
                    <a:pt x="1539479" y="2559500"/>
                  </a:lnTo>
                  <a:lnTo>
                    <a:pt x="1593432" y="2561540"/>
                  </a:lnTo>
                  <a:lnTo>
                    <a:pt x="1647825" y="2562225"/>
                  </a:lnTo>
                  <a:lnTo>
                    <a:pt x="1702218" y="2561540"/>
                  </a:lnTo>
                  <a:lnTo>
                    <a:pt x="1756171" y="2559500"/>
                  </a:lnTo>
                  <a:lnTo>
                    <a:pt x="1809656" y="2556125"/>
                  </a:lnTo>
                  <a:lnTo>
                    <a:pt x="1862646" y="2551438"/>
                  </a:lnTo>
                  <a:lnTo>
                    <a:pt x="1915114" y="2545458"/>
                  </a:lnTo>
                  <a:lnTo>
                    <a:pt x="1967032" y="2538207"/>
                  </a:lnTo>
                  <a:lnTo>
                    <a:pt x="2018374" y="2529707"/>
                  </a:lnTo>
                  <a:lnTo>
                    <a:pt x="2069112" y="2519977"/>
                  </a:lnTo>
                  <a:lnTo>
                    <a:pt x="2119220" y="2509040"/>
                  </a:lnTo>
                  <a:lnTo>
                    <a:pt x="2168670" y="2496916"/>
                  </a:lnTo>
                  <a:lnTo>
                    <a:pt x="2217435" y="2483627"/>
                  </a:lnTo>
                  <a:lnTo>
                    <a:pt x="2265487" y="2469193"/>
                  </a:lnTo>
                  <a:lnTo>
                    <a:pt x="2312801" y="2453635"/>
                  </a:lnTo>
                  <a:lnTo>
                    <a:pt x="2359347" y="2436976"/>
                  </a:lnTo>
                  <a:lnTo>
                    <a:pt x="2405101" y="2419235"/>
                  </a:lnTo>
                  <a:lnTo>
                    <a:pt x="2450034" y="2400434"/>
                  </a:lnTo>
                  <a:lnTo>
                    <a:pt x="2494118" y="2380595"/>
                  </a:lnTo>
                  <a:lnTo>
                    <a:pt x="2537328" y="2359737"/>
                  </a:lnTo>
                  <a:lnTo>
                    <a:pt x="2579636" y="2337882"/>
                  </a:lnTo>
                  <a:lnTo>
                    <a:pt x="2621014" y="2315052"/>
                  </a:lnTo>
                  <a:lnTo>
                    <a:pt x="2661436" y="2291267"/>
                  </a:lnTo>
                  <a:lnTo>
                    <a:pt x="2700875" y="2266549"/>
                  </a:lnTo>
                  <a:lnTo>
                    <a:pt x="2739303" y="2240918"/>
                  </a:lnTo>
                  <a:lnTo>
                    <a:pt x="2776693" y="2214396"/>
                  </a:lnTo>
                  <a:lnTo>
                    <a:pt x="2813018" y="2187003"/>
                  </a:lnTo>
                  <a:lnTo>
                    <a:pt x="2848251" y="2158761"/>
                  </a:lnTo>
                  <a:lnTo>
                    <a:pt x="2882364" y="2129692"/>
                  </a:lnTo>
                  <a:lnTo>
                    <a:pt x="2915332" y="2099815"/>
                  </a:lnTo>
                  <a:lnTo>
                    <a:pt x="2947126" y="2069152"/>
                  </a:lnTo>
                  <a:lnTo>
                    <a:pt x="2977719" y="2037725"/>
                  </a:lnTo>
                  <a:lnTo>
                    <a:pt x="3007084" y="2005553"/>
                  </a:lnTo>
                  <a:lnTo>
                    <a:pt x="3035195" y="1972660"/>
                  </a:lnTo>
                  <a:lnTo>
                    <a:pt x="3062023" y="1939064"/>
                  </a:lnTo>
                  <a:lnTo>
                    <a:pt x="3087542" y="1904789"/>
                  </a:lnTo>
                  <a:lnTo>
                    <a:pt x="3111725" y="1869854"/>
                  </a:lnTo>
                  <a:lnTo>
                    <a:pt x="3134544" y="1834280"/>
                  </a:lnTo>
                  <a:lnTo>
                    <a:pt x="3155973" y="1798090"/>
                  </a:lnTo>
                  <a:lnTo>
                    <a:pt x="3175984" y="1761303"/>
                  </a:lnTo>
                  <a:lnTo>
                    <a:pt x="3194550" y="1723942"/>
                  </a:lnTo>
                  <a:lnTo>
                    <a:pt x="3211644" y="1686026"/>
                  </a:lnTo>
                  <a:lnTo>
                    <a:pt x="3227238" y="1647578"/>
                  </a:lnTo>
                  <a:lnTo>
                    <a:pt x="3241307" y="1608618"/>
                  </a:lnTo>
                  <a:lnTo>
                    <a:pt x="3253822" y="1569167"/>
                  </a:lnTo>
                  <a:lnTo>
                    <a:pt x="3264756" y="1529247"/>
                  </a:lnTo>
                  <a:lnTo>
                    <a:pt x="3274083" y="1488879"/>
                  </a:lnTo>
                  <a:lnTo>
                    <a:pt x="3281774" y="1448083"/>
                  </a:lnTo>
                  <a:lnTo>
                    <a:pt x="3287804" y="1406881"/>
                  </a:lnTo>
                  <a:lnTo>
                    <a:pt x="3292145" y="1365294"/>
                  </a:lnTo>
                  <a:lnTo>
                    <a:pt x="3294769" y="1323343"/>
                  </a:lnTo>
                  <a:lnTo>
                    <a:pt x="3295650" y="1281049"/>
                  </a:lnTo>
                  <a:lnTo>
                    <a:pt x="3294769" y="1238762"/>
                  </a:lnTo>
                  <a:lnTo>
                    <a:pt x="3292145" y="1196818"/>
                  </a:lnTo>
                  <a:lnTo>
                    <a:pt x="3287804" y="1155237"/>
                  </a:lnTo>
                  <a:lnTo>
                    <a:pt x="3281774" y="1114042"/>
                  </a:lnTo>
                  <a:lnTo>
                    <a:pt x="3274083" y="1073252"/>
                  </a:lnTo>
                  <a:lnTo>
                    <a:pt x="3264756" y="1032890"/>
                  </a:lnTo>
                  <a:lnTo>
                    <a:pt x="3253822" y="992976"/>
                  </a:lnTo>
                  <a:lnTo>
                    <a:pt x="3241307" y="953531"/>
                  </a:lnTo>
                  <a:lnTo>
                    <a:pt x="3227238" y="914576"/>
                  </a:lnTo>
                  <a:lnTo>
                    <a:pt x="3211644" y="876133"/>
                  </a:lnTo>
                  <a:lnTo>
                    <a:pt x="3194550" y="838222"/>
                  </a:lnTo>
                  <a:lnTo>
                    <a:pt x="3175984" y="800865"/>
                  </a:lnTo>
                  <a:lnTo>
                    <a:pt x="3155973" y="764083"/>
                  </a:lnTo>
                  <a:lnTo>
                    <a:pt x="3134544" y="727896"/>
                  </a:lnTo>
                  <a:lnTo>
                    <a:pt x="3111725" y="692327"/>
                  </a:lnTo>
                  <a:lnTo>
                    <a:pt x="3087542" y="657395"/>
                  </a:lnTo>
                  <a:lnTo>
                    <a:pt x="3062023" y="623123"/>
                  </a:lnTo>
                  <a:lnTo>
                    <a:pt x="3035195" y="589531"/>
                  </a:lnTo>
                  <a:lnTo>
                    <a:pt x="3007084" y="556640"/>
                  </a:lnTo>
                  <a:lnTo>
                    <a:pt x="2977719" y="524472"/>
                  </a:lnTo>
                  <a:lnTo>
                    <a:pt x="2947126" y="493047"/>
                  </a:lnTo>
                  <a:lnTo>
                    <a:pt x="2915332" y="462387"/>
                  </a:lnTo>
                  <a:lnTo>
                    <a:pt x="2882364" y="432512"/>
                  </a:lnTo>
                  <a:lnTo>
                    <a:pt x="2848251" y="403445"/>
                  </a:lnTo>
                  <a:lnTo>
                    <a:pt x="2813018" y="375205"/>
                  </a:lnTo>
                  <a:lnTo>
                    <a:pt x="2776693" y="347814"/>
                  </a:lnTo>
                  <a:lnTo>
                    <a:pt x="2739303" y="321294"/>
                  </a:lnTo>
                  <a:lnTo>
                    <a:pt x="2700875" y="295665"/>
                  </a:lnTo>
                  <a:lnTo>
                    <a:pt x="2661436" y="270947"/>
                  </a:lnTo>
                  <a:lnTo>
                    <a:pt x="2621014" y="247164"/>
                  </a:lnTo>
                  <a:lnTo>
                    <a:pt x="2579636" y="224335"/>
                  </a:lnTo>
                  <a:lnTo>
                    <a:pt x="2537328" y="202481"/>
                  </a:lnTo>
                  <a:lnTo>
                    <a:pt x="2494118" y="181624"/>
                  </a:lnTo>
                  <a:lnTo>
                    <a:pt x="2450034" y="161785"/>
                  </a:lnTo>
                  <a:lnTo>
                    <a:pt x="2405101" y="142985"/>
                  </a:lnTo>
                  <a:lnTo>
                    <a:pt x="2359347" y="125245"/>
                  </a:lnTo>
                  <a:lnTo>
                    <a:pt x="2312801" y="108586"/>
                  </a:lnTo>
                  <a:lnTo>
                    <a:pt x="2265487" y="93030"/>
                  </a:lnTo>
                  <a:lnTo>
                    <a:pt x="2217435" y="78596"/>
                  </a:lnTo>
                  <a:lnTo>
                    <a:pt x="2168670" y="65307"/>
                  </a:lnTo>
                  <a:lnTo>
                    <a:pt x="2119220" y="53183"/>
                  </a:lnTo>
                  <a:lnTo>
                    <a:pt x="2069112" y="42246"/>
                  </a:lnTo>
                  <a:lnTo>
                    <a:pt x="2018374" y="32517"/>
                  </a:lnTo>
                  <a:lnTo>
                    <a:pt x="1967032" y="24017"/>
                  </a:lnTo>
                  <a:lnTo>
                    <a:pt x="1915114" y="16766"/>
                  </a:lnTo>
                  <a:lnTo>
                    <a:pt x="1862646" y="10786"/>
                  </a:lnTo>
                  <a:lnTo>
                    <a:pt x="1809656" y="6099"/>
                  </a:lnTo>
                  <a:lnTo>
                    <a:pt x="1756171" y="2724"/>
                  </a:lnTo>
                  <a:lnTo>
                    <a:pt x="1702218" y="684"/>
                  </a:lnTo>
                  <a:lnTo>
                    <a:pt x="1647825" y="0"/>
                  </a:lnTo>
                  <a:close/>
                </a:path>
              </a:pathLst>
            </a:custGeom>
            <a:solidFill>
              <a:srgbClr val="E8E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28600" y="1390650"/>
              <a:ext cx="3295650" cy="2562225"/>
            </a:xfrm>
            <a:custGeom>
              <a:avLst/>
              <a:gdLst/>
              <a:ahLst/>
              <a:cxnLst/>
              <a:rect l="l" t="t" r="r" b="b"/>
              <a:pathLst>
                <a:path w="3295650" h="2562225">
                  <a:moveTo>
                    <a:pt x="0" y="1281049"/>
                  </a:moveTo>
                  <a:lnTo>
                    <a:pt x="880" y="1238762"/>
                  </a:lnTo>
                  <a:lnTo>
                    <a:pt x="3505" y="1196818"/>
                  </a:lnTo>
                  <a:lnTo>
                    <a:pt x="7845" y="1155237"/>
                  </a:lnTo>
                  <a:lnTo>
                    <a:pt x="13875" y="1114042"/>
                  </a:lnTo>
                  <a:lnTo>
                    <a:pt x="21567" y="1073252"/>
                  </a:lnTo>
                  <a:lnTo>
                    <a:pt x="30893" y="1032890"/>
                  </a:lnTo>
                  <a:lnTo>
                    <a:pt x="41828" y="992976"/>
                  </a:lnTo>
                  <a:lnTo>
                    <a:pt x="54343" y="953531"/>
                  </a:lnTo>
                  <a:lnTo>
                    <a:pt x="68412" y="914576"/>
                  </a:lnTo>
                  <a:lnTo>
                    <a:pt x="84007" y="876133"/>
                  </a:lnTo>
                  <a:lnTo>
                    <a:pt x="101101" y="838222"/>
                  </a:lnTo>
                  <a:lnTo>
                    <a:pt x="119667" y="800865"/>
                  </a:lnTo>
                  <a:lnTo>
                    <a:pt x="139678" y="764083"/>
                  </a:lnTo>
                  <a:lnTo>
                    <a:pt x="161107" y="727896"/>
                  </a:lnTo>
                  <a:lnTo>
                    <a:pt x="183927" y="692327"/>
                  </a:lnTo>
                  <a:lnTo>
                    <a:pt x="208110" y="657395"/>
                  </a:lnTo>
                  <a:lnTo>
                    <a:pt x="233629" y="623123"/>
                  </a:lnTo>
                  <a:lnTo>
                    <a:pt x="260458" y="589531"/>
                  </a:lnTo>
                  <a:lnTo>
                    <a:pt x="288568" y="556640"/>
                  </a:lnTo>
                  <a:lnTo>
                    <a:pt x="317934" y="524472"/>
                  </a:lnTo>
                  <a:lnTo>
                    <a:pt x="348527" y="493047"/>
                  </a:lnTo>
                  <a:lnTo>
                    <a:pt x="380321" y="462387"/>
                  </a:lnTo>
                  <a:lnTo>
                    <a:pt x="413289" y="432512"/>
                  </a:lnTo>
                  <a:lnTo>
                    <a:pt x="447403" y="403445"/>
                  </a:lnTo>
                  <a:lnTo>
                    <a:pt x="482636" y="375205"/>
                  </a:lnTo>
                  <a:lnTo>
                    <a:pt x="518961" y="347814"/>
                  </a:lnTo>
                  <a:lnTo>
                    <a:pt x="556351" y="321294"/>
                  </a:lnTo>
                  <a:lnTo>
                    <a:pt x="594779" y="295665"/>
                  </a:lnTo>
                  <a:lnTo>
                    <a:pt x="634218" y="270947"/>
                  </a:lnTo>
                  <a:lnTo>
                    <a:pt x="674640" y="247164"/>
                  </a:lnTo>
                  <a:lnTo>
                    <a:pt x="716019" y="224335"/>
                  </a:lnTo>
                  <a:lnTo>
                    <a:pt x="758326" y="202481"/>
                  </a:lnTo>
                  <a:lnTo>
                    <a:pt x="801536" y="181624"/>
                  </a:lnTo>
                  <a:lnTo>
                    <a:pt x="845621" y="161785"/>
                  </a:lnTo>
                  <a:lnTo>
                    <a:pt x="890554" y="142985"/>
                  </a:lnTo>
                  <a:lnTo>
                    <a:pt x="936307" y="125245"/>
                  </a:lnTo>
                  <a:lnTo>
                    <a:pt x="982854" y="108586"/>
                  </a:lnTo>
                  <a:lnTo>
                    <a:pt x="1030167" y="93030"/>
                  </a:lnTo>
                  <a:lnTo>
                    <a:pt x="1078220" y="78596"/>
                  </a:lnTo>
                  <a:lnTo>
                    <a:pt x="1126984" y="65307"/>
                  </a:lnTo>
                  <a:lnTo>
                    <a:pt x="1176434" y="53183"/>
                  </a:lnTo>
                  <a:lnTo>
                    <a:pt x="1226541" y="42246"/>
                  </a:lnTo>
                  <a:lnTo>
                    <a:pt x="1277279" y="32517"/>
                  </a:lnTo>
                  <a:lnTo>
                    <a:pt x="1328621" y="24017"/>
                  </a:lnTo>
                  <a:lnTo>
                    <a:pt x="1380539" y="16766"/>
                  </a:lnTo>
                  <a:lnTo>
                    <a:pt x="1433006" y="10786"/>
                  </a:lnTo>
                  <a:lnTo>
                    <a:pt x="1485995" y="6099"/>
                  </a:lnTo>
                  <a:lnTo>
                    <a:pt x="1539479" y="2724"/>
                  </a:lnTo>
                  <a:lnTo>
                    <a:pt x="1593432" y="684"/>
                  </a:lnTo>
                  <a:lnTo>
                    <a:pt x="1647825" y="0"/>
                  </a:lnTo>
                  <a:lnTo>
                    <a:pt x="1702218" y="684"/>
                  </a:lnTo>
                  <a:lnTo>
                    <a:pt x="1756171" y="2724"/>
                  </a:lnTo>
                  <a:lnTo>
                    <a:pt x="1809656" y="6099"/>
                  </a:lnTo>
                  <a:lnTo>
                    <a:pt x="1862646" y="10786"/>
                  </a:lnTo>
                  <a:lnTo>
                    <a:pt x="1915114" y="16766"/>
                  </a:lnTo>
                  <a:lnTo>
                    <a:pt x="1967032" y="24017"/>
                  </a:lnTo>
                  <a:lnTo>
                    <a:pt x="2018374" y="32517"/>
                  </a:lnTo>
                  <a:lnTo>
                    <a:pt x="2069112" y="42246"/>
                  </a:lnTo>
                  <a:lnTo>
                    <a:pt x="2119220" y="53183"/>
                  </a:lnTo>
                  <a:lnTo>
                    <a:pt x="2168670" y="65307"/>
                  </a:lnTo>
                  <a:lnTo>
                    <a:pt x="2217435" y="78596"/>
                  </a:lnTo>
                  <a:lnTo>
                    <a:pt x="2265487" y="93030"/>
                  </a:lnTo>
                  <a:lnTo>
                    <a:pt x="2312801" y="108586"/>
                  </a:lnTo>
                  <a:lnTo>
                    <a:pt x="2359347" y="125245"/>
                  </a:lnTo>
                  <a:lnTo>
                    <a:pt x="2405101" y="142985"/>
                  </a:lnTo>
                  <a:lnTo>
                    <a:pt x="2450034" y="161785"/>
                  </a:lnTo>
                  <a:lnTo>
                    <a:pt x="2494118" y="181624"/>
                  </a:lnTo>
                  <a:lnTo>
                    <a:pt x="2537328" y="202481"/>
                  </a:lnTo>
                  <a:lnTo>
                    <a:pt x="2579636" y="224335"/>
                  </a:lnTo>
                  <a:lnTo>
                    <a:pt x="2621014" y="247164"/>
                  </a:lnTo>
                  <a:lnTo>
                    <a:pt x="2661436" y="270947"/>
                  </a:lnTo>
                  <a:lnTo>
                    <a:pt x="2700875" y="295665"/>
                  </a:lnTo>
                  <a:lnTo>
                    <a:pt x="2739303" y="321294"/>
                  </a:lnTo>
                  <a:lnTo>
                    <a:pt x="2776693" y="347814"/>
                  </a:lnTo>
                  <a:lnTo>
                    <a:pt x="2813018" y="375205"/>
                  </a:lnTo>
                  <a:lnTo>
                    <a:pt x="2848251" y="403445"/>
                  </a:lnTo>
                  <a:lnTo>
                    <a:pt x="2882364" y="432512"/>
                  </a:lnTo>
                  <a:lnTo>
                    <a:pt x="2915332" y="462387"/>
                  </a:lnTo>
                  <a:lnTo>
                    <a:pt x="2947126" y="493047"/>
                  </a:lnTo>
                  <a:lnTo>
                    <a:pt x="2977719" y="524472"/>
                  </a:lnTo>
                  <a:lnTo>
                    <a:pt x="3007084" y="556640"/>
                  </a:lnTo>
                  <a:lnTo>
                    <a:pt x="3035195" y="589531"/>
                  </a:lnTo>
                  <a:lnTo>
                    <a:pt x="3062023" y="623123"/>
                  </a:lnTo>
                  <a:lnTo>
                    <a:pt x="3087542" y="657395"/>
                  </a:lnTo>
                  <a:lnTo>
                    <a:pt x="3111725" y="692327"/>
                  </a:lnTo>
                  <a:lnTo>
                    <a:pt x="3134544" y="727896"/>
                  </a:lnTo>
                  <a:lnTo>
                    <a:pt x="3155973" y="764083"/>
                  </a:lnTo>
                  <a:lnTo>
                    <a:pt x="3175984" y="800865"/>
                  </a:lnTo>
                  <a:lnTo>
                    <a:pt x="3194550" y="838222"/>
                  </a:lnTo>
                  <a:lnTo>
                    <a:pt x="3211644" y="876133"/>
                  </a:lnTo>
                  <a:lnTo>
                    <a:pt x="3227238" y="914576"/>
                  </a:lnTo>
                  <a:lnTo>
                    <a:pt x="3241307" y="953531"/>
                  </a:lnTo>
                  <a:lnTo>
                    <a:pt x="3253822" y="992976"/>
                  </a:lnTo>
                  <a:lnTo>
                    <a:pt x="3264756" y="1032890"/>
                  </a:lnTo>
                  <a:lnTo>
                    <a:pt x="3274083" y="1073252"/>
                  </a:lnTo>
                  <a:lnTo>
                    <a:pt x="3281774" y="1114042"/>
                  </a:lnTo>
                  <a:lnTo>
                    <a:pt x="3287804" y="1155237"/>
                  </a:lnTo>
                  <a:lnTo>
                    <a:pt x="3292145" y="1196818"/>
                  </a:lnTo>
                  <a:lnTo>
                    <a:pt x="3294769" y="1238762"/>
                  </a:lnTo>
                  <a:lnTo>
                    <a:pt x="3295650" y="1281049"/>
                  </a:lnTo>
                  <a:lnTo>
                    <a:pt x="3294769" y="1323343"/>
                  </a:lnTo>
                  <a:lnTo>
                    <a:pt x="3292145" y="1365294"/>
                  </a:lnTo>
                  <a:lnTo>
                    <a:pt x="3287804" y="1406881"/>
                  </a:lnTo>
                  <a:lnTo>
                    <a:pt x="3281774" y="1448083"/>
                  </a:lnTo>
                  <a:lnTo>
                    <a:pt x="3274083" y="1488879"/>
                  </a:lnTo>
                  <a:lnTo>
                    <a:pt x="3264756" y="1529247"/>
                  </a:lnTo>
                  <a:lnTo>
                    <a:pt x="3253822" y="1569167"/>
                  </a:lnTo>
                  <a:lnTo>
                    <a:pt x="3241307" y="1608618"/>
                  </a:lnTo>
                  <a:lnTo>
                    <a:pt x="3227238" y="1647578"/>
                  </a:lnTo>
                  <a:lnTo>
                    <a:pt x="3211644" y="1686026"/>
                  </a:lnTo>
                  <a:lnTo>
                    <a:pt x="3194550" y="1723942"/>
                  </a:lnTo>
                  <a:lnTo>
                    <a:pt x="3175984" y="1761303"/>
                  </a:lnTo>
                  <a:lnTo>
                    <a:pt x="3155973" y="1798090"/>
                  </a:lnTo>
                  <a:lnTo>
                    <a:pt x="3134544" y="1834280"/>
                  </a:lnTo>
                  <a:lnTo>
                    <a:pt x="3111725" y="1869854"/>
                  </a:lnTo>
                  <a:lnTo>
                    <a:pt x="3087542" y="1904789"/>
                  </a:lnTo>
                  <a:lnTo>
                    <a:pt x="3062023" y="1939064"/>
                  </a:lnTo>
                  <a:lnTo>
                    <a:pt x="3035195" y="1972660"/>
                  </a:lnTo>
                  <a:lnTo>
                    <a:pt x="3007084" y="2005553"/>
                  </a:lnTo>
                  <a:lnTo>
                    <a:pt x="2977719" y="2037725"/>
                  </a:lnTo>
                  <a:lnTo>
                    <a:pt x="2947126" y="2069152"/>
                  </a:lnTo>
                  <a:lnTo>
                    <a:pt x="2915332" y="2099815"/>
                  </a:lnTo>
                  <a:lnTo>
                    <a:pt x="2882364" y="2129692"/>
                  </a:lnTo>
                  <a:lnTo>
                    <a:pt x="2848251" y="2158761"/>
                  </a:lnTo>
                  <a:lnTo>
                    <a:pt x="2813018" y="2187003"/>
                  </a:lnTo>
                  <a:lnTo>
                    <a:pt x="2776693" y="2214396"/>
                  </a:lnTo>
                  <a:lnTo>
                    <a:pt x="2739303" y="2240918"/>
                  </a:lnTo>
                  <a:lnTo>
                    <a:pt x="2700875" y="2266549"/>
                  </a:lnTo>
                  <a:lnTo>
                    <a:pt x="2661436" y="2291267"/>
                  </a:lnTo>
                  <a:lnTo>
                    <a:pt x="2621014" y="2315052"/>
                  </a:lnTo>
                  <a:lnTo>
                    <a:pt x="2579636" y="2337882"/>
                  </a:lnTo>
                  <a:lnTo>
                    <a:pt x="2537328" y="2359737"/>
                  </a:lnTo>
                  <a:lnTo>
                    <a:pt x="2494118" y="2380595"/>
                  </a:lnTo>
                  <a:lnTo>
                    <a:pt x="2450034" y="2400434"/>
                  </a:lnTo>
                  <a:lnTo>
                    <a:pt x="2405101" y="2419235"/>
                  </a:lnTo>
                  <a:lnTo>
                    <a:pt x="2359347" y="2436976"/>
                  </a:lnTo>
                  <a:lnTo>
                    <a:pt x="2312801" y="2453635"/>
                  </a:lnTo>
                  <a:lnTo>
                    <a:pt x="2265487" y="2469193"/>
                  </a:lnTo>
                  <a:lnTo>
                    <a:pt x="2217435" y="2483627"/>
                  </a:lnTo>
                  <a:lnTo>
                    <a:pt x="2168670" y="2496916"/>
                  </a:lnTo>
                  <a:lnTo>
                    <a:pt x="2119220" y="2509040"/>
                  </a:lnTo>
                  <a:lnTo>
                    <a:pt x="2069112" y="2519977"/>
                  </a:lnTo>
                  <a:lnTo>
                    <a:pt x="2018374" y="2529707"/>
                  </a:lnTo>
                  <a:lnTo>
                    <a:pt x="1967032" y="2538207"/>
                  </a:lnTo>
                  <a:lnTo>
                    <a:pt x="1915114" y="2545458"/>
                  </a:lnTo>
                  <a:lnTo>
                    <a:pt x="1862646" y="2551438"/>
                  </a:lnTo>
                  <a:lnTo>
                    <a:pt x="1809656" y="2556125"/>
                  </a:lnTo>
                  <a:lnTo>
                    <a:pt x="1756171" y="2559500"/>
                  </a:lnTo>
                  <a:lnTo>
                    <a:pt x="1702218" y="2561540"/>
                  </a:lnTo>
                  <a:lnTo>
                    <a:pt x="1647825" y="2562225"/>
                  </a:lnTo>
                  <a:lnTo>
                    <a:pt x="1593432" y="2561540"/>
                  </a:lnTo>
                  <a:lnTo>
                    <a:pt x="1539479" y="2559500"/>
                  </a:lnTo>
                  <a:lnTo>
                    <a:pt x="1485995" y="2556125"/>
                  </a:lnTo>
                  <a:lnTo>
                    <a:pt x="1433006" y="2551438"/>
                  </a:lnTo>
                  <a:lnTo>
                    <a:pt x="1380539" y="2545458"/>
                  </a:lnTo>
                  <a:lnTo>
                    <a:pt x="1328621" y="2538207"/>
                  </a:lnTo>
                  <a:lnTo>
                    <a:pt x="1277279" y="2529707"/>
                  </a:lnTo>
                  <a:lnTo>
                    <a:pt x="1226541" y="2519977"/>
                  </a:lnTo>
                  <a:lnTo>
                    <a:pt x="1176434" y="2509040"/>
                  </a:lnTo>
                  <a:lnTo>
                    <a:pt x="1126984" y="2496916"/>
                  </a:lnTo>
                  <a:lnTo>
                    <a:pt x="1078220" y="2483627"/>
                  </a:lnTo>
                  <a:lnTo>
                    <a:pt x="1030167" y="2469193"/>
                  </a:lnTo>
                  <a:lnTo>
                    <a:pt x="982854" y="2453635"/>
                  </a:lnTo>
                  <a:lnTo>
                    <a:pt x="936307" y="2436976"/>
                  </a:lnTo>
                  <a:lnTo>
                    <a:pt x="890554" y="2419235"/>
                  </a:lnTo>
                  <a:lnTo>
                    <a:pt x="845621" y="2400434"/>
                  </a:lnTo>
                  <a:lnTo>
                    <a:pt x="801536" y="2380595"/>
                  </a:lnTo>
                  <a:lnTo>
                    <a:pt x="758326" y="2359737"/>
                  </a:lnTo>
                  <a:lnTo>
                    <a:pt x="716019" y="2337882"/>
                  </a:lnTo>
                  <a:lnTo>
                    <a:pt x="674640" y="2315052"/>
                  </a:lnTo>
                  <a:lnTo>
                    <a:pt x="634218" y="2291267"/>
                  </a:lnTo>
                  <a:lnTo>
                    <a:pt x="594779" y="2266549"/>
                  </a:lnTo>
                  <a:lnTo>
                    <a:pt x="556351" y="2240918"/>
                  </a:lnTo>
                  <a:lnTo>
                    <a:pt x="518961" y="2214396"/>
                  </a:lnTo>
                  <a:lnTo>
                    <a:pt x="482636" y="2187003"/>
                  </a:lnTo>
                  <a:lnTo>
                    <a:pt x="447403" y="2158761"/>
                  </a:lnTo>
                  <a:lnTo>
                    <a:pt x="413289" y="2129692"/>
                  </a:lnTo>
                  <a:lnTo>
                    <a:pt x="380321" y="2099815"/>
                  </a:lnTo>
                  <a:lnTo>
                    <a:pt x="348527" y="2069152"/>
                  </a:lnTo>
                  <a:lnTo>
                    <a:pt x="317934" y="2037725"/>
                  </a:lnTo>
                  <a:lnTo>
                    <a:pt x="288568" y="2005553"/>
                  </a:lnTo>
                  <a:lnTo>
                    <a:pt x="260458" y="1972660"/>
                  </a:lnTo>
                  <a:lnTo>
                    <a:pt x="233629" y="1939064"/>
                  </a:lnTo>
                  <a:lnTo>
                    <a:pt x="208110" y="1904789"/>
                  </a:lnTo>
                  <a:lnTo>
                    <a:pt x="183927" y="1869854"/>
                  </a:lnTo>
                  <a:lnTo>
                    <a:pt x="161107" y="1834280"/>
                  </a:lnTo>
                  <a:lnTo>
                    <a:pt x="139678" y="1798090"/>
                  </a:lnTo>
                  <a:lnTo>
                    <a:pt x="119667" y="1761303"/>
                  </a:lnTo>
                  <a:lnTo>
                    <a:pt x="101101" y="1723942"/>
                  </a:lnTo>
                  <a:lnTo>
                    <a:pt x="84007" y="1686026"/>
                  </a:lnTo>
                  <a:lnTo>
                    <a:pt x="68412" y="1647578"/>
                  </a:lnTo>
                  <a:lnTo>
                    <a:pt x="54343" y="1608618"/>
                  </a:lnTo>
                  <a:lnTo>
                    <a:pt x="41828" y="1569167"/>
                  </a:lnTo>
                  <a:lnTo>
                    <a:pt x="30893" y="1529247"/>
                  </a:lnTo>
                  <a:lnTo>
                    <a:pt x="21567" y="1488879"/>
                  </a:lnTo>
                  <a:lnTo>
                    <a:pt x="13875" y="1448083"/>
                  </a:lnTo>
                  <a:lnTo>
                    <a:pt x="7845" y="1406881"/>
                  </a:lnTo>
                  <a:lnTo>
                    <a:pt x="3505" y="1365294"/>
                  </a:lnTo>
                  <a:lnTo>
                    <a:pt x="880" y="1323343"/>
                  </a:lnTo>
                  <a:lnTo>
                    <a:pt x="0" y="1281049"/>
                  </a:lnTo>
                  <a:close/>
                </a:path>
              </a:pathLst>
            </a:custGeom>
            <a:ln w="19050">
              <a:solidFill>
                <a:srgbClr val="1B4F8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2025" y="1571625"/>
              <a:ext cx="590550" cy="600075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307657" y="2284666"/>
            <a:ext cx="79946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1B4F89"/>
                </a:solidFill>
                <a:latin typeface="Cambria"/>
                <a:cs typeface="Cambria"/>
              </a:rPr>
              <a:t>Classical</a:t>
            </a:r>
            <a:r>
              <a:rPr dirty="0" sz="1100" spc="-45" b="1">
                <a:solidFill>
                  <a:srgbClr val="1B4F89"/>
                </a:solidFill>
                <a:latin typeface="Cambria"/>
                <a:cs typeface="Cambria"/>
              </a:rPr>
              <a:t> </a:t>
            </a:r>
            <a:r>
              <a:rPr dirty="0" sz="1100" spc="-25" b="1">
                <a:solidFill>
                  <a:srgbClr val="1B4F89"/>
                </a:solidFill>
                <a:latin typeface="Cambria"/>
                <a:cs typeface="Cambria"/>
              </a:rPr>
              <a:t>ML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61937" y="2611437"/>
            <a:ext cx="961390" cy="67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7155" indent="-84455">
              <a:lnSpc>
                <a:spcPct val="100000"/>
              </a:lnSpc>
              <a:spcBef>
                <a:spcPts val="100"/>
              </a:spcBef>
              <a:buChar char="•"/>
              <a:tabLst>
                <a:tab pos="97155" algn="l"/>
              </a:tabLst>
            </a:pPr>
            <a:r>
              <a:rPr dirty="0" sz="900" spc="-10">
                <a:solidFill>
                  <a:srgbClr val="2C3D50"/>
                </a:solidFill>
                <a:latin typeface="Calibri"/>
                <a:cs typeface="Calibri"/>
              </a:rPr>
              <a:t>Random</a:t>
            </a:r>
            <a:r>
              <a:rPr dirty="0" sz="90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C3D50"/>
                </a:solidFill>
                <a:latin typeface="Calibri"/>
                <a:cs typeface="Calibri"/>
              </a:rPr>
              <a:t>Forest</a:t>
            </a:r>
            <a:endParaRPr sz="900">
              <a:latin typeface="Calibri"/>
              <a:cs typeface="Calibri"/>
            </a:endParaRPr>
          </a:p>
          <a:p>
            <a:pPr marL="97155" indent="-84455">
              <a:lnSpc>
                <a:spcPct val="100000"/>
              </a:lnSpc>
              <a:spcBef>
                <a:spcPts val="940"/>
              </a:spcBef>
              <a:buChar char="•"/>
              <a:tabLst>
                <a:tab pos="97155" algn="l"/>
              </a:tabLst>
            </a:pPr>
            <a:r>
              <a:rPr dirty="0" sz="900">
                <a:solidFill>
                  <a:srgbClr val="2C3D50"/>
                </a:solidFill>
                <a:latin typeface="Calibri"/>
                <a:cs typeface="Calibri"/>
              </a:rPr>
              <a:t>Decision</a:t>
            </a:r>
            <a:r>
              <a:rPr dirty="0" sz="90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2C3D50"/>
                </a:solidFill>
                <a:latin typeface="Calibri"/>
                <a:cs typeface="Calibri"/>
              </a:rPr>
              <a:t>Tree</a:t>
            </a:r>
            <a:endParaRPr sz="900">
              <a:latin typeface="Calibri"/>
              <a:cs typeface="Calibri"/>
            </a:endParaRPr>
          </a:p>
          <a:p>
            <a:pPr marL="97155" indent="-84455">
              <a:lnSpc>
                <a:spcPct val="100000"/>
              </a:lnSpc>
              <a:spcBef>
                <a:spcPts val="940"/>
              </a:spcBef>
              <a:buChar char="•"/>
              <a:tabLst>
                <a:tab pos="97155" algn="l"/>
              </a:tabLst>
            </a:pPr>
            <a:r>
              <a:rPr dirty="0" sz="900" spc="-10">
                <a:solidFill>
                  <a:srgbClr val="2C3D50"/>
                </a:solidFill>
                <a:latin typeface="Calibri"/>
                <a:cs typeface="Calibri"/>
              </a:rPr>
              <a:t>Feature</a:t>
            </a:r>
            <a:r>
              <a:rPr dirty="0" sz="90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C3D50"/>
                </a:solidFill>
                <a:latin typeface="Calibri"/>
                <a:cs typeface="Calibri"/>
              </a:rPr>
              <a:t>Extraction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914525" y="1276286"/>
            <a:ext cx="3586479" cy="2862580"/>
            <a:chOff x="1914525" y="1276286"/>
            <a:chExt cx="3586479" cy="2862580"/>
          </a:xfrm>
        </p:grpSpPr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4525" y="1276286"/>
              <a:ext cx="3586226" cy="2862326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2105025" y="1390650"/>
              <a:ext cx="3286125" cy="2562225"/>
            </a:xfrm>
            <a:custGeom>
              <a:avLst/>
              <a:gdLst/>
              <a:ahLst/>
              <a:cxnLst/>
              <a:rect l="l" t="t" r="r" b="b"/>
              <a:pathLst>
                <a:path w="3286125" h="2562225">
                  <a:moveTo>
                    <a:pt x="1643126" y="0"/>
                  </a:moveTo>
                  <a:lnTo>
                    <a:pt x="1588884" y="684"/>
                  </a:lnTo>
                  <a:lnTo>
                    <a:pt x="1535082" y="2724"/>
                  </a:lnTo>
                  <a:lnTo>
                    <a:pt x="1481747" y="6099"/>
                  </a:lnTo>
                  <a:lnTo>
                    <a:pt x="1428906" y="10786"/>
                  </a:lnTo>
                  <a:lnTo>
                    <a:pt x="1376585" y="16766"/>
                  </a:lnTo>
                  <a:lnTo>
                    <a:pt x="1324813" y="24017"/>
                  </a:lnTo>
                  <a:lnTo>
                    <a:pt x="1273616" y="32517"/>
                  </a:lnTo>
                  <a:lnTo>
                    <a:pt x="1223020" y="42246"/>
                  </a:lnTo>
                  <a:lnTo>
                    <a:pt x="1173054" y="53183"/>
                  </a:lnTo>
                  <a:lnTo>
                    <a:pt x="1123744" y="65307"/>
                  </a:lnTo>
                  <a:lnTo>
                    <a:pt x="1075118" y="78596"/>
                  </a:lnTo>
                  <a:lnTo>
                    <a:pt x="1027201" y="93030"/>
                  </a:lnTo>
                  <a:lnTo>
                    <a:pt x="980022" y="108586"/>
                  </a:lnTo>
                  <a:lnTo>
                    <a:pt x="933607" y="125245"/>
                  </a:lnTo>
                  <a:lnTo>
                    <a:pt x="887984" y="142985"/>
                  </a:lnTo>
                  <a:lnTo>
                    <a:pt x="843180" y="161785"/>
                  </a:lnTo>
                  <a:lnTo>
                    <a:pt x="799220" y="181624"/>
                  </a:lnTo>
                  <a:lnTo>
                    <a:pt x="756134" y="202481"/>
                  </a:lnTo>
                  <a:lnTo>
                    <a:pt x="713947" y="224335"/>
                  </a:lnTo>
                  <a:lnTo>
                    <a:pt x="672687" y="247164"/>
                  </a:lnTo>
                  <a:lnTo>
                    <a:pt x="632381" y="270947"/>
                  </a:lnTo>
                  <a:lnTo>
                    <a:pt x="593055" y="295665"/>
                  </a:lnTo>
                  <a:lnTo>
                    <a:pt x="554738" y="321294"/>
                  </a:lnTo>
                  <a:lnTo>
                    <a:pt x="517455" y="347814"/>
                  </a:lnTo>
                  <a:lnTo>
                    <a:pt x="481234" y="375205"/>
                  </a:lnTo>
                  <a:lnTo>
                    <a:pt x="446103" y="403445"/>
                  </a:lnTo>
                  <a:lnTo>
                    <a:pt x="412087" y="432512"/>
                  </a:lnTo>
                  <a:lnTo>
                    <a:pt x="379215" y="462387"/>
                  </a:lnTo>
                  <a:lnTo>
                    <a:pt x="347513" y="493047"/>
                  </a:lnTo>
                  <a:lnTo>
                    <a:pt x="317008" y="524472"/>
                  </a:lnTo>
                  <a:lnTo>
                    <a:pt x="287727" y="556640"/>
                  </a:lnTo>
                  <a:lnTo>
                    <a:pt x="259698" y="589531"/>
                  </a:lnTo>
                  <a:lnTo>
                    <a:pt x="232947" y="623123"/>
                  </a:lnTo>
                  <a:lnTo>
                    <a:pt x="207502" y="657395"/>
                  </a:lnTo>
                  <a:lnTo>
                    <a:pt x="183389" y="692327"/>
                  </a:lnTo>
                  <a:lnTo>
                    <a:pt x="160636" y="727896"/>
                  </a:lnTo>
                  <a:lnTo>
                    <a:pt x="139270" y="764083"/>
                  </a:lnTo>
                  <a:lnTo>
                    <a:pt x="119317" y="800865"/>
                  </a:lnTo>
                  <a:lnTo>
                    <a:pt x="100805" y="838222"/>
                  </a:lnTo>
                  <a:lnTo>
                    <a:pt x="83761" y="876133"/>
                  </a:lnTo>
                  <a:lnTo>
                    <a:pt x="68211" y="914576"/>
                  </a:lnTo>
                  <a:lnTo>
                    <a:pt x="54184" y="953531"/>
                  </a:lnTo>
                  <a:lnTo>
                    <a:pt x="41705" y="992976"/>
                  </a:lnTo>
                  <a:lnTo>
                    <a:pt x="30803" y="1032890"/>
                  </a:lnTo>
                  <a:lnTo>
                    <a:pt x="21503" y="1073252"/>
                  </a:lnTo>
                  <a:lnTo>
                    <a:pt x="13834" y="1114042"/>
                  </a:lnTo>
                  <a:lnTo>
                    <a:pt x="7822" y="1155237"/>
                  </a:lnTo>
                  <a:lnTo>
                    <a:pt x="3494" y="1196818"/>
                  </a:lnTo>
                  <a:lnTo>
                    <a:pt x="878" y="1238762"/>
                  </a:lnTo>
                  <a:lnTo>
                    <a:pt x="0" y="1281049"/>
                  </a:lnTo>
                  <a:lnTo>
                    <a:pt x="878" y="1323343"/>
                  </a:lnTo>
                  <a:lnTo>
                    <a:pt x="3494" y="1365294"/>
                  </a:lnTo>
                  <a:lnTo>
                    <a:pt x="7822" y="1406881"/>
                  </a:lnTo>
                  <a:lnTo>
                    <a:pt x="13834" y="1448083"/>
                  </a:lnTo>
                  <a:lnTo>
                    <a:pt x="21503" y="1488879"/>
                  </a:lnTo>
                  <a:lnTo>
                    <a:pt x="30803" y="1529247"/>
                  </a:lnTo>
                  <a:lnTo>
                    <a:pt x="41705" y="1569167"/>
                  </a:lnTo>
                  <a:lnTo>
                    <a:pt x="54184" y="1608618"/>
                  </a:lnTo>
                  <a:lnTo>
                    <a:pt x="68211" y="1647578"/>
                  </a:lnTo>
                  <a:lnTo>
                    <a:pt x="83761" y="1686026"/>
                  </a:lnTo>
                  <a:lnTo>
                    <a:pt x="100805" y="1723942"/>
                  </a:lnTo>
                  <a:lnTo>
                    <a:pt x="119317" y="1761303"/>
                  </a:lnTo>
                  <a:lnTo>
                    <a:pt x="139270" y="1798090"/>
                  </a:lnTo>
                  <a:lnTo>
                    <a:pt x="160636" y="1834280"/>
                  </a:lnTo>
                  <a:lnTo>
                    <a:pt x="183389" y="1869854"/>
                  </a:lnTo>
                  <a:lnTo>
                    <a:pt x="207502" y="1904789"/>
                  </a:lnTo>
                  <a:lnTo>
                    <a:pt x="232947" y="1939064"/>
                  </a:lnTo>
                  <a:lnTo>
                    <a:pt x="259698" y="1972660"/>
                  </a:lnTo>
                  <a:lnTo>
                    <a:pt x="287727" y="2005553"/>
                  </a:lnTo>
                  <a:lnTo>
                    <a:pt x="317008" y="2037725"/>
                  </a:lnTo>
                  <a:lnTo>
                    <a:pt x="347513" y="2069152"/>
                  </a:lnTo>
                  <a:lnTo>
                    <a:pt x="379215" y="2099815"/>
                  </a:lnTo>
                  <a:lnTo>
                    <a:pt x="412087" y="2129692"/>
                  </a:lnTo>
                  <a:lnTo>
                    <a:pt x="446103" y="2158761"/>
                  </a:lnTo>
                  <a:lnTo>
                    <a:pt x="481234" y="2187003"/>
                  </a:lnTo>
                  <a:lnTo>
                    <a:pt x="517455" y="2214396"/>
                  </a:lnTo>
                  <a:lnTo>
                    <a:pt x="554738" y="2240918"/>
                  </a:lnTo>
                  <a:lnTo>
                    <a:pt x="593055" y="2266549"/>
                  </a:lnTo>
                  <a:lnTo>
                    <a:pt x="632381" y="2291267"/>
                  </a:lnTo>
                  <a:lnTo>
                    <a:pt x="672687" y="2315052"/>
                  </a:lnTo>
                  <a:lnTo>
                    <a:pt x="713947" y="2337882"/>
                  </a:lnTo>
                  <a:lnTo>
                    <a:pt x="756134" y="2359737"/>
                  </a:lnTo>
                  <a:lnTo>
                    <a:pt x="799220" y="2380595"/>
                  </a:lnTo>
                  <a:lnTo>
                    <a:pt x="843180" y="2400434"/>
                  </a:lnTo>
                  <a:lnTo>
                    <a:pt x="887984" y="2419235"/>
                  </a:lnTo>
                  <a:lnTo>
                    <a:pt x="933607" y="2436976"/>
                  </a:lnTo>
                  <a:lnTo>
                    <a:pt x="980022" y="2453635"/>
                  </a:lnTo>
                  <a:lnTo>
                    <a:pt x="1027201" y="2469193"/>
                  </a:lnTo>
                  <a:lnTo>
                    <a:pt x="1075118" y="2483627"/>
                  </a:lnTo>
                  <a:lnTo>
                    <a:pt x="1123744" y="2496916"/>
                  </a:lnTo>
                  <a:lnTo>
                    <a:pt x="1173054" y="2509040"/>
                  </a:lnTo>
                  <a:lnTo>
                    <a:pt x="1223020" y="2519977"/>
                  </a:lnTo>
                  <a:lnTo>
                    <a:pt x="1273616" y="2529707"/>
                  </a:lnTo>
                  <a:lnTo>
                    <a:pt x="1324813" y="2538207"/>
                  </a:lnTo>
                  <a:lnTo>
                    <a:pt x="1376585" y="2545458"/>
                  </a:lnTo>
                  <a:lnTo>
                    <a:pt x="1428906" y="2551438"/>
                  </a:lnTo>
                  <a:lnTo>
                    <a:pt x="1481747" y="2556125"/>
                  </a:lnTo>
                  <a:lnTo>
                    <a:pt x="1535082" y="2559500"/>
                  </a:lnTo>
                  <a:lnTo>
                    <a:pt x="1588884" y="2561540"/>
                  </a:lnTo>
                  <a:lnTo>
                    <a:pt x="1643126" y="2562225"/>
                  </a:lnTo>
                  <a:lnTo>
                    <a:pt x="1697360" y="2561540"/>
                  </a:lnTo>
                  <a:lnTo>
                    <a:pt x="1751154" y="2559500"/>
                  </a:lnTo>
                  <a:lnTo>
                    <a:pt x="1804483" y="2556125"/>
                  </a:lnTo>
                  <a:lnTo>
                    <a:pt x="1857317" y="2551438"/>
                  </a:lnTo>
                  <a:lnTo>
                    <a:pt x="1909631" y="2545458"/>
                  </a:lnTo>
                  <a:lnTo>
                    <a:pt x="1961398" y="2538207"/>
                  </a:lnTo>
                  <a:lnTo>
                    <a:pt x="2012589" y="2529707"/>
                  </a:lnTo>
                  <a:lnTo>
                    <a:pt x="2063179" y="2519977"/>
                  </a:lnTo>
                  <a:lnTo>
                    <a:pt x="2113140" y="2509040"/>
                  </a:lnTo>
                  <a:lnTo>
                    <a:pt x="2162445" y="2496916"/>
                  </a:lnTo>
                  <a:lnTo>
                    <a:pt x="2211067" y="2483627"/>
                  </a:lnTo>
                  <a:lnTo>
                    <a:pt x="2258979" y="2469193"/>
                  </a:lnTo>
                  <a:lnTo>
                    <a:pt x="2306153" y="2453635"/>
                  </a:lnTo>
                  <a:lnTo>
                    <a:pt x="2352564" y="2436976"/>
                  </a:lnTo>
                  <a:lnTo>
                    <a:pt x="2398183" y="2419235"/>
                  </a:lnTo>
                  <a:lnTo>
                    <a:pt x="2442984" y="2400434"/>
                  </a:lnTo>
                  <a:lnTo>
                    <a:pt x="2486940" y="2380595"/>
                  </a:lnTo>
                  <a:lnTo>
                    <a:pt x="2530023" y="2359737"/>
                  </a:lnTo>
                  <a:lnTo>
                    <a:pt x="2572207" y="2337882"/>
                  </a:lnTo>
                  <a:lnTo>
                    <a:pt x="2613464" y="2315052"/>
                  </a:lnTo>
                  <a:lnTo>
                    <a:pt x="2653768" y="2291267"/>
                  </a:lnTo>
                  <a:lnTo>
                    <a:pt x="2693091" y="2266549"/>
                  </a:lnTo>
                  <a:lnTo>
                    <a:pt x="2731406" y="2240918"/>
                  </a:lnTo>
                  <a:lnTo>
                    <a:pt x="2768687" y="2214396"/>
                  </a:lnTo>
                  <a:lnTo>
                    <a:pt x="2804906" y="2187003"/>
                  </a:lnTo>
                  <a:lnTo>
                    <a:pt x="2840035" y="2158761"/>
                  </a:lnTo>
                  <a:lnTo>
                    <a:pt x="2874049" y="2129692"/>
                  </a:lnTo>
                  <a:lnTo>
                    <a:pt x="2906920" y="2099815"/>
                  </a:lnTo>
                  <a:lnTo>
                    <a:pt x="2938621" y="2069152"/>
                  </a:lnTo>
                  <a:lnTo>
                    <a:pt x="2969124" y="2037725"/>
                  </a:lnTo>
                  <a:lnTo>
                    <a:pt x="2998404" y="2005553"/>
                  </a:lnTo>
                  <a:lnTo>
                    <a:pt x="3026432" y="1972660"/>
                  </a:lnTo>
                  <a:lnTo>
                    <a:pt x="3053182" y="1939064"/>
                  </a:lnTo>
                  <a:lnTo>
                    <a:pt x="3078626" y="1904789"/>
                  </a:lnTo>
                  <a:lnTo>
                    <a:pt x="3102738" y="1869854"/>
                  </a:lnTo>
                  <a:lnTo>
                    <a:pt x="3125491" y="1834280"/>
                  </a:lnTo>
                  <a:lnTo>
                    <a:pt x="3146857" y="1798090"/>
                  </a:lnTo>
                  <a:lnTo>
                    <a:pt x="3166809" y="1761303"/>
                  </a:lnTo>
                  <a:lnTo>
                    <a:pt x="3185321" y="1723942"/>
                  </a:lnTo>
                  <a:lnTo>
                    <a:pt x="3202364" y="1686026"/>
                  </a:lnTo>
                  <a:lnTo>
                    <a:pt x="3217914" y="1647578"/>
                  </a:lnTo>
                  <a:lnTo>
                    <a:pt x="3231941" y="1608618"/>
                  </a:lnTo>
                  <a:lnTo>
                    <a:pt x="3244419" y="1569167"/>
                  </a:lnTo>
                  <a:lnTo>
                    <a:pt x="3255321" y="1529247"/>
                  </a:lnTo>
                  <a:lnTo>
                    <a:pt x="3264621" y="1488879"/>
                  </a:lnTo>
                  <a:lnTo>
                    <a:pt x="3272290" y="1448083"/>
                  </a:lnTo>
                  <a:lnTo>
                    <a:pt x="3278302" y="1406881"/>
                  </a:lnTo>
                  <a:lnTo>
                    <a:pt x="3282630" y="1365294"/>
                  </a:lnTo>
                  <a:lnTo>
                    <a:pt x="3285246" y="1323343"/>
                  </a:lnTo>
                  <a:lnTo>
                    <a:pt x="3286125" y="1281049"/>
                  </a:lnTo>
                  <a:lnTo>
                    <a:pt x="3285246" y="1238762"/>
                  </a:lnTo>
                  <a:lnTo>
                    <a:pt x="3282630" y="1196818"/>
                  </a:lnTo>
                  <a:lnTo>
                    <a:pt x="3278302" y="1155237"/>
                  </a:lnTo>
                  <a:lnTo>
                    <a:pt x="3272290" y="1114042"/>
                  </a:lnTo>
                  <a:lnTo>
                    <a:pt x="3264621" y="1073252"/>
                  </a:lnTo>
                  <a:lnTo>
                    <a:pt x="3255321" y="1032890"/>
                  </a:lnTo>
                  <a:lnTo>
                    <a:pt x="3244419" y="992976"/>
                  </a:lnTo>
                  <a:lnTo>
                    <a:pt x="3231941" y="953531"/>
                  </a:lnTo>
                  <a:lnTo>
                    <a:pt x="3217914" y="914576"/>
                  </a:lnTo>
                  <a:lnTo>
                    <a:pt x="3202364" y="876133"/>
                  </a:lnTo>
                  <a:lnTo>
                    <a:pt x="3185321" y="838222"/>
                  </a:lnTo>
                  <a:lnTo>
                    <a:pt x="3166809" y="800865"/>
                  </a:lnTo>
                  <a:lnTo>
                    <a:pt x="3146857" y="764083"/>
                  </a:lnTo>
                  <a:lnTo>
                    <a:pt x="3125491" y="727896"/>
                  </a:lnTo>
                  <a:lnTo>
                    <a:pt x="3102738" y="692327"/>
                  </a:lnTo>
                  <a:lnTo>
                    <a:pt x="3078626" y="657395"/>
                  </a:lnTo>
                  <a:lnTo>
                    <a:pt x="3053182" y="623123"/>
                  </a:lnTo>
                  <a:lnTo>
                    <a:pt x="3026432" y="589531"/>
                  </a:lnTo>
                  <a:lnTo>
                    <a:pt x="2998404" y="556640"/>
                  </a:lnTo>
                  <a:lnTo>
                    <a:pt x="2969124" y="524472"/>
                  </a:lnTo>
                  <a:lnTo>
                    <a:pt x="2938621" y="493047"/>
                  </a:lnTo>
                  <a:lnTo>
                    <a:pt x="2906920" y="462387"/>
                  </a:lnTo>
                  <a:lnTo>
                    <a:pt x="2874049" y="432512"/>
                  </a:lnTo>
                  <a:lnTo>
                    <a:pt x="2840035" y="403445"/>
                  </a:lnTo>
                  <a:lnTo>
                    <a:pt x="2804906" y="375205"/>
                  </a:lnTo>
                  <a:lnTo>
                    <a:pt x="2768687" y="347814"/>
                  </a:lnTo>
                  <a:lnTo>
                    <a:pt x="2731406" y="321294"/>
                  </a:lnTo>
                  <a:lnTo>
                    <a:pt x="2693091" y="295665"/>
                  </a:lnTo>
                  <a:lnTo>
                    <a:pt x="2653768" y="270947"/>
                  </a:lnTo>
                  <a:lnTo>
                    <a:pt x="2613464" y="247164"/>
                  </a:lnTo>
                  <a:lnTo>
                    <a:pt x="2572207" y="224335"/>
                  </a:lnTo>
                  <a:lnTo>
                    <a:pt x="2530023" y="202481"/>
                  </a:lnTo>
                  <a:lnTo>
                    <a:pt x="2486940" y="181624"/>
                  </a:lnTo>
                  <a:lnTo>
                    <a:pt x="2442984" y="161785"/>
                  </a:lnTo>
                  <a:lnTo>
                    <a:pt x="2398183" y="142985"/>
                  </a:lnTo>
                  <a:lnTo>
                    <a:pt x="2352564" y="125245"/>
                  </a:lnTo>
                  <a:lnTo>
                    <a:pt x="2306153" y="108586"/>
                  </a:lnTo>
                  <a:lnTo>
                    <a:pt x="2258979" y="93030"/>
                  </a:lnTo>
                  <a:lnTo>
                    <a:pt x="2211067" y="78596"/>
                  </a:lnTo>
                  <a:lnTo>
                    <a:pt x="2162445" y="65307"/>
                  </a:lnTo>
                  <a:lnTo>
                    <a:pt x="2113140" y="53183"/>
                  </a:lnTo>
                  <a:lnTo>
                    <a:pt x="2063179" y="42246"/>
                  </a:lnTo>
                  <a:lnTo>
                    <a:pt x="2012589" y="32517"/>
                  </a:lnTo>
                  <a:lnTo>
                    <a:pt x="1961398" y="24017"/>
                  </a:lnTo>
                  <a:lnTo>
                    <a:pt x="1909631" y="16766"/>
                  </a:lnTo>
                  <a:lnTo>
                    <a:pt x="1857317" y="10786"/>
                  </a:lnTo>
                  <a:lnTo>
                    <a:pt x="1804483" y="6099"/>
                  </a:lnTo>
                  <a:lnTo>
                    <a:pt x="1751154" y="2724"/>
                  </a:lnTo>
                  <a:lnTo>
                    <a:pt x="1697360" y="684"/>
                  </a:lnTo>
                  <a:lnTo>
                    <a:pt x="1643126" y="0"/>
                  </a:lnTo>
                  <a:close/>
                </a:path>
              </a:pathLst>
            </a:custGeom>
            <a:solidFill>
              <a:srgbClr val="E8F6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105025" y="1390650"/>
              <a:ext cx="3286125" cy="2562225"/>
            </a:xfrm>
            <a:custGeom>
              <a:avLst/>
              <a:gdLst/>
              <a:ahLst/>
              <a:cxnLst/>
              <a:rect l="l" t="t" r="r" b="b"/>
              <a:pathLst>
                <a:path w="3286125" h="2562225">
                  <a:moveTo>
                    <a:pt x="0" y="1281049"/>
                  </a:moveTo>
                  <a:lnTo>
                    <a:pt x="878" y="1238762"/>
                  </a:lnTo>
                  <a:lnTo>
                    <a:pt x="3494" y="1196818"/>
                  </a:lnTo>
                  <a:lnTo>
                    <a:pt x="7822" y="1155237"/>
                  </a:lnTo>
                  <a:lnTo>
                    <a:pt x="13834" y="1114042"/>
                  </a:lnTo>
                  <a:lnTo>
                    <a:pt x="21503" y="1073252"/>
                  </a:lnTo>
                  <a:lnTo>
                    <a:pt x="30803" y="1032890"/>
                  </a:lnTo>
                  <a:lnTo>
                    <a:pt x="41705" y="992976"/>
                  </a:lnTo>
                  <a:lnTo>
                    <a:pt x="54184" y="953531"/>
                  </a:lnTo>
                  <a:lnTo>
                    <a:pt x="68211" y="914576"/>
                  </a:lnTo>
                  <a:lnTo>
                    <a:pt x="83761" y="876133"/>
                  </a:lnTo>
                  <a:lnTo>
                    <a:pt x="100805" y="838222"/>
                  </a:lnTo>
                  <a:lnTo>
                    <a:pt x="119317" y="800865"/>
                  </a:lnTo>
                  <a:lnTo>
                    <a:pt x="139270" y="764083"/>
                  </a:lnTo>
                  <a:lnTo>
                    <a:pt x="160636" y="727896"/>
                  </a:lnTo>
                  <a:lnTo>
                    <a:pt x="183389" y="692327"/>
                  </a:lnTo>
                  <a:lnTo>
                    <a:pt x="207502" y="657395"/>
                  </a:lnTo>
                  <a:lnTo>
                    <a:pt x="232947" y="623123"/>
                  </a:lnTo>
                  <a:lnTo>
                    <a:pt x="259698" y="589531"/>
                  </a:lnTo>
                  <a:lnTo>
                    <a:pt x="287727" y="556640"/>
                  </a:lnTo>
                  <a:lnTo>
                    <a:pt x="317008" y="524472"/>
                  </a:lnTo>
                  <a:lnTo>
                    <a:pt x="347513" y="493047"/>
                  </a:lnTo>
                  <a:lnTo>
                    <a:pt x="379215" y="462387"/>
                  </a:lnTo>
                  <a:lnTo>
                    <a:pt x="412087" y="432512"/>
                  </a:lnTo>
                  <a:lnTo>
                    <a:pt x="446103" y="403445"/>
                  </a:lnTo>
                  <a:lnTo>
                    <a:pt x="481234" y="375205"/>
                  </a:lnTo>
                  <a:lnTo>
                    <a:pt x="517455" y="347814"/>
                  </a:lnTo>
                  <a:lnTo>
                    <a:pt x="554738" y="321294"/>
                  </a:lnTo>
                  <a:lnTo>
                    <a:pt x="593055" y="295665"/>
                  </a:lnTo>
                  <a:lnTo>
                    <a:pt x="632381" y="270947"/>
                  </a:lnTo>
                  <a:lnTo>
                    <a:pt x="672687" y="247164"/>
                  </a:lnTo>
                  <a:lnTo>
                    <a:pt x="713947" y="224335"/>
                  </a:lnTo>
                  <a:lnTo>
                    <a:pt x="756134" y="202481"/>
                  </a:lnTo>
                  <a:lnTo>
                    <a:pt x="799220" y="181624"/>
                  </a:lnTo>
                  <a:lnTo>
                    <a:pt x="843180" y="161785"/>
                  </a:lnTo>
                  <a:lnTo>
                    <a:pt x="887984" y="142985"/>
                  </a:lnTo>
                  <a:lnTo>
                    <a:pt x="933607" y="125245"/>
                  </a:lnTo>
                  <a:lnTo>
                    <a:pt x="980022" y="108586"/>
                  </a:lnTo>
                  <a:lnTo>
                    <a:pt x="1027201" y="93030"/>
                  </a:lnTo>
                  <a:lnTo>
                    <a:pt x="1075118" y="78596"/>
                  </a:lnTo>
                  <a:lnTo>
                    <a:pt x="1123744" y="65307"/>
                  </a:lnTo>
                  <a:lnTo>
                    <a:pt x="1173054" y="53183"/>
                  </a:lnTo>
                  <a:lnTo>
                    <a:pt x="1223020" y="42246"/>
                  </a:lnTo>
                  <a:lnTo>
                    <a:pt x="1273616" y="32517"/>
                  </a:lnTo>
                  <a:lnTo>
                    <a:pt x="1324813" y="24017"/>
                  </a:lnTo>
                  <a:lnTo>
                    <a:pt x="1376585" y="16766"/>
                  </a:lnTo>
                  <a:lnTo>
                    <a:pt x="1428906" y="10786"/>
                  </a:lnTo>
                  <a:lnTo>
                    <a:pt x="1481747" y="6099"/>
                  </a:lnTo>
                  <a:lnTo>
                    <a:pt x="1535082" y="2724"/>
                  </a:lnTo>
                  <a:lnTo>
                    <a:pt x="1588884" y="684"/>
                  </a:lnTo>
                  <a:lnTo>
                    <a:pt x="1643126" y="0"/>
                  </a:lnTo>
                  <a:lnTo>
                    <a:pt x="1697360" y="684"/>
                  </a:lnTo>
                  <a:lnTo>
                    <a:pt x="1751154" y="2724"/>
                  </a:lnTo>
                  <a:lnTo>
                    <a:pt x="1804483" y="6099"/>
                  </a:lnTo>
                  <a:lnTo>
                    <a:pt x="1857317" y="10786"/>
                  </a:lnTo>
                  <a:lnTo>
                    <a:pt x="1909631" y="16766"/>
                  </a:lnTo>
                  <a:lnTo>
                    <a:pt x="1961398" y="24017"/>
                  </a:lnTo>
                  <a:lnTo>
                    <a:pt x="2012589" y="32517"/>
                  </a:lnTo>
                  <a:lnTo>
                    <a:pt x="2063179" y="42246"/>
                  </a:lnTo>
                  <a:lnTo>
                    <a:pt x="2113140" y="53183"/>
                  </a:lnTo>
                  <a:lnTo>
                    <a:pt x="2162445" y="65307"/>
                  </a:lnTo>
                  <a:lnTo>
                    <a:pt x="2211067" y="78596"/>
                  </a:lnTo>
                  <a:lnTo>
                    <a:pt x="2258979" y="93030"/>
                  </a:lnTo>
                  <a:lnTo>
                    <a:pt x="2306153" y="108586"/>
                  </a:lnTo>
                  <a:lnTo>
                    <a:pt x="2352564" y="125245"/>
                  </a:lnTo>
                  <a:lnTo>
                    <a:pt x="2398183" y="142985"/>
                  </a:lnTo>
                  <a:lnTo>
                    <a:pt x="2442984" y="161785"/>
                  </a:lnTo>
                  <a:lnTo>
                    <a:pt x="2486940" y="181624"/>
                  </a:lnTo>
                  <a:lnTo>
                    <a:pt x="2530023" y="202481"/>
                  </a:lnTo>
                  <a:lnTo>
                    <a:pt x="2572207" y="224335"/>
                  </a:lnTo>
                  <a:lnTo>
                    <a:pt x="2613464" y="247164"/>
                  </a:lnTo>
                  <a:lnTo>
                    <a:pt x="2653768" y="270947"/>
                  </a:lnTo>
                  <a:lnTo>
                    <a:pt x="2693091" y="295665"/>
                  </a:lnTo>
                  <a:lnTo>
                    <a:pt x="2731406" y="321294"/>
                  </a:lnTo>
                  <a:lnTo>
                    <a:pt x="2768687" y="347814"/>
                  </a:lnTo>
                  <a:lnTo>
                    <a:pt x="2804906" y="375205"/>
                  </a:lnTo>
                  <a:lnTo>
                    <a:pt x="2840035" y="403445"/>
                  </a:lnTo>
                  <a:lnTo>
                    <a:pt x="2874049" y="432512"/>
                  </a:lnTo>
                  <a:lnTo>
                    <a:pt x="2906920" y="462387"/>
                  </a:lnTo>
                  <a:lnTo>
                    <a:pt x="2938621" y="493047"/>
                  </a:lnTo>
                  <a:lnTo>
                    <a:pt x="2969124" y="524472"/>
                  </a:lnTo>
                  <a:lnTo>
                    <a:pt x="2998404" y="556640"/>
                  </a:lnTo>
                  <a:lnTo>
                    <a:pt x="3026432" y="589531"/>
                  </a:lnTo>
                  <a:lnTo>
                    <a:pt x="3053182" y="623123"/>
                  </a:lnTo>
                  <a:lnTo>
                    <a:pt x="3078626" y="657395"/>
                  </a:lnTo>
                  <a:lnTo>
                    <a:pt x="3102738" y="692327"/>
                  </a:lnTo>
                  <a:lnTo>
                    <a:pt x="3125491" y="727896"/>
                  </a:lnTo>
                  <a:lnTo>
                    <a:pt x="3146857" y="764083"/>
                  </a:lnTo>
                  <a:lnTo>
                    <a:pt x="3166809" y="800865"/>
                  </a:lnTo>
                  <a:lnTo>
                    <a:pt x="3185321" y="838222"/>
                  </a:lnTo>
                  <a:lnTo>
                    <a:pt x="3202364" y="876133"/>
                  </a:lnTo>
                  <a:lnTo>
                    <a:pt x="3217914" y="914576"/>
                  </a:lnTo>
                  <a:lnTo>
                    <a:pt x="3231941" y="953531"/>
                  </a:lnTo>
                  <a:lnTo>
                    <a:pt x="3244419" y="992976"/>
                  </a:lnTo>
                  <a:lnTo>
                    <a:pt x="3255321" y="1032890"/>
                  </a:lnTo>
                  <a:lnTo>
                    <a:pt x="3264621" y="1073252"/>
                  </a:lnTo>
                  <a:lnTo>
                    <a:pt x="3272290" y="1114042"/>
                  </a:lnTo>
                  <a:lnTo>
                    <a:pt x="3278302" y="1155237"/>
                  </a:lnTo>
                  <a:lnTo>
                    <a:pt x="3282630" y="1196818"/>
                  </a:lnTo>
                  <a:lnTo>
                    <a:pt x="3285246" y="1238762"/>
                  </a:lnTo>
                  <a:lnTo>
                    <a:pt x="3286125" y="1281049"/>
                  </a:lnTo>
                  <a:lnTo>
                    <a:pt x="3285246" y="1323343"/>
                  </a:lnTo>
                  <a:lnTo>
                    <a:pt x="3282630" y="1365294"/>
                  </a:lnTo>
                  <a:lnTo>
                    <a:pt x="3278302" y="1406881"/>
                  </a:lnTo>
                  <a:lnTo>
                    <a:pt x="3272290" y="1448083"/>
                  </a:lnTo>
                  <a:lnTo>
                    <a:pt x="3264621" y="1488879"/>
                  </a:lnTo>
                  <a:lnTo>
                    <a:pt x="3255321" y="1529247"/>
                  </a:lnTo>
                  <a:lnTo>
                    <a:pt x="3244419" y="1569167"/>
                  </a:lnTo>
                  <a:lnTo>
                    <a:pt x="3231941" y="1608618"/>
                  </a:lnTo>
                  <a:lnTo>
                    <a:pt x="3217914" y="1647578"/>
                  </a:lnTo>
                  <a:lnTo>
                    <a:pt x="3202364" y="1686026"/>
                  </a:lnTo>
                  <a:lnTo>
                    <a:pt x="3185321" y="1723942"/>
                  </a:lnTo>
                  <a:lnTo>
                    <a:pt x="3166809" y="1761303"/>
                  </a:lnTo>
                  <a:lnTo>
                    <a:pt x="3146857" y="1798090"/>
                  </a:lnTo>
                  <a:lnTo>
                    <a:pt x="3125491" y="1834280"/>
                  </a:lnTo>
                  <a:lnTo>
                    <a:pt x="3102738" y="1869854"/>
                  </a:lnTo>
                  <a:lnTo>
                    <a:pt x="3078626" y="1904789"/>
                  </a:lnTo>
                  <a:lnTo>
                    <a:pt x="3053182" y="1939064"/>
                  </a:lnTo>
                  <a:lnTo>
                    <a:pt x="3026432" y="1972660"/>
                  </a:lnTo>
                  <a:lnTo>
                    <a:pt x="2998404" y="2005553"/>
                  </a:lnTo>
                  <a:lnTo>
                    <a:pt x="2969124" y="2037725"/>
                  </a:lnTo>
                  <a:lnTo>
                    <a:pt x="2938621" y="2069152"/>
                  </a:lnTo>
                  <a:lnTo>
                    <a:pt x="2906920" y="2099815"/>
                  </a:lnTo>
                  <a:lnTo>
                    <a:pt x="2874049" y="2129692"/>
                  </a:lnTo>
                  <a:lnTo>
                    <a:pt x="2840035" y="2158761"/>
                  </a:lnTo>
                  <a:lnTo>
                    <a:pt x="2804906" y="2187003"/>
                  </a:lnTo>
                  <a:lnTo>
                    <a:pt x="2768687" y="2214396"/>
                  </a:lnTo>
                  <a:lnTo>
                    <a:pt x="2731406" y="2240918"/>
                  </a:lnTo>
                  <a:lnTo>
                    <a:pt x="2693091" y="2266549"/>
                  </a:lnTo>
                  <a:lnTo>
                    <a:pt x="2653768" y="2291267"/>
                  </a:lnTo>
                  <a:lnTo>
                    <a:pt x="2613464" y="2315052"/>
                  </a:lnTo>
                  <a:lnTo>
                    <a:pt x="2572207" y="2337882"/>
                  </a:lnTo>
                  <a:lnTo>
                    <a:pt x="2530023" y="2359737"/>
                  </a:lnTo>
                  <a:lnTo>
                    <a:pt x="2486940" y="2380595"/>
                  </a:lnTo>
                  <a:lnTo>
                    <a:pt x="2442984" y="2400434"/>
                  </a:lnTo>
                  <a:lnTo>
                    <a:pt x="2398183" y="2419235"/>
                  </a:lnTo>
                  <a:lnTo>
                    <a:pt x="2352564" y="2436976"/>
                  </a:lnTo>
                  <a:lnTo>
                    <a:pt x="2306153" y="2453635"/>
                  </a:lnTo>
                  <a:lnTo>
                    <a:pt x="2258979" y="2469193"/>
                  </a:lnTo>
                  <a:lnTo>
                    <a:pt x="2211067" y="2483627"/>
                  </a:lnTo>
                  <a:lnTo>
                    <a:pt x="2162445" y="2496916"/>
                  </a:lnTo>
                  <a:lnTo>
                    <a:pt x="2113140" y="2509040"/>
                  </a:lnTo>
                  <a:lnTo>
                    <a:pt x="2063179" y="2519977"/>
                  </a:lnTo>
                  <a:lnTo>
                    <a:pt x="2012589" y="2529707"/>
                  </a:lnTo>
                  <a:lnTo>
                    <a:pt x="1961398" y="2538207"/>
                  </a:lnTo>
                  <a:lnTo>
                    <a:pt x="1909631" y="2545458"/>
                  </a:lnTo>
                  <a:lnTo>
                    <a:pt x="1857317" y="2551438"/>
                  </a:lnTo>
                  <a:lnTo>
                    <a:pt x="1804483" y="2556125"/>
                  </a:lnTo>
                  <a:lnTo>
                    <a:pt x="1751154" y="2559500"/>
                  </a:lnTo>
                  <a:lnTo>
                    <a:pt x="1697360" y="2561540"/>
                  </a:lnTo>
                  <a:lnTo>
                    <a:pt x="1643126" y="2562225"/>
                  </a:lnTo>
                  <a:lnTo>
                    <a:pt x="1588884" y="2561540"/>
                  </a:lnTo>
                  <a:lnTo>
                    <a:pt x="1535082" y="2559500"/>
                  </a:lnTo>
                  <a:lnTo>
                    <a:pt x="1481747" y="2556125"/>
                  </a:lnTo>
                  <a:lnTo>
                    <a:pt x="1428906" y="2551438"/>
                  </a:lnTo>
                  <a:lnTo>
                    <a:pt x="1376585" y="2545458"/>
                  </a:lnTo>
                  <a:lnTo>
                    <a:pt x="1324813" y="2538207"/>
                  </a:lnTo>
                  <a:lnTo>
                    <a:pt x="1273616" y="2529707"/>
                  </a:lnTo>
                  <a:lnTo>
                    <a:pt x="1223020" y="2519977"/>
                  </a:lnTo>
                  <a:lnTo>
                    <a:pt x="1173054" y="2509040"/>
                  </a:lnTo>
                  <a:lnTo>
                    <a:pt x="1123744" y="2496916"/>
                  </a:lnTo>
                  <a:lnTo>
                    <a:pt x="1075118" y="2483627"/>
                  </a:lnTo>
                  <a:lnTo>
                    <a:pt x="1027201" y="2469193"/>
                  </a:lnTo>
                  <a:lnTo>
                    <a:pt x="980022" y="2453635"/>
                  </a:lnTo>
                  <a:lnTo>
                    <a:pt x="933607" y="2436976"/>
                  </a:lnTo>
                  <a:lnTo>
                    <a:pt x="887984" y="2419235"/>
                  </a:lnTo>
                  <a:lnTo>
                    <a:pt x="843180" y="2400434"/>
                  </a:lnTo>
                  <a:lnTo>
                    <a:pt x="799220" y="2380595"/>
                  </a:lnTo>
                  <a:lnTo>
                    <a:pt x="756134" y="2359737"/>
                  </a:lnTo>
                  <a:lnTo>
                    <a:pt x="713947" y="2337882"/>
                  </a:lnTo>
                  <a:lnTo>
                    <a:pt x="672687" y="2315052"/>
                  </a:lnTo>
                  <a:lnTo>
                    <a:pt x="632381" y="2291267"/>
                  </a:lnTo>
                  <a:lnTo>
                    <a:pt x="593055" y="2266549"/>
                  </a:lnTo>
                  <a:lnTo>
                    <a:pt x="554738" y="2240918"/>
                  </a:lnTo>
                  <a:lnTo>
                    <a:pt x="517455" y="2214396"/>
                  </a:lnTo>
                  <a:lnTo>
                    <a:pt x="481234" y="2187003"/>
                  </a:lnTo>
                  <a:lnTo>
                    <a:pt x="446103" y="2158761"/>
                  </a:lnTo>
                  <a:lnTo>
                    <a:pt x="412087" y="2129692"/>
                  </a:lnTo>
                  <a:lnTo>
                    <a:pt x="379215" y="2099815"/>
                  </a:lnTo>
                  <a:lnTo>
                    <a:pt x="347513" y="2069152"/>
                  </a:lnTo>
                  <a:lnTo>
                    <a:pt x="317008" y="2037725"/>
                  </a:lnTo>
                  <a:lnTo>
                    <a:pt x="287727" y="2005553"/>
                  </a:lnTo>
                  <a:lnTo>
                    <a:pt x="259698" y="1972660"/>
                  </a:lnTo>
                  <a:lnTo>
                    <a:pt x="232947" y="1939064"/>
                  </a:lnTo>
                  <a:lnTo>
                    <a:pt x="207502" y="1904789"/>
                  </a:lnTo>
                  <a:lnTo>
                    <a:pt x="183389" y="1869854"/>
                  </a:lnTo>
                  <a:lnTo>
                    <a:pt x="160636" y="1834280"/>
                  </a:lnTo>
                  <a:lnTo>
                    <a:pt x="139270" y="1798090"/>
                  </a:lnTo>
                  <a:lnTo>
                    <a:pt x="119317" y="1761303"/>
                  </a:lnTo>
                  <a:lnTo>
                    <a:pt x="100805" y="1723942"/>
                  </a:lnTo>
                  <a:lnTo>
                    <a:pt x="83761" y="1686026"/>
                  </a:lnTo>
                  <a:lnTo>
                    <a:pt x="68211" y="1647578"/>
                  </a:lnTo>
                  <a:lnTo>
                    <a:pt x="54184" y="1608618"/>
                  </a:lnTo>
                  <a:lnTo>
                    <a:pt x="41705" y="1569167"/>
                  </a:lnTo>
                  <a:lnTo>
                    <a:pt x="30803" y="1529247"/>
                  </a:lnTo>
                  <a:lnTo>
                    <a:pt x="21503" y="1488879"/>
                  </a:lnTo>
                  <a:lnTo>
                    <a:pt x="13834" y="1448083"/>
                  </a:lnTo>
                  <a:lnTo>
                    <a:pt x="7822" y="1406881"/>
                  </a:lnTo>
                  <a:lnTo>
                    <a:pt x="3494" y="1365294"/>
                  </a:lnTo>
                  <a:lnTo>
                    <a:pt x="878" y="1323343"/>
                  </a:lnTo>
                  <a:lnTo>
                    <a:pt x="0" y="1281049"/>
                  </a:lnTo>
                  <a:close/>
                </a:path>
              </a:pathLst>
            </a:custGeom>
            <a:ln w="19050">
              <a:solidFill>
                <a:srgbClr val="00798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38575" y="1571625"/>
              <a:ext cx="600075" cy="600075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3602990" y="2284666"/>
            <a:ext cx="122428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10" b="1">
                <a:solidFill>
                  <a:srgbClr val="007989"/>
                </a:solidFill>
                <a:latin typeface="Cambria"/>
                <a:cs typeface="Cambria"/>
              </a:rPr>
              <a:t>Quantum-Inspired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648709" y="2611437"/>
            <a:ext cx="1167765" cy="67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7155" indent="-84455">
              <a:lnSpc>
                <a:spcPct val="100000"/>
              </a:lnSpc>
              <a:spcBef>
                <a:spcPts val="100"/>
              </a:spcBef>
              <a:buChar char="•"/>
              <a:tabLst>
                <a:tab pos="97155" algn="l"/>
              </a:tabLst>
            </a:pPr>
            <a:r>
              <a:rPr dirty="0" sz="900">
                <a:solidFill>
                  <a:srgbClr val="2C3D50"/>
                </a:solidFill>
                <a:latin typeface="Calibri"/>
                <a:cs typeface="Calibri"/>
              </a:rPr>
              <a:t>QPSO</a:t>
            </a:r>
            <a:r>
              <a:rPr dirty="0" sz="900" spc="-5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C3D50"/>
                </a:solidFill>
                <a:latin typeface="Calibri"/>
                <a:cs typeface="Calibri"/>
              </a:rPr>
              <a:t>Algorithm</a:t>
            </a:r>
            <a:endParaRPr sz="900">
              <a:latin typeface="Calibri"/>
              <a:cs typeface="Calibri"/>
            </a:endParaRPr>
          </a:p>
          <a:p>
            <a:pPr marL="97155" indent="-84455">
              <a:lnSpc>
                <a:spcPct val="100000"/>
              </a:lnSpc>
              <a:spcBef>
                <a:spcPts val="940"/>
              </a:spcBef>
              <a:buChar char="•"/>
              <a:tabLst>
                <a:tab pos="97155" algn="l"/>
              </a:tabLst>
            </a:pPr>
            <a:r>
              <a:rPr dirty="0" sz="900" spc="-10">
                <a:solidFill>
                  <a:srgbClr val="2C3D50"/>
                </a:solidFill>
                <a:latin typeface="Calibri"/>
                <a:cs typeface="Calibri"/>
              </a:rPr>
              <a:t>Feature</a:t>
            </a:r>
            <a:r>
              <a:rPr dirty="0" sz="90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C3D50"/>
                </a:solidFill>
                <a:latin typeface="Calibri"/>
                <a:cs typeface="Calibri"/>
              </a:rPr>
              <a:t>Selection</a:t>
            </a:r>
            <a:endParaRPr sz="900">
              <a:latin typeface="Calibri"/>
              <a:cs typeface="Calibri"/>
            </a:endParaRPr>
          </a:p>
          <a:p>
            <a:pPr marL="97155" indent="-84455">
              <a:lnSpc>
                <a:spcPct val="100000"/>
              </a:lnSpc>
              <a:spcBef>
                <a:spcPts val="940"/>
              </a:spcBef>
              <a:buChar char="•"/>
              <a:tabLst>
                <a:tab pos="97155" algn="l"/>
              </a:tabLst>
            </a:pPr>
            <a:r>
              <a:rPr dirty="0" sz="900" spc="-10">
                <a:solidFill>
                  <a:srgbClr val="2C3D50"/>
                </a:solidFill>
                <a:latin typeface="Calibri"/>
                <a:cs typeface="Calibri"/>
              </a:rPr>
              <a:t>Superposition</a:t>
            </a:r>
            <a:r>
              <a:rPr dirty="0" sz="900" spc="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C3D50"/>
                </a:solidFill>
                <a:latin typeface="Calibri"/>
                <a:cs typeface="Calibri"/>
              </a:rPr>
              <a:t>Concept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743075" y="1771523"/>
            <a:ext cx="1929130" cy="1662430"/>
            <a:chOff x="1743075" y="1771523"/>
            <a:chExt cx="1929130" cy="1662430"/>
          </a:xfrm>
        </p:grpSpPr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43075" y="1771523"/>
              <a:ext cx="1928876" cy="1662176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928876" y="1881251"/>
              <a:ext cx="1638300" cy="1371600"/>
            </a:xfrm>
            <a:custGeom>
              <a:avLst/>
              <a:gdLst/>
              <a:ahLst/>
              <a:cxnLst/>
              <a:rect l="l" t="t" r="r" b="b"/>
              <a:pathLst>
                <a:path w="1638300" h="1371600">
                  <a:moveTo>
                    <a:pt x="819150" y="0"/>
                  </a:moveTo>
                  <a:lnTo>
                    <a:pt x="767335" y="1348"/>
                  </a:lnTo>
                  <a:lnTo>
                    <a:pt x="716378" y="5341"/>
                  </a:lnTo>
                  <a:lnTo>
                    <a:pt x="666375" y="11899"/>
                  </a:lnTo>
                  <a:lnTo>
                    <a:pt x="617421" y="20939"/>
                  </a:lnTo>
                  <a:lnTo>
                    <a:pt x="569613" y="32384"/>
                  </a:lnTo>
                  <a:lnTo>
                    <a:pt x="523046" y="46151"/>
                  </a:lnTo>
                  <a:lnTo>
                    <a:pt x="477817" y="62162"/>
                  </a:lnTo>
                  <a:lnTo>
                    <a:pt x="434020" y="80335"/>
                  </a:lnTo>
                  <a:lnTo>
                    <a:pt x="391752" y="100591"/>
                  </a:lnTo>
                  <a:lnTo>
                    <a:pt x="351109" y="122849"/>
                  </a:lnTo>
                  <a:lnTo>
                    <a:pt x="312187" y="147029"/>
                  </a:lnTo>
                  <a:lnTo>
                    <a:pt x="275080" y="173051"/>
                  </a:lnTo>
                  <a:lnTo>
                    <a:pt x="239887" y="200834"/>
                  </a:lnTo>
                  <a:lnTo>
                    <a:pt x="206701" y="230299"/>
                  </a:lnTo>
                  <a:lnTo>
                    <a:pt x="175619" y="261364"/>
                  </a:lnTo>
                  <a:lnTo>
                    <a:pt x="146737" y="293950"/>
                  </a:lnTo>
                  <a:lnTo>
                    <a:pt x="120151" y="327977"/>
                  </a:lnTo>
                  <a:lnTo>
                    <a:pt x="95957" y="363364"/>
                  </a:lnTo>
                  <a:lnTo>
                    <a:pt x="74250" y="400031"/>
                  </a:lnTo>
                  <a:lnTo>
                    <a:pt x="55126" y="437898"/>
                  </a:lnTo>
                  <a:lnTo>
                    <a:pt x="38681" y="476884"/>
                  </a:lnTo>
                  <a:lnTo>
                    <a:pt x="25011" y="516910"/>
                  </a:lnTo>
                  <a:lnTo>
                    <a:pt x="14212" y="557894"/>
                  </a:lnTo>
                  <a:lnTo>
                    <a:pt x="6380" y="599758"/>
                  </a:lnTo>
                  <a:lnTo>
                    <a:pt x="1611" y="642419"/>
                  </a:lnTo>
                  <a:lnTo>
                    <a:pt x="0" y="685800"/>
                  </a:lnTo>
                  <a:lnTo>
                    <a:pt x="1611" y="729166"/>
                  </a:lnTo>
                  <a:lnTo>
                    <a:pt x="6380" y="771816"/>
                  </a:lnTo>
                  <a:lnTo>
                    <a:pt x="14212" y="813670"/>
                  </a:lnTo>
                  <a:lnTo>
                    <a:pt x="25011" y="854647"/>
                  </a:lnTo>
                  <a:lnTo>
                    <a:pt x="38681" y="894667"/>
                  </a:lnTo>
                  <a:lnTo>
                    <a:pt x="55126" y="933649"/>
                  </a:lnTo>
                  <a:lnTo>
                    <a:pt x="74250" y="971513"/>
                  </a:lnTo>
                  <a:lnTo>
                    <a:pt x="95957" y="1008179"/>
                  </a:lnTo>
                  <a:lnTo>
                    <a:pt x="120151" y="1043565"/>
                  </a:lnTo>
                  <a:lnTo>
                    <a:pt x="146737" y="1077593"/>
                  </a:lnTo>
                  <a:lnTo>
                    <a:pt x="175619" y="1110181"/>
                  </a:lnTo>
                  <a:lnTo>
                    <a:pt x="206701" y="1141249"/>
                  </a:lnTo>
                  <a:lnTo>
                    <a:pt x="239887" y="1170717"/>
                  </a:lnTo>
                  <a:lnTo>
                    <a:pt x="275080" y="1198504"/>
                  </a:lnTo>
                  <a:lnTo>
                    <a:pt x="312187" y="1224531"/>
                  </a:lnTo>
                  <a:lnTo>
                    <a:pt x="351109" y="1248715"/>
                  </a:lnTo>
                  <a:lnTo>
                    <a:pt x="391752" y="1270978"/>
                  </a:lnTo>
                  <a:lnTo>
                    <a:pt x="434020" y="1291239"/>
                  </a:lnTo>
                  <a:lnTo>
                    <a:pt x="477817" y="1309417"/>
                  </a:lnTo>
                  <a:lnTo>
                    <a:pt x="523046" y="1325432"/>
                  </a:lnTo>
                  <a:lnTo>
                    <a:pt x="569613" y="1339204"/>
                  </a:lnTo>
                  <a:lnTo>
                    <a:pt x="617421" y="1350652"/>
                  </a:lnTo>
                  <a:lnTo>
                    <a:pt x="666375" y="1359696"/>
                  </a:lnTo>
                  <a:lnTo>
                    <a:pt x="716378" y="1366255"/>
                  </a:lnTo>
                  <a:lnTo>
                    <a:pt x="767335" y="1370250"/>
                  </a:lnTo>
                  <a:lnTo>
                    <a:pt x="819150" y="1371600"/>
                  </a:lnTo>
                  <a:lnTo>
                    <a:pt x="870951" y="1370250"/>
                  </a:lnTo>
                  <a:lnTo>
                    <a:pt x="921896" y="1366255"/>
                  </a:lnTo>
                  <a:lnTo>
                    <a:pt x="971890" y="1359696"/>
                  </a:lnTo>
                  <a:lnTo>
                    <a:pt x="1020836" y="1350652"/>
                  </a:lnTo>
                  <a:lnTo>
                    <a:pt x="1068638" y="1339204"/>
                  </a:lnTo>
                  <a:lnTo>
                    <a:pt x="1115201" y="1325432"/>
                  </a:lnTo>
                  <a:lnTo>
                    <a:pt x="1160427" y="1309417"/>
                  </a:lnTo>
                  <a:lnTo>
                    <a:pt x="1204223" y="1291239"/>
                  </a:lnTo>
                  <a:lnTo>
                    <a:pt x="1246490" y="1270978"/>
                  </a:lnTo>
                  <a:lnTo>
                    <a:pt x="1287134" y="1248715"/>
                  </a:lnTo>
                  <a:lnTo>
                    <a:pt x="1326059" y="1224531"/>
                  </a:lnTo>
                  <a:lnTo>
                    <a:pt x="1363168" y="1198504"/>
                  </a:lnTo>
                  <a:lnTo>
                    <a:pt x="1398365" y="1170717"/>
                  </a:lnTo>
                  <a:lnTo>
                    <a:pt x="1431554" y="1141249"/>
                  </a:lnTo>
                  <a:lnTo>
                    <a:pt x="1462640" y="1110181"/>
                  </a:lnTo>
                  <a:lnTo>
                    <a:pt x="1491527" y="1077593"/>
                  </a:lnTo>
                  <a:lnTo>
                    <a:pt x="1518118" y="1043565"/>
                  </a:lnTo>
                  <a:lnTo>
                    <a:pt x="1542317" y="1008179"/>
                  </a:lnTo>
                  <a:lnTo>
                    <a:pt x="1564029" y="971513"/>
                  </a:lnTo>
                  <a:lnTo>
                    <a:pt x="1583158" y="933649"/>
                  </a:lnTo>
                  <a:lnTo>
                    <a:pt x="1599607" y="894667"/>
                  </a:lnTo>
                  <a:lnTo>
                    <a:pt x="1613280" y="854647"/>
                  </a:lnTo>
                  <a:lnTo>
                    <a:pt x="1624082" y="813670"/>
                  </a:lnTo>
                  <a:lnTo>
                    <a:pt x="1631917" y="771816"/>
                  </a:lnTo>
                  <a:lnTo>
                    <a:pt x="1636688" y="729166"/>
                  </a:lnTo>
                  <a:lnTo>
                    <a:pt x="1638300" y="685800"/>
                  </a:lnTo>
                  <a:lnTo>
                    <a:pt x="1636688" y="642419"/>
                  </a:lnTo>
                  <a:lnTo>
                    <a:pt x="1631917" y="599758"/>
                  </a:lnTo>
                  <a:lnTo>
                    <a:pt x="1624082" y="557894"/>
                  </a:lnTo>
                  <a:lnTo>
                    <a:pt x="1613280" y="516910"/>
                  </a:lnTo>
                  <a:lnTo>
                    <a:pt x="1599607" y="476884"/>
                  </a:lnTo>
                  <a:lnTo>
                    <a:pt x="1583158" y="437898"/>
                  </a:lnTo>
                  <a:lnTo>
                    <a:pt x="1564029" y="400031"/>
                  </a:lnTo>
                  <a:lnTo>
                    <a:pt x="1542317" y="363364"/>
                  </a:lnTo>
                  <a:lnTo>
                    <a:pt x="1518118" y="327977"/>
                  </a:lnTo>
                  <a:lnTo>
                    <a:pt x="1491527" y="293950"/>
                  </a:lnTo>
                  <a:lnTo>
                    <a:pt x="1462640" y="261364"/>
                  </a:lnTo>
                  <a:lnTo>
                    <a:pt x="1431554" y="230299"/>
                  </a:lnTo>
                  <a:lnTo>
                    <a:pt x="1398365" y="200834"/>
                  </a:lnTo>
                  <a:lnTo>
                    <a:pt x="1363168" y="173051"/>
                  </a:lnTo>
                  <a:lnTo>
                    <a:pt x="1326059" y="147029"/>
                  </a:lnTo>
                  <a:lnTo>
                    <a:pt x="1287134" y="122849"/>
                  </a:lnTo>
                  <a:lnTo>
                    <a:pt x="1246490" y="100591"/>
                  </a:lnTo>
                  <a:lnTo>
                    <a:pt x="1204223" y="80335"/>
                  </a:lnTo>
                  <a:lnTo>
                    <a:pt x="1160427" y="62162"/>
                  </a:lnTo>
                  <a:lnTo>
                    <a:pt x="1115201" y="46151"/>
                  </a:lnTo>
                  <a:lnTo>
                    <a:pt x="1068638" y="32384"/>
                  </a:lnTo>
                  <a:lnTo>
                    <a:pt x="1020836" y="20939"/>
                  </a:lnTo>
                  <a:lnTo>
                    <a:pt x="971890" y="11899"/>
                  </a:lnTo>
                  <a:lnTo>
                    <a:pt x="921896" y="5341"/>
                  </a:lnTo>
                  <a:lnTo>
                    <a:pt x="870951" y="1348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1B4F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928876" y="1881251"/>
              <a:ext cx="1638300" cy="1371600"/>
            </a:xfrm>
            <a:custGeom>
              <a:avLst/>
              <a:gdLst/>
              <a:ahLst/>
              <a:cxnLst/>
              <a:rect l="l" t="t" r="r" b="b"/>
              <a:pathLst>
                <a:path w="1638300" h="1371600">
                  <a:moveTo>
                    <a:pt x="0" y="685800"/>
                  </a:moveTo>
                  <a:lnTo>
                    <a:pt x="1611" y="642419"/>
                  </a:lnTo>
                  <a:lnTo>
                    <a:pt x="6380" y="599758"/>
                  </a:lnTo>
                  <a:lnTo>
                    <a:pt x="14212" y="557894"/>
                  </a:lnTo>
                  <a:lnTo>
                    <a:pt x="25011" y="516910"/>
                  </a:lnTo>
                  <a:lnTo>
                    <a:pt x="38681" y="476884"/>
                  </a:lnTo>
                  <a:lnTo>
                    <a:pt x="55126" y="437898"/>
                  </a:lnTo>
                  <a:lnTo>
                    <a:pt x="74250" y="400031"/>
                  </a:lnTo>
                  <a:lnTo>
                    <a:pt x="95957" y="363364"/>
                  </a:lnTo>
                  <a:lnTo>
                    <a:pt x="120151" y="327977"/>
                  </a:lnTo>
                  <a:lnTo>
                    <a:pt x="146737" y="293950"/>
                  </a:lnTo>
                  <a:lnTo>
                    <a:pt x="175619" y="261364"/>
                  </a:lnTo>
                  <a:lnTo>
                    <a:pt x="206701" y="230299"/>
                  </a:lnTo>
                  <a:lnTo>
                    <a:pt x="239887" y="200834"/>
                  </a:lnTo>
                  <a:lnTo>
                    <a:pt x="275080" y="173051"/>
                  </a:lnTo>
                  <a:lnTo>
                    <a:pt x="312187" y="147029"/>
                  </a:lnTo>
                  <a:lnTo>
                    <a:pt x="351109" y="122849"/>
                  </a:lnTo>
                  <a:lnTo>
                    <a:pt x="391752" y="100591"/>
                  </a:lnTo>
                  <a:lnTo>
                    <a:pt x="434020" y="80335"/>
                  </a:lnTo>
                  <a:lnTo>
                    <a:pt x="477817" y="62162"/>
                  </a:lnTo>
                  <a:lnTo>
                    <a:pt x="523046" y="46151"/>
                  </a:lnTo>
                  <a:lnTo>
                    <a:pt x="569613" y="32384"/>
                  </a:lnTo>
                  <a:lnTo>
                    <a:pt x="617421" y="20939"/>
                  </a:lnTo>
                  <a:lnTo>
                    <a:pt x="666375" y="11899"/>
                  </a:lnTo>
                  <a:lnTo>
                    <a:pt x="716378" y="5341"/>
                  </a:lnTo>
                  <a:lnTo>
                    <a:pt x="767335" y="1348"/>
                  </a:lnTo>
                  <a:lnTo>
                    <a:pt x="819150" y="0"/>
                  </a:lnTo>
                  <a:lnTo>
                    <a:pt x="870951" y="1348"/>
                  </a:lnTo>
                  <a:lnTo>
                    <a:pt x="921896" y="5341"/>
                  </a:lnTo>
                  <a:lnTo>
                    <a:pt x="971890" y="11899"/>
                  </a:lnTo>
                  <a:lnTo>
                    <a:pt x="1020836" y="20939"/>
                  </a:lnTo>
                  <a:lnTo>
                    <a:pt x="1068638" y="32384"/>
                  </a:lnTo>
                  <a:lnTo>
                    <a:pt x="1115201" y="46151"/>
                  </a:lnTo>
                  <a:lnTo>
                    <a:pt x="1160427" y="62162"/>
                  </a:lnTo>
                  <a:lnTo>
                    <a:pt x="1204223" y="80335"/>
                  </a:lnTo>
                  <a:lnTo>
                    <a:pt x="1246490" y="100591"/>
                  </a:lnTo>
                  <a:lnTo>
                    <a:pt x="1287134" y="122849"/>
                  </a:lnTo>
                  <a:lnTo>
                    <a:pt x="1326059" y="147029"/>
                  </a:lnTo>
                  <a:lnTo>
                    <a:pt x="1363168" y="173051"/>
                  </a:lnTo>
                  <a:lnTo>
                    <a:pt x="1398365" y="200834"/>
                  </a:lnTo>
                  <a:lnTo>
                    <a:pt x="1431554" y="230299"/>
                  </a:lnTo>
                  <a:lnTo>
                    <a:pt x="1462640" y="261364"/>
                  </a:lnTo>
                  <a:lnTo>
                    <a:pt x="1491527" y="293950"/>
                  </a:lnTo>
                  <a:lnTo>
                    <a:pt x="1518118" y="327977"/>
                  </a:lnTo>
                  <a:lnTo>
                    <a:pt x="1542317" y="363364"/>
                  </a:lnTo>
                  <a:lnTo>
                    <a:pt x="1564029" y="400031"/>
                  </a:lnTo>
                  <a:lnTo>
                    <a:pt x="1583158" y="437898"/>
                  </a:lnTo>
                  <a:lnTo>
                    <a:pt x="1599607" y="476884"/>
                  </a:lnTo>
                  <a:lnTo>
                    <a:pt x="1613280" y="516910"/>
                  </a:lnTo>
                  <a:lnTo>
                    <a:pt x="1624082" y="557894"/>
                  </a:lnTo>
                  <a:lnTo>
                    <a:pt x="1631917" y="599758"/>
                  </a:lnTo>
                  <a:lnTo>
                    <a:pt x="1636688" y="642419"/>
                  </a:lnTo>
                  <a:lnTo>
                    <a:pt x="1638300" y="685800"/>
                  </a:lnTo>
                  <a:lnTo>
                    <a:pt x="1636688" y="729166"/>
                  </a:lnTo>
                  <a:lnTo>
                    <a:pt x="1631917" y="771816"/>
                  </a:lnTo>
                  <a:lnTo>
                    <a:pt x="1624082" y="813670"/>
                  </a:lnTo>
                  <a:lnTo>
                    <a:pt x="1613280" y="854647"/>
                  </a:lnTo>
                  <a:lnTo>
                    <a:pt x="1599607" y="894667"/>
                  </a:lnTo>
                  <a:lnTo>
                    <a:pt x="1583158" y="933649"/>
                  </a:lnTo>
                  <a:lnTo>
                    <a:pt x="1564029" y="971513"/>
                  </a:lnTo>
                  <a:lnTo>
                    <a:pt x="1542317" y="1008179"/>
                  </a:lnTo>
                  <a:lnTo>
                    <a:pt x="1518118" y="1043565"/>
                  </a:lnTo>
                  <a:lnTo>
                    <a:pt x="1491527" y="1077593"/>
                  </a:lnTo>
                  <a:lnTo>
                    <a:pt x="1462640" y="1110181"/>
                  </a:lnTo>
                  <a:lnTo>
                    <a:pt x="1431554" y="1141249"/>
                  </a:lnTo>
                  <a:lnTo>
                    <a:pt x="1398365" y="1170717"/>
                  </a:lnTo>
                  <a:lnTo>
                    <a:pt x="1363168" y="1198504"/>
                  </a:lnTo>
                  <a:lnTo>
                    <a:pt x="1326059" y="1224531"/>
                  </a:lnTo>
                  <a:lnTo>
                    <a:pt x="1287134" y="1248715"/>
                  </a:lnTo>
                  <a:lnTo>
                    <a:pt x="1246490" y="1270978"/>
                  </a:lnTo>
                  <a:lnTo>
                    <a:pt x="1204223" y="1291239"/>
                  </a:lnTo>
                  <a:lnTo>
                    <a:pt x="1160427" y="1309417"/>
                  </a:lnTo>
                  <a:lnTo>
                    <a:pt x="1115201" y="1325432"/>
                  </a:lnTo>
                  <a:lnTo>
                    <a:pt x="1068638" y="1339204"/>
                  </a:lnTo>
                  <a:lnTo>
                    <a:pt x="1020836" y="1350652"/>
                  </a:lnTo>
                  <a:lnTo>
                    <a:pt x="971890" y="1359696"/>
                  </a:lnTo>
                  <a:lnTo>
                    <a:pt x="921896" y="1366255"/>
                  </a:lnTo>
                  <a:lnTo>
                    <a:pt x="870951" y="1370250"/>
                  </a:lnTo>
                  <a:lnTo>
                    <a:pt x="819150" y="1371600"/>
                  </a:lnTo>
                  <a:lnTo>
                    <a:pt x="767335" y="1370250"/>
                  </a:lnTo>
                  <a:lnTo>
                    <a:pt x="716378" y="1366255"/>
                  </a:lnTo>
                  <a:lnTo>
                    <a:pt x="666375" y="1359696"/>
                  </a:lnTo>
                  <a:lnTo>
                    <a:pt x="617421" y="1350652"/>
                  </a:lnTo>
                  <a:lnTo>
                    <a:pt x="569613" y="1339204"/>
                  </a:lnTo>
                  <a:lnTo>
                    <a:pt x="523046" y="1325432"/>
                  </a:lnTo>
                  <a:lnTo>
                    <a:pt x="477817" y="1309417"/>
                  </a:lnTo>
                  <a:lnTo>
                    <a:pt x="434020" y="1291239"/>
                  </a:lnTo>
                  <a:lnTo>
                    <a:pt x="391752" y="1270978"/>
                  </a:lnTo>
                  <a:lnTo>
                    <a:pt x="351109" y="1248715"/>
                  </a:lnTo>
                  <a:lnTo>
                    <a:pt x="312187" y="1224531"/>
                  </a:lnTo>
                  <a:lnTo>
                    <a:pt x="275080" y="1198504"/>
                  </a:lnTo>
                  <a:lnTo>
                    <a:pt x="239887" y="1170717"/>
                  </a:lnTo>
                  <a:lnTo>
                    <a:pt x="206701" y="1141249"/>
                  </a:lnTo>
                  <a:lnTo>
                    <a:pt x="175619" y="1110181"/>
                  </a:lnTo>
                  <a:lnTo>
                    <a:pt x="146737" y="1077593"/>
                  </a:lnTo>
                  <a:lnTo>
                    <a:pt x="120151" y="1043565"/>
                  </a:lnTo>
                  <a:lnTo>
                    <a:pt x="95957" y="1008179"/>
                  </a:lnTo>
                  <a:lnTo>
                    <a:pt x="74250" y="971513"/>
                  </a:lnTo>
                  <a:lnTo>
                    <a:pt x="55126" y="933649"/>
                  </a:lnTo>
                  <a:lnTo>
                    <a:pt x="38681" y="894667"/>
                  </a:lnTo>
                  <a:lnTo>
                    <a:pt x="25011" y="854647"/>
                  </a:lnTo>
                  <a:lnTo>
                    <a:pt x="14212" y="813670"/>
                  </a:lnTo>
                  <a:lnTo>
                    <a:pt x="6380" y="771816"/>
                  </a:lnTo>
                  <a:lnTo>
                    <a:pt x="1611" y="729166"/>
                  </a:lnTo>
                  <a:lnTo>
                    <a:pt x="0" y="6858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2428239" y="2344356"/>
            <a:ext cx="635000" cy="42100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32715" marR="5080" indent="-120014">
              <a:lnSpc>
                <a:spcPct val="105200"/>
              </a:lnSpc>
              <a:spcBef>
                <a:spcPts val="50"/>
              </a:spcBef>
            </a:pPr>
            <a:r>
              <a:rPr dirty="0" sz="1250" spc="-10" b="1">
                <a:solidFill>
                  <a:srgbClr val="FFFFFF"/>
                </a:solidFill>
                <a:latin typeface="Cambria"/>
                <a:cs typeface="Cambria"/>
              </a:rPr>
              <a:t>HYBRID </a:t>
            </a:r>
            <a:r>
              <a:rPr dirty="0" sz="1250" spc="-20" b="1">
                <a:solidFill>
                  <a:srgbClr val="FFFFFF"/>
                </a:solidFill>
                <a:latin typeface="Cambria"/>
                <a:cs typeface="Cambria"/>
              </a:rPr>
              <a:t>NIDS</a:t>
            </a:r>
            <a:endParaRPr sz="1250">
              <a:latin typeface="Cambria"/>
              <a:cs typeface="Cambria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400675" y="1209611"/>
            <a:ext cx="3624579" cy="1062355"/>
            <a:chOff x="5400675" y="1209611"/>
            <a:chExt cx="3624579" cy="1062355"/>
          </a:xfrm>
        </p:grpSpPr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00675" y="1209611"/>
              <a:ext cx="3624326" cy="1062037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5586476" y="1319276"/>
              <a:ext cx="3333750" cy="771525"/>
            </a:xfrm>
            <a:custGeom>
              <a:avLst/>
              <a:gdLst/>
              <a:ahLst/>
              <a:cxnLst/>
              <a:rect l="l" t="t" r="r" b="b"/>
              <a:pathLst>
                <a:path w="3333750" h="771525">
                  <a:moveTo>
                    <a:pt x="3260217" y="0"/>
                  </a:moveTo>
                  <a:lnTo>
                    <a:pt x="73406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6"/>
                  </a:lnTo>
                  <a:lnTo>
                    <a:pt x="0" y="697992"/>
                  </a:lnTo>
                  <a:lnTo>
                    <a:pt x="5772" y="726572"/>
                  </a:lnTo>
                  <a:lnTo>
                    <a:pt x="21510" y="749950"/>
                  </a:lnTo>
                  <a:lnTo>
                    <a:pt x="44844" y="765732"/>
                  </a:lnTo>
                  <a:lnTo>
                    <a:pt x="73406" y="771525"/>
                  </a:lnTo>
                  <a:lnTo>
                    <a:pt x="3260217" y="771525"/>
                  </a:lnTo>
                  <a:lnTo>
                    <a:pt x="3288797" y="765732"/>
                  </a:lnTo>
                  <a:lnTo>
                    <a:pt x="3312175" y="749950"/>
                  </a:lnTo>
                  <a:lnTo>
                    <a:pt x="3327957" y="726572"/>
                  </a:lnTo>
                  <a:lnTo>
                    <a:pt x="3333750" y="697992"/>
                  </a:lnTo>
                  <a:lnTo>
                    <a:pt x="3333750" y="73406"/>
                  </a:lnTo>
                  <a:lnTo>
                    <a:pt x="3327957" y="44844"/>
                  </a:lnTo>
                  <a:lnTo>
                    <a:pt x="3312175" y="21510"/>
                  </a:lnTo>
                  <a:lnTo>
                    <a:pt x="3288797" y="5772"/>
                  </a:lnTo>
                  <a:lnTo>
                    <a:pt x="3260217" y="0"/>
                  </a:lnTo>
                  <a:close/>
                </a:path>
              </a:pathLst>
            </a:custGeom>
            <a:solidFill>
              <a:srgbClr val="EB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586476" y="1319276"/>
              <a:ext cx="3333750" cy="771525"/>
            </a:xfrm>
            <a:custGeom>
              <a:avLst/>
              <a:gdLst/>
              <a:ahLst/>
              <a:cxnLst/>
              <a:rect l="l" t="t" r="r" b="b"/>
              <a:pathLst>
                <a:path w="3333750" h="771525">
                  <a:moveTo>
                    <a:pt x="0" y="73406"/>
                  </a:moveTo>
                  <a:lnTo>
                    <a:pt x="5772" y="44844"/>
                  </a:lnTo>
                  <a:lnTo>
                    <a:pt x="21510" y="21510"/>
                  </a:lnTo>
                  <a:lnTo>
                    <a:pt x="44844" y="5772"/>
                  </a:lnTo>
                  <a:lnTo>
                    <a:pt x="73406" y="0"/>
                  </a:lnTo>
                  <a:lnTo>
                    <a:pt x="3260217" y="0"/>
                  </a:lnTo>
                  <a:lnTo>
                    <a:pt x="3288797" y="5772"/>
                  </a:lnTo>
                  <a:lnTo>
                    <a:pt x="3312175" y="21510"/>
                  </a:lnTo>
                  <a:lnTo>
                    <a:pt x="3327957" y="44844"/>
                  </a:lnTo>
                  <a:lnTo>
                    <a:pt x="3333750" y="73406"/>
                  </a:lnTo>
                  <a:lnTo>
                    <a:pt x="3333750" y="697992"/>
                  </a:lnTo>
                  <a:lnTo>
                    <a:pt x="3327957" y="726572"/>
                  </a:lnTo>
                  <a:lnTo>
                    <a:pt x="3312175" y="749950"/>
                  </a:lnTo>
                  <a:lnTo>
                    <a:pt x="3288797" y="765732"/>
                  </a:lnTo>
                  <a:lnTo>
                    <a:pt x="3260217" y="771525"/>
                  </a:lnTo>
                  <a:lnTo>
                    <a:pt x="73406" y="771525"/>
                  </a:lnTo>
                  <a:lnTo>
                    <a:pt x="44844" y="765732"/>
                  </a:lnTo>
                  <a:lnTo>
                    <a:pt x="21510" y="749950"/>
                  </a:lnTo>
                  <a:lnTo>
                    <a:pt x="5772" y="726572"/>
                  </a:lnTo>
                  <a:lnTo>
                    <a:pt x="0" y="697992"/>
                  </a:lnTo>
                  <a:lnTo>
                    <a:pt x="0" y="73406"/>
                  </a:lnTo>
                  <a:close/>
                </a:path>
              </a:pathLst>
            </a:custGeom>
            <a:ln w="8890">
              <a:solidFill>
                <a:srgbClr val="1B4F8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86425" y="1428750"/>
              <a:ext cx="504825" cy="504825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6284976" y="1423606"/>
            <a:ext cx="1503045" cy="4978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1B4F89"/>
                </a:solidFill>
                <a:latin typeface="Calibri"/>
                <a:cs typeface="Calibri"/>
              </a:rPr>
              <a:t>Smart</a:t>
            </a:r>
            <a:r>
              <a:rPr dirty="0" sz="1100" spc="-25" b="1">
                <a:solidFill>
                  <a:srgbClr val="1B4F8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4F89"/>
                </a:solidFill>
                <a:latin typeface="Calibri"/>
                <a:cs typeface="Calibri"/>
              </a:rPr>
              <a:t>Feature</a:t>
            </a:r>
            <a:r>
              <a:rPr dirty="0" sz="1100" spc="-45" b="1">
                <a:solidFill>
                  <a:srgbClr val="1B4F8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B4F89"/>
                </a:solidFill>
                <a:latin typeface="Calibri"/>
                <a:cs typeface="Calibri"/>
              </a:rPr>
              <a:t>Selection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950">
                <a:solidFill>
                  <a:srgbClr val="6B7C8E"/>
                </a:solidFill>
                <a:latin typeface="Calibri"/>
                <a:cs typeface="Calibri"/>
              </a:rPr>
              <a:t>41</a:t>
            </a:r>
            <a:r>
              <a:rPr dirty="0" sz="950" spc="-1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B7C8E"/>
                </a:solidFill>
                <a:latin typeface="Calibri"/>
                <a:cs typeface="Calibri"/>
              </a:rPr>
              <a:t>features</a:t>
            </a:r>
            <a:r>
              <a:rPr dirty="0" sz="950" spc="-5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C8E"/>
                </a:solidFill>
                <a:latin typeface="Calibri"/>
                <a:cs typeface="Calibri"/>
              </a:rPr>
              <a:t>→</a:t>
            </a:r>
            <a:r>
              <a:rPr dirty="0" sz="950" spc="5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B7C8E"/>
                </a:solidFill>
                <a:latin typeface="Calibri"/>
                <a:cs typeface="Calibri"/>
              </a:rPr>
              <a:t>18-</a:t>
            </a:r>
            <a:r>
              <a:rPr dirty="0" sz="950">
                <a:solidFill>
                  <a:srgbClr val="6B7C8E"/>
                </a:solidFill>
                <a:latin typeface="Calibri"/>
                <a:cs typeface="Calibri"/>
              </a:rPr>
              <a:t>22</a:t>
            </a:r>
            <a:r>
              <a:rPr dirty="0" sz="950" spc="-1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C8E"/>
                </a:solidFill>
                <a:latin typeface="Calibri"/>
                <a:cs typeface="Calibri"/>
              </a:rPr>
              <a:t>via</a:t>
            </a:r>
            <a:r>
              <a:rPr dirty="0" sz="950" spc="2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6B7C8E"/>
                </a:solidFill>
                <a:latin typeface="Calibri"/>
                <a:cs typeface="Calibri"/>
              </a:rPr>
              <a:t>QPSO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5400675" y="2124011"/>
            <a:ext cx="3624579" cy="1062355"/>
            <a:chOff x="5400675" y="2124011"/>
            <a:chExt cx="3624579" cy="1062355"/>
          </a:xfrm>
        </p:grpSpPr>
        <p:pic>
          <p:nvPicPr>
            <p:cNvPr id="33" name="object 3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00675" y="2124011"/>
              <a:ext cx="3624326" cy="1062037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5586476" y="2233675"/>
              <a:ext cx="3333750" cy="771525"/>
            </a:xfrm>
            <a:custGeom>
              <a:avLst/>
              <a:gdLst/>
              <a:ahLst/>
              <a:cxnLst/>
              <a:rect l="l" t="t" r="r" b="b"/>
              <a:pathLst>
                <a:path w="3333750" h="771525">
                  <a:moveTo>
                    <a:pt x="3260217" y="0"/>
                  </a:moveTo>
                  <a:lnTo>
                    <a:pt x="73406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6"/>
                  </a:lnTo>
                  <a:lnTo>
                    <a:pt x="0" y="697992"/>
                  </a:lnTo>
                  <a:lnTo>
                    <a:pt x="5772" y="726572"/>
                  </a:lnTo>
                  <a:lnTo>
                    <a:pt x="21510" y="749950"/>
                  </a:lnTo>
                  <a:lnTo>
                    <a:pt x="44844" y="765732"/>
                  </a:lnTo>
                  <a:lnTo>
                    <a:pt x="73406" y="771525"/>
                  </a:lnTo>
                  <a:lnTo>
                    <a:pt x="3260217" y="771525"/>
                  </a:lnTo>
                  <a:lnTo>
                    <a:pt x="3288797" y="765732"/>
                  </a:lnTo>
                  <a:lnTo>
                    <a:pt x="3312175" y="749950"/>
                  </a:lnTo>
                  <a:lnTo>
                    <a:pt x="3327957" y="726572"/>
                  </a:lnTo>
                  <a:lnTo>
                    <a:pt x="3333750" y="697992"/>
                  </a:lnTo>
                  <a:lnTo>
                    <a:pt x="3333750" y="73406"/>
                  </a:lnTo>
                  <a:lnTo>
                    <a:pt x="3327957" y="44844"/>
                  </a:lnTo>
                  <a:lnTo>
                    <a:pt x="3312175" y="21510"/>
                  </a:lnTo>
                  <a:lnTo>
                    <a:pt x="3288797" y="5772"/>
                  </a:lnTo>
                  <a:lnTo>
                    <a:pt x="3260217" y="0"/>
                  </a:lnTo>
                  <a:close/>
                </a:path>
              </a:pathLst>
            </a:custGeom>
            <a:solidFill>
              <a:srgbClr val="FFEF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586476" y="2233675"/>
              <a:ext cx="3333750" cy="771525"/>
            </a:xfrm>
            <a:custGeom>
              <a:avLst/>
              <a:gdLst/>
              <a:ahLst/>
              <a:cxnLst/>
              <a:rect l="l" t="t" r="r" b="b"/>
              <a:pathLst>
                <a:path w="3333750" h="771525">
                  <a:moveTo>
                    <a:pt x="0" y="73406"/>
                  </a:moveTo>
                  <a:lnTo>
                    <a:pt x="5772" y="44844"/>
                  </a:lnTo>
                  <a:lnTo>
                    <a:pt x="21510" y="21510"/>
                  </a:lnTo>
                  <a:lnTo>
                    <a:pt x="44844" y="5772"/>
                  </a:lnTo>
                  <a:lnTo>
                    <a:pt x="73406" y="0"/>
                  </a:lnTo>
                  <a:lnTo>
                    <a:pt x="3260217" y="0"/>
                  </a:lnTo>
                  <a:lnTo>
                    <a:pt x="3288797" y="5772"/>
                  </a:lnTo>
                  <a:lnTo>
                    <a:pt x="3312175" y="21510"/>
                  </a:lnTo>
                  <a:lnTo>
                    <a:pt x="3327957" y="44844"/>
                  </a:lnTo>
                  <a:lnTo>
                    <a:pt x="3333750" y="73406"/>
                  </a:lnTo>
                  <a:lnTo>
                    <a:pt x="3333750" y="697992"/>
                  </a:lnTo>
                  <a:lnTo>
                    <a:pt x="3327957" y="726572"/>
                  </a:lnTo>
                  <a:lnTo>
                    <a:pt x="3312175" y="749950"/>
                  </a:lnTo>
                  <a:lnTo>
                    <a:pt x="3288797" y="765732"/>
                  </a:lnTo>
                  <a:lnTo>
                    <a:pt x="3260217" y="771525"/>
                  </a:lnTo>
                  <a:lnTo>
                    <a:pt x="73406" y="771525"/>
                  </a:lnTo>
                  <a:lnTo>
                    <a:pt x="44844" y="765732"/>
                  </a:lnTo>
                  <a:lnTo>
                    <a:pt x="21510" y="749950"/>
                  </a:lnTo>
                  <a:lnTo>
                    <a:pt x="5772" y="726572"/>
                  </a:lnTo>
                  <a:lnTo>
                    <a:pt x="0" y="697992"/>
                  </a:lnTo>
                  <a:lnTo>
                    <a:pt x="0" y="73406"/>
                  </a:lnTo>
                  <a:close/>
                </a:path>
              </a:pathLst>
            </a:custGeom>
            <a:ln w="8890">
              <a:solidFill>
                <a:srgbClr val="DF5A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86425" y="2343149"/>
              <a:ext cx="504825" cy="504825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6284976" y="2339657"/>
            <a:ext cx="1514475" cy="497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DF5A00"/>
                </a:solidFill>
                <a:latin typeface="Calibri"/>
                <a:cs typeface="Calibri"/>
              </a:rPr>
              <a:t>Higher</a:t>
            </a:r>
            <a:r>
              <a:rPr dirty="0" sz="1100" spc="-15" b="1">
                <a:solidFill>
                  <a:srgbClr val="DF5A00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DF5A00"/>
                </a:solidFill>
                <a:latin typeface="Calibri"/>
                <a:cs typeface="Calibri"/>
              </a:rPr>
              <a:t>Accuracy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950">
                <a:solidFill>
                  <a:srgbClr val="6B7C8E"/>
                </a:solidFill>
                <a:latin typeface="Calibri"/>
                <a:cs typeface="Calibri"/>
              </a:rPr>
              <a:t>~88%</a:t>
            </a:r>
            <a:r>
              <a:rPr dirty="0" sz="950" spc="-1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C8E"/>
                </a:solidFill>
                <a:latin typeface="Calibri"/>
                <a:cs typeface="Calibri"/>
              </a:rPr>
              <a:t>→</a:t>
            </a:r>
            <a:r>
              <a:rPr dirty="0" sz="950" spc="2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B7C8E"/>
                </a:solidFill>
                <a:latin typeface="Calibri"/>
                <a:cs typeface="Calibri"/>
              </a:rPr>
              <a:t>~94%+</a:t>
            </a:r>
            <a:r>
              <a:rPr dirty="0" sz="950" spc="-3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C8E"/>
                </a:solidFill>
                <a:latin typeface="Calibri"/>
                <a:cs typeface="Calibri"/>
              </a:rPr>
              <a:t>detection</a:t>
            </a:r>
            <a:r>
              <a:rPr dirty="0" sz="950" spc="-5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6B7C8E"/>
                </a:solidFill>
                <a:latin typeface="Calibri"/>
                <a:cs typeface="Calibri"/>
              </a:rPr>
              <a:t>rate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5400675" y="3038475"/>
            <a:ext cx="3624579" cy="1062355"/>
            <a:chOff x="5400675" y="3038475"/>
            <a:chExt cx="3624579" cy="1062355"/>
          </a:xfrm>
        </p:grpSpPr>
        <p:pic>
          <p:nvPicPr>
            <p:cNvPr id="39" name="object 3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00675" y="3038475"/>
              <a:ext cx="3624326" cy="1062037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5586476" y="3148076"/>
              <a:ext cx="3333750" cy="771525"/>
            </a:xfrm>
            <a:custGeom>
              <a:avLst/>
              <a:gdLst/>
              <a:ahLst/>
              <a:cxnLst/>
              <a:rect l="l" t="t" r="r" b="b"/>
              <a:pathLst>
                <a:path w="3333750" h="771525">
                  <a:moveTo>
                    <a:pt x="3260217" y="0"/>
                  </a:moveTo>
                  <a:lnTo>
                    <a:pt x="73406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6"/>
                  </a:lnTo>
                  <a:lnTo>
                    <a:pt x="0" y="697992"/>
                  </a:lnTo>
                  <a:lnTo>
                    <a:pt x="5772" y="726589"/>
                  </a:lnTo>
                  <a:lnTo>
                    <a:pt x="21510" y="749942"/>
                  </a:lnTo>
                  <a:lnTo>
                    <a:pt x="44844" y="765687"/>
                  </a:lnTo>
                  <a:lnTo>
                    <a:pt x="73406" y="771461"/>
                  </a:lnTo>
                  <a:lnTo>
                    <a:pt x="3260217" y="771461"/>
                  </a:lnTo>
                  <a:lnTo>
                    <a:pt x="3288797" y="765687"/>
                  </a:lnTo>
                  <a:lnTo>
                    <a:pt x="3312175" y="749942"/>
                  </a:lnTo>
                  <a:lnTo>
                    <a:pt x="3327957" y="726589"/>
                  </a:lnTo>
                  <a:lnTo>
                    <a:pt x="3333750" y="697992"/>
                  </a:lnTo>
                  <a:lnTo>
                    <a:pt x="3333750" y="73406"/>
                  </a:lnTo>
                  <a:lnTo>
                    <a:pt x="3327957" y="44844"/>
                  </a:lnTo>
                  <a:lnTo>
                    <a:pt x="3312175" y="21510"/>
                  </a:lnTo>
                  <a:lnTo>
                    <a:pt x="3288797" y="5772"/>
                  </a:lnTo>
                  <a:lnTo>
                    <a:pt x="3260217" y="0"/>
                  </a:lnTo>
                  <a:close/>
                </a:path>
              </a:pathLst>
            </a:custGeom>
            <a:solidFill>
              <a:srgbClr val="E8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586476" y="3148076"/>
              <a:ext cx="3333750" cy="771525"/>
            </a:xfrm>
            <a:custGeom>
              <a:avLst/>
              <a:gdLst/>
              <a:ahLst/>
              <a:cxnLst/>
              <a:rect l="l" t="t" r="r" b="b"/>
              <a:pathLst>
                <a:path w="3333750" h="771525">
                  <a:moveTo>
                    <a:pt x="0" y="73406"/>
                  </a:moveTo>
                  <a:lnTo>
                    <a:pt x="5772" y="44844"/>
                  </a:lnTo>
                  <a:lnTo>
                    <a:pt x="21510" y="21510"/>
                  </a:lnTo>
                  <a:lnTo>
                    <a:pt x="44844" y="5772"/>
                  </a:lnTo>
                  <a:lnTo>
                    <a:pt x="73406" y="0"/>
                  </a:lnTo>
                  <a:lnTo>
                    <a:pt x="3260217" y="0"/>
                  </a:lnTo>
                  <a:lnTo>
                    <a:pt x="3288797" y="5772"/>
                  </a:lnTo>
                  <a:lnTo>
                    <a:pt x="3312175" y="21510"/>
                  </a:lnTo>
                  <a:lnTo>
                    <a:pt x="3327957" y="44844"/>
                  </a:lnTo>
                  <a:lnTo>
                    <a:pt x="3333750" y="73406"/>
                  </a:lnTo>
                  <a:lnTo>
                    <a:pt x="3333750" y="697992"/>
                  </a:lnTo>
                  <a:lnTo>
                    <a:pt x="3327957" y="726589"/>
                  </a:lnTo>
                  <a:lnTo>
                    <a:pt x="3312175" y="749942"/>
                  </a:lnTo>
                  <a:lnTo>
                    <a:pt x="3288797" y="765687"/>
                  </a:lnTo>
                  <a:lnTo>
                    <a:pt x="3260217" y="771461"/>
                  </a:lnTo>
                  <a:lnTo>
                    <a:pt x="73406" y="771461"/>
                  </a:lnTo>
                  <a:lnTo>
                    <a:pt x="44844" y="765687"/>
                  </a:lnTo>
                  <a:lnTo>
                    <a:pt x="21510" y="749942"/>
                  </a:lnTo>
                  <a:lnTo>
                    <a:pt x="5772" y="726589"/>
                  </a:lnTo>
                  <a:lnTo>
                    <a:pt x="0" y="697992"/>
                  </a:lnTo>
                  <a:lnTo>
                    <a:pt x="0" y="73406"/>
                  </a:lnTo>
                  <a:close/>
                </a:path>
              </a:pathLst>
            </a:custGeom>
            <a:ln w="8889">
              <a:solidFill>
                <a:srgbClr val="1A794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86425" y="3257550"/>
              <a:ext cx="504825" cy="504825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6284976" y="3256279"/>
            <a:ext cx="1253490" cy="497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1A7949"/>
                </a:solidFill>
                <a:latin typeface="Calibri"/>
                <a:cs typeface="Calibri"/>
              </a:rPr>
              <a:t>Lower</a:t>
            </a:r>
            <a:r>
              <a:rPr dirty="0" sz="1100" spc="-20" b="1">
                <a:solidFill>
                  <a:srgbClr val="1A79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A7949"/>
                </a:solidFill>
                <a:latin typeface="Calibri"/>
                <a:cs typeface="Calibri"/>
              </a:rPr>
              <a:t>False</a:t>
            </a:r>
            <a:r>
              <a:rPr dirty="0" sz="1100" spc="-35" b="1">
                <a:solidFill>
                  <a:srgbClr val="1A794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A7949"/>
                </a:solidFill>
                <a:latin typeface="Calibri"/>
                <a:cs typeface="Calibri"/>
              </a:rPr>
              <a:t>Positives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950">
                <a:solidFill>
                  <a:srgbClr val="6B7C8E"/>
                </a:solidFill>
                <a:latin typeface="Calibri"/>
                <a:cs typeface="Calibri"/>
              </a:rPr>
              <a:t>12%</a:t>
            </a:r>
            <a:r>
              <a:rPr dirty="0" sz="950" spc="-1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C8E"/>
                </a:solidFill>
                <a:latin typeface="Calibri"/>
                <a:cs typeface="Calibri"/>
              </a:rPr>
              <a:t>FPR</a:t>
            </a:r>
            <a:r>
              <a:rPr dirty="0" sz="950" spc="1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C8E"/>
                </a:solidFill>
                <a:latin typeface="Calibri"/>
                <a:cs typeface="Calibri"/>
              </a:rPr>
              <a:t>→</a:t>
            </a:r>
            <a:r>
              <a:rPr dirty="0" sz="950" spc="-4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C8E"/>
                </a:solidFill>
                <a:latin typeface="Calibri"/>
                <a:cs typeface="Calibri"/>
              </a:rPr>
              <a:t>~5%</a:t>
            </a:r>
            <a:r>
              <a:rPr dirty="0" sz="950" spc="-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6B7C8E"/>
                </a:solidFill>
                <a:latin typeface="Calibri"/>
                <a:cs typeface="Calibri"/>
              </a:rPr>
              <a:t>FPR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5400675" y="3952875"/>
            <a:ext cx="3624579" cy="1062355"/>
            <a:chOff x="5400675" y="3952875"/>
            <a:chExt cx="3624579" cy="1062355"/>
          </a:xfrm>
        </p:grpSpPr>
        <p:pic>
          <p:nvPicPr>
            <p:cNvPr id="45" name="object 4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00675" y="3952875"/>
              <a:ext cx="3624326" cy="1062037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5586476" y="4062412"/>
              <a:ext cx="3333750" cy="771525"/>
            </a:xfrm>
            <a:custGeom>
              <a:avLst/>
              <a:gdLst/>
              <a:ahLst/>
              <a:cxnLst/>
              <a:rect l="l" t="t" r="r" b="b"/>
              <a:pathLst>
                <a:path w="3333750" h="771525">
                  <a:moveTo>
                    <a:pt x="3260217" y="0"/>
                  </a:moveTo>
                  <a:lnTo>
                    <a:pt x="73406" y="0"/>
                  </a:lnTo>
                  <a:lnTo>
                    <a:pt x="44844" y="5773"/>
                  </a:lnTo>
                  <a:lnTo>
                    <a:pt x="21510" y="21520"/>
                  </a:lnTo>
                  <a:lnTo>
                    <a:pt x="5772" y="44877"/>
                  </a:lnTo>
                  <a:lnTo>
                    <a:pt x="0" y="73482"/>
                  </a:lnTo>
                  <a:lnTo>
                    <a:pt x="0" y="698042"/>
                  </a:lnTo>
                  <a:lnTo>
                    <a:pt x="5772" y="726647"/>
                  </a:lnTo>
                  <a:lnTo>
                    <a:pt x="21510" y="750004"/>
                  </a:lnTo>
                  <a:lnTo>
                    <a:pt x="44844" y="765751"/>
                  </a:lnTo>
                  <a:lnTo>
                    <a:pt x="73406" y="771525"/>
                  </a:lnTo>
                  <a:lnTo>
                    <a:pt x="3260217" y="771525"/>
                  </a:lnTo>
                  <a:lnTo>
                    <a:pt x="3288797" y="765751"/>
                  </a:lnTo>
                  <a:lnTo>
                    <a:pt x="3312175" y="750004"/>
                  </a:lnTo>
                  <a:lnTo>
                    <a:pt x="3327957" y="726647"/>
                  </a:lnTo>
                  <a:lnTo>
                    <a:pt x="3333750" y="698042"/>
                  </a:lnTo>
                  <a:lnTo>
                    <a:pt x="3333750" y="73482"/>
                  </a:lnTo>
                  <a:lnTo>
                    <a:pt x="3327957" y="44877"/>
                  </a:lnTo>
                  <a:lnTo>
                    <a:pt x="3312175" y="21520"/>
                  </a:lnTo>
                  <a:lnTo>
                    <a:pt x="3288797" y="5773"/>
                  </a:lnTo>
                  <a:lnTo>
                    <a:pt x="3260217" y="0"/>
                  </a:lnTo>
                  <a:close/>
                </a:path>
              </a:pathLst>
            </a:custGeom>
            <a:solidFill>
              <a:srgbClr val="E6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586476" y="4062412"/>
              <a:ext cx="3333750" cy="771525"/>
            </a:xfrm>
            <a:custGeom>
              <a:avLst/>
              <a:gdLst/>
              <a:ahLst/>
              <a:cxnLst/>
              <a:rect l="l" t="t" r="r" b="b"/>
              <a:pathLst>
                <a:path w="3333750" h="771525">
                  <a:moveTo>
                    <a:pt x="0" y="73482"/>
                  </a:moveTo>
                  <a:lnTo>
                    <a:pt x="5772" y="44877"/>
                  </a:lnTo>
                  <a:lnTo>
                    <a:pt x="21510" y="21520"/>
                  </a:lnTo>
                  <a:lnTo>
                    <a:pt x="44844" y="5773"/>
                  </a:lnTo>
                  <a:lnTo>
                    <a:pt x="73406" y="0"/>
                  </a:lnTo>
                  <a:lnTo>
                    <a:pt x="3260217" y="0"/>
                  </a:lnTo>
                  <a:lnTo>
                    <a:pt x="3288797" y="5773"/>
                  </a:lnTo>
                  <a:lnTo>
                    <a:pt x="3312175" y="21520"/>
                  </a:lnTo>
                  <a:lnTo>
                    <a:pt x="3327957" y="44877"/>
                  </a:lnTo>
                  <a:lnTo>
                    <a:pt x="3333750" y="73482"/>
                  </a:lnTo>
                  <a:lnTo>
                    <a:pt x="3333750" y="698042"/>
                  </a:lnTo>
                  <a:lnTo>
                    <a:pt x="3327957" y="726647"/>
                  </a:lnTo>
                  <a:lnTo>
                    <a:pt x="3312175" y="750004"/>
                  </a:lnTo>
                  <a:lnTo>
                    <a:pt x="3288797" y="765751"/>
                  </a:lnTo>
                  <a:lnTo>
                    <a:pt x="3260217" y="771525"/>
                  </a:lnTo>
                  <a:lnTo>
                    <a:pt x="73406" y="771525"/>
                  </a:lnTo>
                  <a:lnTo>
                    <a:pt x="44844" y="765751"/>
                  </a:lnTo>
                  <a:lnTo>
                    <a:pt x="21510" y="750004"/>
                  </a:lnTo>
                  <a:lnTo>
                    <a:pt x="5772" y="726647"/>
                  </a:lnTo>
                  <a:lnTo>
                    <a:pt x="0" y="698042"/>
                  </a:lnTo>
                  <a:lnTo>
                    <a:pt x="0" y="73482"/>
                  </a:lnTo>
                  <a:close/>
                </a:path>
              </a:pathLst>
            </a:custGeom>
            <a:ln w="8890">
              <a:solidFill>
                <a:srgbClr val="00798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86425" y="4171950"/>
              <a:ext cx="504825" cy="504825"/>
            </a:xfrm>
            <a:prstGeom prst="rect">
              <a:avLst/>
            </a:prstGeom>
          </p:spPr>
        </p:pic>
      </p:grpSp>
      <p:sp>
        <p:nvSpPr>
          <p:cNvPr id="49" name="object 49" descr=""/>
          <p:cNvSpPr txBox="1"/>
          <p:nvPr/>
        </p:nvSpPr>
        <p:spPr>
          <a:xfrm>
            <a:off x="6284976" y="4171950"/>
            <a:ext cx="1285240" cy="4978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007989"/>
                </a:solidFill>
                <a:latin typeface="Calibri"/>
                <a:cs typeface="Calibri"/>
              </a:rPr>
              <a:t>GUI</a:t>
            </a:r>
            <a:r>
              <a:rPr dirty="0" sz="1100" spc="-15" b="1">
                <a:solidFill>
                  <a:srgbClr val="00798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07989"/>
                </a:solidFill>
                <a:latin typeface="Calibri"/>
                <a:cs typeface="Calibri"/>
              </a:rPr>
              <a:t>Simulator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950">
                <a:solidFill>
                  <a:srgbClr val="6B7C8E"/>
                </a:solidFill>
                <a:latin typeface="Calibri"/>
                <a:cs typeface="Calibri"/>
              </a:rPr>
              <a:t>Visual</a:t>
            </a:r>
            <a:r>
              <a:rPr dirty="0" sz="950" spc="-6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C8E"/>
                </a:solidFill>
                <a:latin typeface="Calibri"/>
                <a:cs typeface="Calibri"/>
              </a:rPr>
              <a:t>dashboard</a:t>
            </a:r>
            <a:r>
              <a:rPr dirty="0" sz="950" spc="1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6B7C8E"/>
                </a:solidFill>
                <a:latin typeface="Calibri"/>
                <a:cs typeface="Calibri"/>
              </a:rPr>
              <a:t>+</a:t>
            </a:r>
            <a:r>
              <a:rPr dirty="0" sz="950" spc="-3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6B7C8E"/>
                </a:solidFill>
                <a:latin typeface="Calibri"/>
                <a:cs typeface="Calibri"/>
              </a:rPr>
              <a:t>report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0" name="object 5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Quantum-Inspired</a:t>
            </a:r>
            <a:r>
              <a:rPr dirty="0" spc="80"/>
              <a:t> </a:t>
            </a:r>
            <a:r>
              <a:rPr dirty="0"/>
              <a:t>NIDS</a:t>
            </a:r>
            <a:r>
              <a:rPr dirty="0" spc="355"/>
              <a:t> </a:t>
            </a:r>
            <a:r>
              <a:rPr dirty="0"/>
              <a:t>|</a:t>
            </a:r>
            <a:r>
              <a:rPr dirty="0" spc="250"/>
              <a:t> </a:t>
            </a:r>
            <a:r>
              <a:rPr dirty="0"/>
              <a:t>Ini</a:t>
            </a:r>
            <a:r>
              <a:rPr dirty="0" spc="-55"/>
              <a:t> </a:t>
            </a:r>
            <a:r>
              <a:rPr dirty="0"/>
              <a:t>tial</a:t>
            </a:r>
            <a:r>
              <a:rPr dirty="0" spc="155"/>
              <a:t> </a:t>
            </a:r>
            <a:r>
              <a:rPr dirty="0" spc="-10"/>
              <a:t>Defence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28600" y="152400"/>
            <a:ext cx="1733550" cy="257175"/>
          </a:xfrm>
          <a:custGeom>
            <a:avLst/>
            <a:gdLst/>
            <a:ahLst/>
            <a:cxnLst/>
            <a:rect l="l" t="t" r="r" b="b"/>
            <a:pathLst>
              <a:path w="1733550" h="257175">
                <a:moveTo>
                  <a:pt x="1605026" y="0"/>
                </a:moveTo>
                <a:lnTo>
                  <a:pt x="128587" y="0"/>
                </a:lnTo>
                <a:lnTo>
                  <a:pt x="78534" y="10098"/>
                </a:lnTo>
                <a:lnTo>
                  <a:pt x="37661" y="37639"/>
                </a:lnTo>
                <a:lnTo>
                  <a:pt x="10104" y="78491"/>
                </a:lnTo>
                <a:lnTo>
                  <a:pt x="0" y="128524"/>
                </a:lnTo>
                <a:lnTo>
                  <a:pt x="10104" y="178629"/>
                </a:lnTo>
                <a:lnTo>
                  <a:pt x="37661" y="219519"/>
                </a:lnTo>
                <a:lnTo>
                  <a:pt x="78534" y="247074"/>
                </a:lnTo>
                <a:lnTo>
                  <a:pt x="128587" y="257175"/>
                </a:lnTo>
                <a:lnTo>
                  <a:pt x="1605026" y="257175"/>
                </a:lnTo>
                <a:lnTo>
                  <a:pt x="1655058" y="247074"/>
                </a:lnTo>
                <a:lnTo>
                  <a:pt x="1695910" y="219519"/>
                </a:lnTo>
                <a:lnTo>
                  <a:pt x="1723451" y="178629"/>
                </a:lnTo>
                <a:lnTo>
                  <a:pt x="1733550" y="128524"/>
                </a:lnTo>
                <a:lnTo>
                  <a:pt x="1723451" y="78491"/>
                </a:lnTo>
                <a:lnTo>
                  <a:pt x="1695910" y="37639"/>
                </a:lnTo>
                <a:lnTo>
                  <a:pt x="1655058" y="10098"/>
                </a:lnTo>
                <a:lnTo>
                  <a:pt x="1605026" y="0"/>
                </a:lnTo>
                <a:close/>
              </a:path>
            </a:pathLst>
          </a:custGeom>
          <a:solidFill>
            <a:srgbClr val="1B4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89242" y="201040"/>
            <a:ext cx="12725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dirty="0" sz="8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80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dirty="0" sz="8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55" b="1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dirty="0" sz="80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60" b="1">
                <a:solidFill>
                  <a:srgbClr val="FFFFFF"/>
                </a:solidFill>
                <a:latin typeface="Calibri"/>
                <a:cs typeface="Calibri"/>
              </a:rPr>
              <a:t>LO</a:t>
            </a:r>
            <a:r>
              <a:rPr dirty="0" sz="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800" spc="215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dirty="0" sz="800" spc="3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800" spc="3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/>
              <a:t>Data</a:t>
            </a:r>
            <a:r>
              <a:rPr dirty="0" spc="55"/>
              <a:t> </a:t>
            </a:r>
            <a:r>
              <a:rPr dirty="0"/>
              <a:t>Input</a:t>
            </a:r>
            <a:r>
              <a:rPr dirty="0" spc="105"/>
              <a:t> </a:t>
            </a:r>
            <a:r>
              <a:rPr dirty="0"/>
              <a:t>&amp;</a:t>
            </a:r>
            <a:r>
              <a:rPr dirty="0" spc="75"/>
              <a:t> </a:t>
            </a:r>
            <a:r>
              <a:rPr dirty="0" spc="-10"/>
              <a:t>Preprocessing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1284350"/>
            <a:ext cx="9144000" cy="3859529"/>
            <a:chOff x="0" y="1284350"/>
            <a:chExt cx="9144000" cy="3859529"/>
          </a:xfrm>
        </p:grpSpPr>
        <p:sp>
          <p:nvSpPr>
            <p:cNvPr id="6" name="object 6" descr=""/>
            <p:cNvSpPr/>
            <p:nvPr/>
          </p:nvSpPr>
          <p:spPr>
            <a:xfrm>
              <a:off x="0" y="1290700"/>
              <a:ext cx="9144000" cy="3853179"/>
            </a:xfrm>
            <a:custGeom>
              <a:avLst/>
              <a:gdLst/>
              <a:ahLst/>
              <a:cxnLst/>
              <a:rect l="l" t="t" r="r" b="b"/>
              <a:pathLst>
                <a:path w="9144000" h="3853179">
                  <a:moveTo>
                    <a:pt x="3033776" y="157099"/>
                  </a:moveTo>
                  <a:lnTo>
                    <a:pt x="3025749" y="107454"/>
                  </a:lnTo>
                  <a:lnTo>
                    <a:pt x="3003410" y="64338"/>
                  </a:lnTo>
                  <a:lnTo>
                    <a:pt x="2969361" y="30327"/>
                  </a:lnTo>
                  <a:lnTo>
                    <a:pt x="2926207" y="8013"/>
                  </a:lnTo>
                  <a:lnTo>
                    <a:pt x="2876550" y="0"/>
                  </a:lnTo>
                  <a:lnTo>
                    <a:pt x="390525" y="0"/>
                  </a:lnTo>
                  <a:lnTo>
                    <a:pt x="340842" y="8013"/>
                  </a:lnTo>
                  <a:lnTo>
                    <a:pt x="297700" y="30327"/>
                  </a:lnTo>
                  <a:lnTo>
                    <a:pt x="263677" y="64338"/>
                  </a:lnTo>
                  <a:lnTo>
                    <a:pt x="241363" y="107454"/>
                  </a:lnTo>
                  <a:lnTo>
                    <a:pt x="233362" y="157099"/>
                  </a:lnTo>
                  <a:lnTo>
                    <a:pt x="241363" y="206768"/>
                  </a:lnTo>
                  <a:lnTo>
                    <a:pt x="263677" y="249923"/>
                  </a:lnTo>
                  <a:lnTo>
                    <a:pt x="297700" y="283972"/>
                  </a:lnTo>
                  <a:lnTo>
                    <a:pt x="340842" y="306311"/>
                  </a:lnTo>
                  <a:lnTo>
                    <a:pt x="390525" y="314325"/>
                  </a:lnTo>
                  <a:lnTo>
                    <a:pt x="2876550" y="314325"/>
                  </a:lnTo>
                  <a:lnTo>
                    <a:pt x="2926207" y="306311"/>
                  </a:lnTo>
                  <a:lnTo>
                    <a:pt x="2969361" y="283972"/>
                  </a:lnTo>
                  <a:lnTo>
                    <a:pt x="3003410" y="249923"/>
                  </a:lnTo>
                  <a:lnTo>
                    <a:pt x="3025749" y="206768"/>
                  </a:lnTo>
                  <a:lnTo>
                    <a:pt x="3033776" y="157099"/>
                  </a:lnTo>
                  <a:close/>
                </a:path>
                <a:path w="9144000" h="3853179">
                  <a:moveTo>
                    <a:pt x="9144000" y="3738499"/>
                  </a:moveTo>
                  <a:lnTo>
                    <a:pt x="0" y="3738499"/>
                  </a:lnTo>
                  <a:lnTo>
                    <a:pt x="0" y="3852799"/>
                  </a:lnTo>
                  <a:lnTo>
                    <a:pt x="9144000" y="3852799"/>
                  </a:lnTo>
                  <a:lnTo>
                    <a:pt x="9144000" y="3738499"/>
                  </a:lnTo>
                  <a:close/>
                </a:path>
              </a:pathLst>
            </a:custGeom>
            <a:solidFill>
              <a:srgbClr val="1B4F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33362" y="1290700"/>
              <a:ext cx="2800985" cy="314325"/>
            </a:xfrm>
            <a:custGeom>
              <a:avLst/>
              <a:gdLst/>
              <a:ahLst/>
              <a:cxnLst/>
              <a:rect l="l" t="t" r="r" b="b"/>
              <a:pathLst>
                <a:path w="2800985" h="314325">
                  <a:moveTo>
                    <a:pt x="0" y="157099"/>
                  </a:moveTo>
                  <a:lnTo>
                    <a:pt x="8011" y="107452"/>
                  </a:lnTo>
                  <a:lnTo>
                    <a:pt x="30321" y="64328"/>
                  </a:lnTo>
                  <a:lnTo>
                    <a:pt x="64341" y="30317"/>
                  </a:lnTo>
                  <a:lnTo>
                    <a:pt x="107484" y="8011"/>
                  </a:lnTo>
                  <a:lnTo>
                    <a:pt x="157162" y="0"/>
                  </a:lnTo>
                  <a:lnTo>
                    <a:pt x="2643187" y="0"/>
                  </a:lnTo>
                  <a:lnTo>
                    <a:pt x="2692847" y="8011"/>
                  </a:lnTo>
                  <a:lnTo>
                    <a:pt x="2736003" y="30317"/>
                  </a:lnTo>
                  <a:lnTo>
                    <a:pt x="2770051" y="64328"/>
                  </a:lnTo>
                  <a:lnTo>
                    <a:pt x="2792389" y="107452"/>
                  </a:lnTo>
                  <a:lnTo>
                    <a:pt x="2800413" y="157099"/>
                  </a:lnTo>
                  <a:lnTo>
                    <a:pt x="2792389" y="206759"/>
                  </a:lnTo>
                  <a:lnTo>
                    <a:pt x="2770051" y="249914"/>
                  </a:lnTo>
                  <a:lnTo>
                    <a:pt x="2736003" y="283962"/>
                  </a:lnTo>
                  <a:lnTo>
                    <a:pt x="2692847" y="306300"/>
                  </a:lnTo>
                  <a:lnTo>
                    <a:pt x="2643187" y="314325"/>
                  </a:lnTo>
                  <a:lnTo>
                    <a:pt x="157162" y="314325"/>
                  </a:lnTo>
                  <a:lnTo>
                    <a:pt x="107484" y="306300"/>
                  </a:lnTo>
                  <a:lnTo>
                    <a:pt x="64341" y="283962"/>
                  </a:lnTo>
                  <a:lnTo>
                    <a:pt x="30321" y="249914"/>
                  </a:lnTo>
                  <a:lnTo>
                    <a:pt x="8011" y="206759"/>
                  </a:lnTo>
                  <a:lnTo>
                    <a:pt x="0" y="157099"/>
                  </a:lnTo>
                  <a:close/>
                </a:path>
              </a:pathLst>
            </a:custGeom>
            <a:ln w="12700">
              <a:solidFill>
                <a:srgbClr val="1B4F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875347" y="1356423"/>
            <a:ext cx="151066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①</a:t>
            </a:r>
            <a:r>
              <a:rPr dirty="0" sz="9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9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dirty="0" sz="90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 Preprocessing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132201" y="1284350"/>
            <a:ext cx="2813050" cy="327025"/>
            <a:chOff x="3132201" y="1284350"/>
            <a:chExt cx="2813050" cy="327025"/>
          </a:xfrm>
        </p:grpSpPr>
        <p:sp>
          <p:nvSpPr>
            <p:cNvPr id="10" name="object 10" descr=""/>
            <p:cNvSpPr/>
            <p:nvPr/>
          </p:nvSpPr>
          <p:spPr>
            <a:xfrm>
              <a:off x="3138551" y="1290700"/>
              <a:ext cx="2800350" cy="314325"/>
            </a:xfrm>
            <a:custGeom>
              <a:avLst/>
              <a:gdLst/>
              <a:ahLst/>
              <a:cxnLst/>
              <a:rect l="l" t="t" r="r" b="b"/>
              <a:pathLst>
                <a:path w="2800350" h="314325">
                  <a:moveTo>
                    <a:pt x="2643124" y="0"/>
                  </a:moveTo>
                  <a:lnTo>
                    <a:pt x="157099" y="0"/>
                  </a:lnTo>
                  <a:lnTo>
                    <a:pt x="107452" y="8011"/>
                  </a:lnTo>
                  <a:lnTo>
                    <a:pt x="64328" y="30317"/>
                  </a:lnTo>
                  <a:lnTo>
                    <a:pt x="30317" y="64328"/>
                  </a:lnTo>
                  <a:lnTo>
                    <a:pt x="8011" y="107452"/>
                  </a:lnTo>
                  <a:lnTo>
                    <a:pt x="0" y="157099"/>
                  </a:lnTo>
                  <a:lnTo>
                    <a:pt x="8011" y="206759"/>
                  </a:lnTo>
                  <a:lnTo>
                    <a:pt x="30317" y="249914"/>
                  </a:lnTo>
                  <a:lnTo>
                    <a:pt x="64328" y="283962"/>
                  </a:lnTo>
                  <a:lnTo>
                    <a:pt x="107452" y="306300"/>
                  </a:lnTo>
                  <a:lnTo>
                    <a:pt x="157099" y="314325"/>
                  </a:lnTo>
                  <a:lnTo>
                    <a:pt x="2643124" y="314325"/>
                  </a:lnTo>
                  <a:lnTo>
                    <a:pt x="2692784" y="306300"/>
                  </a:lnTo>
                  <a:lnTo>
                    <a:pt x="2735939" y="283962"/>
                  </a:lnTo>
                  <a:lnTo>
                    <a:pt x="2769987" y="249914"/>
                  </a:lnTo>
                  <a:lnTo>
                    <a:pt x="2792325" y="206759"/>
                  </a:lnTo>
                  <a:lnTo>
                    <a:pt x="2800350" y="157099"/>
                  </a:lnTo>
                  <a:lnTo>
                    <a:pt x="2792325" y="107452"/>
                  </a:lnTo>
                  <a:lnTo>
                    <a:pt x="2769987" y="64328"/>
                  </a:lnTo>
                  <a:lnTo>
                    <a:pt x="2735939" y="30317"/>
                  </a:lnTo>
                  <a:lnTo>
                    <a:pt x="2692784" y="8011"/>
                  </a:lnTo>
                  <a:lnTo>
                    <a:pt x="2643124" y="0"/>
                  </a:lnTo>
                  <a:close/>
                </a:path>
              </a:pathLst>
            </a:custGeom>
            <a:solidFill>
              <a:srgbClr val="E8E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138551" y="1290700"/>
              <a:ext cx="2800350" cy="314325"/>
            </a:xfrm>
            <a:custGeom>
              <a:avLst/>
              <a:gdLst/>
              <a:ahLst/>
              <a:cxnLst/>
              <a:rect l="l" t="t" r="r" b="b"/>
              <a:pathLst>
                <a:path w="2800350" h="314325">
                  <a:moveTo>
                    <a:pt x="0" y="157099"/>
                  </a:moveTo>
                  <a:lnTo>
                    <a:pt x="8011" y="107452"/>
                  </a:lnTo>
                  <a:lnTo>
                    <a:pt x="30317" y="64328"/>
                  </a:lnTo>
                  <a:lnTo>
                    <a:pt x="64328" y="30317"/>
                  </a:lnTo>
                  <a:lnTo>
                    <a:pt x="107452" y="8011"/>
                  </a:lnTo>
                  <a:lnTo>
                    <a:pt x="157099" y="0"/>
                  </a:lnTo>
                  <a:lnTo>
                    <a:pt x="2643124" y="0"/>
                  </a:lnTo>
                  <a:lnTo>
                    <a:pt x="2692784" y="8011"/>
                  </a:lnTo>
                  <a:lnTo>
                    <a:pt x="2735939" y="30317"/>
                  </a:lnTo>
                  <a:lnTo>
                    <a:pt x="2769987" y="64328"/>
                  </a:lnTo>
                  <a:lnTo>
                    <a:pt x="2792325" y="107452"/>
                  </a:lnTo>
                  <a:lnTo>
                    <a:pt x="2800350" y="157099"/>
                  </a:lnTo>
                  <a:lnTo>
                    <a:pt x="2792325" y="206759"/>
                  </a:lnTo>
                  <a:lnTo>
                    <a:pt x="2769987" y="249914"/>
                  </a:lnTo>
                  <a:lnTo>
                    <a:pt x="2735939" y="283962"/>
                  </a:lnTo>
                  <a:lnTo>
                    <a:pt x="2692784" y="306300"/>
                  </a:lnTo>
                  <a:lnTo>
                    <a:pt x="2643124" y="314325"/>
                  </a:lnTo>
                  <a:lnTo>
                    <a:pt x="157099" y="314325"/>
                  </a:lnTo>
                  <a:lnTo>
                    <a:pt x="107452" y="306300"/>
                  </a:lnTo>
                  <a:lnTo>
                    <a:pt x="64328" y="283962"/>
                  </a:lnTo>
                  <a:lnTo>
                    <a:pt x="30317" y="249914"/>
                  </a:lnTo>
                  <a:lnTo>
                    <a:pt x="8011" y="206759"/>
                  </a:lnTo>
                  <a:lnTo>
                    <a:pt x="0" y="157099"/>
                  </a:lnTo>
                  <a:close/>
                </a:path>
              </a:pathLst>
            </a:custGeom>
            <a:ln w="12700">
              <a:solidFill>
                <a:srgbClr val="CAD3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802634" y="1356423"/>
            <a:ext cx="146939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②</a:t>
            </a:r>
            <a:r>
              <a:rPr dirty="0" sz="900" spc="-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ML</a:t>
            </a:r>
            <a:r>
              <a:rPr dirty="0" sz="900" spc="1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Model</a:t>
            </a:r>
            <a:r>
              <a:rPr dirty="0" sz="900" spc="3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C8E"/>
                </a:solidFill>
                <a:latin typeface="Calibri"/>
                <a:cs typeface="Calibri"/>
              </a:rPr>
              <a:t>Training</a:t>
            </a:r>
            <a:r>
              <a:rPr dirty="0" sz="900" spc="-3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&amp;</a:t>
            </a:r>
            <a:r>
              <a:rPr dirty="0" sz="900" spc="-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6B7C8E"/>
                </a:solidFill>
                <a:latin typeface="Calibri"/>
                <a:cs typeface="Calibri"/>
              </a:rPr>
              <a:t>QPSO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046851" y="1284350"/>
            <a:ext cx="2803525" cy="327025"/>
            <a:chOff x="6046851" y="1284350"/>
            <a:chExt cx="2803525" cy="327025"/>
          </a:xfrm>
        </p:grpSpPr>
        <p:sp>
          <p:nvSpPr>
            <p:cNvPr id="14" name="object 14" descr=""/>
            <p:cNvSpPr/>
            <p:nvPr/>
          </p:nvSpPr>
          <p:spPr>
            <a:xfrm>
              <a:off x="6053201" y="1290700"/>
              <a:ext cx="2790825" cy="314325"/>
            </a:xfrm>
            <a:custGeom>
              <a:avLst/>
              <a:gdLst/>
              <a:ahLst/>
              <a:cxnLst/>
              <a:rect l="l" t="t" r="r" b="b"/>
              <a:pathLst>
                <a:path w="2790825" h="314325">
                  <a:moveTo>
                    <a:pt x="2633599" y="0"/>
                  </a:moveTo>
                  <a:lnTo>
                    <a:pt x="157099" y="0"/>
                  </a:lnTo>
                  <a:lnTo>
                    <a:pt x="107452" y="8011"/>
                  </a:lnTo>
                  <a:lnTo>
                    <a:pt x="64328" y="30317"/>
                  </a:lnTo>
                  <a:lnTo>
                    <a:pt x="30317" y="64328"/>
                  </a:lnTo>
                  <a:lnTo>
                    <a:pt x="8011" y="107452"/>
                  </a:lnTo>
                  <a:lnTo>
                    <a:pt x="0" y="157099"/>
                  </a:lnTo>
                  <a:lnTo>
                    <a:pt x="8011" y="206759"/>
                  </a:lnTo>
                  <a:lnTo>
                    <a:pt x="30317" y="249914"/>
                  </a:lnTo>
                  <a:lnTo>
                    <a:pt x="64328" y="283962"/>
                  </a:lnTo>
                  <a:lnTo>
                    <a:pt x="107452" y="306300"/>
                  </a:lnTo>
                  <a:lnTo>
                    <a:pt x="157099" y="314325"/>
                  </a:lnTo>
                  <a:lnTo>
                    <a:pt x="2633599" y="314325"/>
                  </a:lnTo>
                  <a:lnTo>
                    <a:pt x="2683259" y="306300"/>
                  </a:lnTo>
                  <a:lnTo>
                    <a:pt x="2726414" y="283962"/>
                  </a:lnTo>
                  <a:lnTo>
                    <a:pt x="2760462" y="249914"/>
                  </a:lnTo>
                  <a:lnTo>
                    <a:pt x="2782800" y="206759"/>
                  </a:lnTo>
                  <a:lnTo>
                    <a:pt x="2790825" y="157099"/>
                  </a:lnTo>
                  <a:lnTo>
                    <a:pt x="2782800" y="107452"/>
                  </a:lnTo>
                  <a:lnTo>
                    <a:pt x="2760462" y="64328"/>
                  </a:lnTo>
                  <a:lnTo>
                    <a:pt x="2726414" y="30317"/>
                  </a:lnTo>
                  <a:lnTo>
                    <a:pt x="2683259" y="8011"/>
                  </a:lnTo>
                  <a:lnTo>
                    <a:pt x="2633599" y="0"/>
                  </a:lnTo>
                  <a:close/>
                </a:path>
              </a:pathLst>
            </a:custGeom>
            <a:solidFill>
              <a:srgbClr val="E8E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053201" y="1290700"/>
              <a:ext cx="2790825" cy="314325"/>
            </a:xfrm>
            <a:custGeom>
              <a:avLst/>
              <a:gdLst/>
              <a:ahLst/>
              <a:cxnLst/>
              <a:rect l="l" t="t" r="r" b="b"/>
              <a:pathLst>
                <a:path w="2790825" h="314325">
                  <a:moveTo>
                    <a:pt x="0" y="157099"/>
                  </a:moveTo>
                  <a:lnTo>
                    <a:pt x="8011" y="107452"/>
                  </a:lnTo>
                  <a:lnTo>
                    <a:pt x="30317" y="64328"/>
                  </a:lnTo>
                  <a:lnTo>
                    <a:pt x="64328" y="30317"/>
                  </a:lnTo>
                  <a:lnTo>
                    <a:pt x="107452" y="8011"/>
                  </a:lnTo>
                  <a:lnTo>
                    <a:pt x="157099" y="0"/>
                  </a:lnTo>
                  <a:lnTo>
                    <a:pt x="2633599" y="0"/>
                  </a:lnTo>
                  <a:lnTo>
                    <a:pt x="2683259" y="8011"/>
                  </a:lnTo>
                  <a:lnTo>
                    <a:pt x="2726414" y="30317"/>
                  </a:lnTo>
                  <a:lnTo>
                    <a:pt x="2760462" y="64328"/>
                  </a:lnTo>
                  <a:lnTo>
                    <a:pt x="2782800" y="107452"/>
                  </a:lnTo>
                  <a:lnTo>
                    <a:pt x="2790825" y="157099"/>
                  </a:lnTo>
                  <a:lnTo>
                    <a:pt x="2782800" y="206759"/>
                  </a:lnTo>
                  <a:lnTo>
                    <a:pt x="2760462" y="249914"/>
                  </a:lnTo>
                  <a:lnTo>
                    <a:pt x="2726414" y="283962"/>
                  </a:lnTo>
                  <a:lnTo>
                    <a:pt x="2683259" y="306300"/>
                  </a:lnTo>
                  <a:lnTo>
                    <a:pt x="2633599" y="314325"/>
                  </a:lnTo>
                  <a:lnTo>
                    <a:pt x="157099" y="314325"/>
                  </a:lnTo>
                  <a:lnTo>
                    <a:pt x="107452" y="306300"/>
                  </a:lnTo>
                  <a:lnTo>
                    <a:pt x="64328" y="283962"/>
                  </a:lnTo>
                  <a:lnTo>
                    <a:pt x="30317" y="249914"/>
                  </a:lnTo>
                  <a:lnTo>
                    <a:pt x="8011" y="206759"/>
                  </a:lnTo>
                  <a:lnTo>
                    <a:pt x="0" y="157099"/>
                  </a:lnTo>
                  <a:close/>
                </a:path>
              </a:pathLst>
            </a:custGeom>
            <a:ln w="12700">
              <a:solidFill>
                <a:srgbClr val="CAD3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970141" y="1356423"/>
            <a:ext cx="96583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③</a:t>
            </a:r>
            <a:r>
              <a:rPr dirty="0" sz="900" spc="-1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Detection</a:t>
            </a:r>
            <a:r>
              <a:rPr dirty="0" sz="900" spc="-1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&amp;</a:t>
            </a:r>
            <a:r>
              <a:rPr dirty="0" sz="900" spc="-7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6B7C8E"/>
                </a:solidFill>
                <a:latin typeface="Calibri"/>
                <a:cs typeface="Calibri"/>
              </a:rPr>
              <a:t>GUI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14325" y="1562036"/>
            <a:ext cx="6796405" cy="1224280"/>
            <a:chOff x="314325" y="1562036"/>
            <a:chExt cx="6796405" cy="122428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325" y="1800225"/>
              <a:ext cx="657225" cy="65722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50" y="1562036"/>
              <a:ext cx="6138926" cy="1223962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157287" y="1671701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5756846" y="0"/>
                  </a:moveTo>
                  <a:lnTo>
                    <a:pt x="91516" y="0"/>
                  </a:lnTo>
                  <a:lnTo>
                    <a:pt x="55892" y="7179"/>
                  </a:lnTo>
                  <a:lnTo>
                    <a:pt x="26803" y="26765"/>
                  </a:lnTo>
                  <a:lnTo>
                    <a:pt x="7191" y="55828"/>
                  </a:lnTo>
                  <a:lnTo>
                    <a:pt x="0" y="91439"/>
                  </a:lnTo>
                  <a:lnTo>
                    <a:pt x="0" y="841882"/>
                  </a:lnTo>
                  <a:lnTo>
                    <a:pt x="7191" y="877514"/>
                  </a:lnTo>
                  <a:lnTo>
                    <a:pt x="26803" y="906621"/>
                  </a:lnTo>
                  <a:lnTo>
                    <a:pt x="55892" y="926250"/>
                  </a:lnTo>
                  <a:lnTo>
                    <a:pt x="91516" y="933450"/>
                  </a:lnTo>
                  <a:lnTo>
                    <a:pt x="5756846" y="933450"/>
                  </a:lnTo>
                  <a:lnTo>
                    <a:pt x="5792477" y="926250"/>
                  </a:lnTo>
                  <a:lnTo>
                    <a:pt x="5821584" y="906621"/>
                  </a:lnTo>
                  <a:lnTo>
                    <a:pt x="5841214" y="877514"/>
                  </a:lnTo>
                  <a:lnTo>
                    <a:pt x="5848413" y="841882"/>
                  </a:lnTo>
                  <a:lnTo>
                    <a:pt x="5848413" y="91439"/>
                  </a:lnTo>
                  <a:lnTo>
                    <a:pt x="5841214" y="55828"/>
                  </a:lnTo>
                  <a:lnTo>
                    <a:pt x="5821584" y="26765"/>
                  </a:lnTo>
                  <a:lnTo>
                    <a:pt x="5792477" y="7179"/>
                  </a:lnTo>
                  <a:lnTo>
                    <a:pt x="5756846" y="0"/>
                  </a:lnTo>
                  <a:close/>
                </a:path>
              </a:pathLst>
            </a:custGeom>
            <a:solidFill>
              <a:srgbClr val="1B4F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157287" y="1671701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0" y="91439"/>
                  </a:moveTo>
                  <a:lnTo>
                    <a:pt x="7191" y="55828"/>
                  </a:lnTo>
                  <a:lnTo>
                    <a:pt x="26803" y="26765"/>
                  </a:lnTo>
                  <a:lnTo>
                    <a:pt x="55892" y="7179"/>
                  </a:lnTo>
                  <a:lnTo>
                    <a:pt x="91516" y="0"/>
                  </a:lnTo>
                  <a:lnTo>
                    <a:pt x="5756846" y="0"/>
                  </a:lnTo>
                  <a:lnTo>
                    <a:pt x="5792477" y="7179"/>
                  </a:lnTo>
                  <a:lnTo>
                    <a:pt x="5821584" y="26765"/>
                  </a:lnTo>
                  <a:lnTo>
                    <a:pt x="5841214" y="55828"/>
                  </a:lnTo>
                  <a:lnTo>
                    <a:pt x="5848413" y="91439"/>
                  </a:lnTo>
                  <a:lnTo>
                    <a:pt x="5848413" y="841882"/>
                  </a:lnTo>
                  <a:lnTo>
                    <a:pt x="5841214" y="877514"/>
                  </a:lnTo>
                  <a:lnTo>
                    <a:pt x="5821584" y="906621"/>
                  </a:lnTo>
                  <a:lnTo>
                    <a:pt x="5792477" y="926250"/>
                  </a:lnTo>
                  <a:lnTo>
                    <a:pt x="5756846" y="933450"/>
                  </a:lnTo>
                  <a:lnTo>
                    <a:pt x="91516" y="933450"/>
                  </a:lnTo>
                  <a:lnTo>
                    <a:pt x="55892" y="926250"/>
                  </a:lnTo>
                  <a:lnTo>
                    <a:pt x="26803" y="906621"/>
                  </a:lnTo>
                  <a:lnTo>
                    <a:pt x="7191" y="877514"/>
                  </a:lnTo>
                  <a:lnTo>
                    <a:pt x="0" y="841882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1B4F8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50" y="2066925"/>
              <a:ext cx="66675" cy="6667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50" y="2295525"/>
              <a:ext cx="66675" cy="66675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1305560" y="1754822"/>
            <a:ext cx="220599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dirty="0" sz="1200" spc="-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Input</a:t>
            </a:r>
            <a:endParaRPr sz="120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755"/>
              </a:spcBef>
            </a:pP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NSL-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KDD</a:t>
            </a:r>
            <a:r>
              <a:rPr dirty="0" sz="950" spc="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Dataset</a:t>
            </a:r>
            <a:r>
              <a:rPr dirty="0" sz="950" spc="204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&amp;</a:t>
            </a:r>
            <a:r>
              <a:rPr dirty="0" sz="950" spc="23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UNSW-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NB15</a:t>
            </a:r>
            <a:r>
              <a:rPr dirty="0" sz="950" spc="-3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Dataset</a:t>
            </a:r>
            <a:endParaRPr sz="950">
              <a:latin typeface="Calibri"/>
              <a:cs typeface="Calibri"/>
            </a:endParaRPr>
          </a:p>
          <a:p>
            <a:pPr marL="140335">
              <a:lnSpc>
                <a:spcPct val="100000"/>
              </a:lnSpc>
              <a:spcBef>
                <a:spcPts val="665"/>
              </a:spcBef>
            </a:pP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Real-world</a:t>
            </a:r>
            <a:r>
              <a:rPr dirty="0" sz="950" spc="-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network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 traffic</a:t>
            </a:r>
            <a:r>
              <a:rPr dirty="0" sz="950" spc="3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D7EAF5"/>
                </a:solidFill>
                <a:latin typeface="Calibri"/>
                <a:cs typeface="Calibri"/>
              </a:rPr>
              <a:t>logs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314325" y="2515127"/>
            <a:ext cx="6796405" cy="2319020"/>
            <a:chOff x="314325" y="2515127"/>
            <a:chExt cx="6796405" cy="2319020"/>
          </a:xfrm>
        </p:grpSpPr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0224" y="2515127"/>
              <a:ext cx="171149" cy="17104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4325" y="2828925"/>
              <a:ext cx="657225" cy="657225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1550" y="2581338"/>
              <a:ext cx="6138926" cy="1223962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157287" y="2690876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5756846" y="0"/>
                  </a:moveTo>
                  <a:lnTo>
                    <a:pt x="91516" y="0"/>
                  </a:lnTo>
                  <a:lnTo>
                    <a:pt x="55892" y="7179"/>
                  </a:lnTo>
                  <a:lnTo>
                    <a:pt x="26803" y="26765"/>
                  </a:lnTo>
                  <a:lnTo>
                    <a:pt x="7191" y="55828"/>
                  </a:lnTo>
                  <a:lnTo>
                    <a:pt x="0" y="91440"/>
                  </a:lnTo>
                  <a:lnTo>
                    <a:pt x="0" y="841883"/>
                  </a:lnTo>
                  <a:lnTo>
                    <a:pt x="7191" y="877514"/>
                  </a:lnTo>
                  <a:lnTo>
                    <a:pt x="26803" y="906621"/>
                  </a:lnTo>
                  <a:lnTo>
                    <a:pt x="55892" y="926250"/>
                  </a:lnTo>
                  <a:lnTo>
                    <a:pt x="91516" y="933450"/>
                  </a:lnTo>
                  <a:lnTo>
                    <a:pt x="5756846" y="933450"/>
                  </a:lnTo>
                  <a:lnTo>
                    <a:pt x="5792477" y="926250"/>
                  </a:lnTo>
                  <a:lnTo>
                    <a:pt x="5821584" y="906621"/>
                  </a:lnTo>
                  <a:lnTo>
                    <a:pt x="5841214" y="877514"/>
                  </a:lnTo>
                  <a:lnTo>
                    <a:pt x="5848413" y="841883"/>
                  </a:lnTo>
                  <a:lnTo>
                    <a:pt x="5848413" y="91440"/>
                  </a:lnTo>
                  <a:lnTo>
                    <a:pt x="5841214" y="55828"/>
                  </a:lnTo>
                  <a:lnTo>
                    <a:pt x="5821584" y="26765"/>
                  </a:lnTo>
                  <a:lnTo>
                    <a:pt x="5792477" y="7179"/>
                  </a:lnTo>
                  <a:lnTo>
                    <a:pt x="5756846" y="0"/>
                  </a:lnTo>
                  <a:close/>
                </a:path>
              </a:pathLst>
            </a:custGeom>
            <a:solidFill>
              <a:srgbClr val="0079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157287" y="2690876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0" y="91440"/>
                  </a:moveTo>
                  <a:lnTo>
                    <a:pt x="7191" y="55828"/>
                  </a:lnTo>
                  <a:lnTo>
                    <a:pt x="26803" y="26765"/>
                  </a:lnTo>
                  <a:lnTo>
                    <a:pt x="55892" y="7179"/>
                  </a:lnTo>
                  <a:lnTo>
                    <a:pt x="91516" y="0"/>
                  </a:lnTo>
                  <a:lnTo>
                    <a:pt x="5756846" y="0"/>
                  </a:lnTo>
                  <a:lnTo>
                    <a:pt x="5792477" y="7179"/>
                  </a:lnTo>
                  <a:lnTo>
                    <a:pt x="5821584" y="26765"/>
                  </a:lnTo>
                  <a:lnTo>
                    <a:pt x="5841214" y="55828"/>
                  </a:lnTo>
                  <a:lnTo>
                    <a:pt x="5848413" y="91440"/>
                  </a:lnTo>
                  <a:lnTo>
                    <a:pt x="5848413" y="841883"/>
                  </a:lnTo>
                  <a:lnTo>
                    <a:pt x="5841214" y="877514"/>
                  </a:lnTo>
                  <a:lnTo>
                    <a:pt x="5821584" y="906621"/>
                  </a:lnTo>
                  <a:lnTo>
                    <a:pt x="5792477" y="926250"/>
                  </a:lnTo>
                  <a:lnTo>
                    <a:pt x="5756846" y="933450"/>
                  </a:lnTo>
                  <a:lnTo>
                    <a:pt x="91516" y="933450"/>
                  </a:lnTo>
                  <a:lnTo>
                    <a:pt x="55892" y="926250"/>
                  </a:lnTo>
                  <a:lnTo>
                    <a:pt x="26803" y="906621"/>
                  </a:lnTo>
                  <a:lnTo>
                    <a:pt x="7191" y="877514"/>
                  </a:lnTo>
                  <a:lnTo>
                    <a:pt x="0" y="841883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00798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50" y="3086100"/>
              <a:ext cx="66675" cy="66675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50" y="3314700"/>
              <a:ext cx="66675" cy="66675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0224" y="3543827"/>
              <a:ext cx="171149" cy="17104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4325" y="3848100"/>
              <a:ext cx="657225" cy="657225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1550" y="3609975"/>
              <a:ext cx="6138926" cy="1223962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157287" y="3719576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5756846" y="0"/>
                  </a:moveTo>
                  <a:lnTo>
                    <a:pt x="91516" y="0"/>
                  </a:lnTo>
                  <a:lnTo>
                    <a:pt x="55892" y="7179"/>
                  </a:lnTo>
                  <a:lnTo>
                    <a:pt x="26803" y="26765"/>
                  </a:lnTo>
                  <a:lnTo>
                    <a:pt x="7191" y="55828"/>
                  </a:lnTo>
                  <a:lnTo>
                    <a:pt x="0" y="91440"/>
                  </a:lnTo>
                  <a:lnTo>
                    <a:pt x="0" y="841870"/>
                  </a:lnTo>
                  <a:lnTo>
                    <a:pt x="7191" y="877493"/>
                  </a:lnTo>
                  <a:lnTo>
                    <a:pt x="26803" y="906583"/>
                  </a:lnTo>
                  <a:lnTo>
                    <a:pt x="55892" y="926195"/>
                  </a:lnTo>
                  <a:lnTo>
                    <a:pt x="91516" y="933386"/>
                  </a:lnTo>
                  <a:lnTo>
                    <a:pt x="5756846" y="933386"/>
                  </a:lnTo>
                  <a:lnTo>
                    <a:pt x="5792477" y="926195"/>
                  </a:lnTo>
                  <a:lnTo>
                    <a:pt x="5821584" y="906583"/>
                  </a:lnTo>
                  <a:lnTo>
                    <a:pt x="5841214" y="877493"/>
                  </a:lnTo>
                  <a:lnTo>
                    <a:pt x="5848413" y="841870"/>
                  </a:lnTo>
                  <a:lnTo>
                    <a:pt x="5848413" y="91440"/>
                  </a:lnTo>
                  <a:lnTo>
                    <a:pt x="5841214" y="55828"/>
                  </a:lnTo>
                  <a:lnTo>
                    <a:pt x="5821584" y="26765"/>
                  </a:lnTo>
                  <a:lnTo>
                    <a:pt x="5792477" y="7179"/>
                  </a:lnTo>
                  <a:lnTo>
                    <a:pt x="5756846" y="0"/>
                  </a:lnTo>
                  <a:close/>
                </a:path>
              </a:pathLst>
            </a:custGeom>
            <a:solidFill>
              <a:srgbClr val="DF5A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157287" y="3719576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0" y="91440"/>
                  </a:moveTo>
                  <a:lnTo>
                    <a:pt x="7191" y="55828"/>
                  </a:lnTo>
                  <a:lnTo>
                    <a:pt x="26803" y="26765"/>
                  </a:lnTo>
                  <a:lnTo>
                    <a:pt x="55892" y="7179"/>
                  </a:lnTo>
                  <a:lnTo>
                    <a:pt x="91516" y="0"/>
                  </a:lnTo>
                  <a:lnTo>
                    <a:pt x="5756846" y="0"/>
                  </a:lnTo>
                  <a:lnTo>
                    <a:pt x="5792477" y="7179"/>
                  </a:lnTo>
                  <a:lnTo>
                    <a:pt x="5821584" y="26765"/>
                  </a:lnTo>
                  <a:lnTo>
                    <a:pt x="5841214" y="55828"/>
                  </a:lnTo>
                  <a:lnTo>
                    <a:pt x="5848413" y="91440"/>
                  </a:lnTo>
                  <a:lnTo>
                    <a:pt x="5848413" y="841870"/>
                  </a:lnTo>
                  <a:lnTo>
                    <a:pt x="5841214" y="877493"/>
                  </a:lnTo>
                  <a:lnTo>
                    <a:pt x="5821584" y="906583"/>
                  </a:lnTo>
                  <a:lnTo>
                    <a:pt x="5792477" y="926195"/>
                  </a:lnTo>
                  <a:lnTo>
                    <a:pt x="5756846" y="933386"/>
                  </a:lnTo>
                  <a:lnTo>
                    <a:pt x="91516" y="933386"/>
                  </a:lnTo>
                  <a:lnTo>
                    <a:pt x="55892" y="926195"/>
                  </a:lnTo>
                  <a:lnTo>
                    <a:pt x="26803" y="906583"/>
                  </a:lnTo>
                  <a:lnTo>
                    <a:pt x="7191" y="877493"/>
                  </a:lnTo>
                  <a:lnTo>
                    <a:pt x="0" y="841870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DF5A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14450" y="4114800"/>
              <a:ext cx="66675" cy="66675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14450" y="4343400"/>
              <a:ext cx="66675" cy="66675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/>
          <p:nvPr/>
        </p:nvSpPr>
        <p:spPr>
          <a:xfrm>
            <a:off x="1305560" y="2780982"/>
            <a:ext cx="2319020" cy="1705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dirty="0" sz="1200" spc="-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Preprocessing</a:t>
            </a:r>
            <a:endParaRPr sz="1200">
              <a:latin typeface="Cambria"/>
              <a:cs typeface="Cambria"/>
            </a:endParaRPr>
          </a:p>
          <a:p>
            <a:pPr marL="140335" marR="5080">
              <a:lnSpc>
                <a:spcPct val="158200"/>
              </a:lnSpc>
              <a:spcBef>
                <a:spcPts val="95"/>
              </a:spcBef>
            </a:pP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Normalization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—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Min-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Max</a:t>
            </a:r>
            <a:r>
              <a:rPr dirty="0" sz="950" spc="-1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Scaling</a:t>
            </a:r>
            <a:r>
              <a:rPr dirty="0" sz="950" spc="19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·</a:t>
            </a:r>
            <a:r>
              <a:rPr dirty="0" sz="950" spc="26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Z-</a:t>
            </a:r>
            <a:r>
              <a:rPr dirty="0" sz="950" spc="-20">
                <a:solidFill>
                  <a:srgbClr val="D7EAF5"/>
                </a:solidFill>
                <a:latin typeface="Calibri"/>
                <a:cs typeface="Calibri"/>
              </a:rPr>
              <a:t>Score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 Remove</a:t>
            </a:r>
            <a:r>
              <a:rPr dirty="0" sz="950" spc="-3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noise,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nulls</a:t>
            </a:r>
            <a:r>
              <a:rPr dirty="0" sz="950" spc="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&amp;</a:t>
            </a:r>
            <a:r>
              <a:rPr dirty="0" sz="950" spc="1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duplicates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950">
              <a:latin typeface="Calibri"/>
              <a:cs typeface="Calibri"/>
            </a:endParaRPr>
          </a:p>
          <a:p>
            <a:pPr marL="140335" marR="121920" indent="-128270">
              <a:lnSpc>
                <a:spcPct val="155300"/>
              </a:lnSpc>
            </a:pPr>
            <a:r>
              <a:rPr dirty="0" sz="1200" spc="-20" b="1">
                <a:solidFill>
                  <a:srgbClr val="FFFFFF"/>
                </a:solidFill>
                <a:latin typeface="Cambria"/>
                <a:cs typeface="Cambria"/>
              </a:rPr>
              <a:t>Feature</a:t>
            </a:r>
            <a:r>
              <a:rPr dirty="0" sz="1200" spc="-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Engineering</a:t>
            </a:r>
            <a:r>
              <a:rPr dirty="0" sz="1200" spc="-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&amp;</a:t>
            </a:r>
            <a:r>
              <a:rPr dirty="0" sz="1200" spc="-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Split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Extract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30">
                <a:solidFill>
                  <a:srgbClr val="D7EAF5"/>
                </a:solidFill>
                <a:latin typeface="Calibri"/>
                <a:cs typeface="Calibri"/>
              </a:rPr>
              <a:t>41</a:t>
            </a:r>
            <a:r>
              <a:rPr dirty="0" sz="950" spc="-2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initial</a:t>
            </a:r>
            <a:r>
              <a:rPr dirty="0" sz="950" spc="-5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features</a:t>
            </a:r>
            <a:r>
              <a:rPr dirty="0" sz="950" spc="1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from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traffic</a:t>
            </a:r>
            <a:r>
              <a:rPr dirty="0" sz="950" spc="-1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D7EAF5"/>
                </a:solidFill>
                <a:latin typeface="Calibri"/>
                <a:cs typeface="Calibri"/>
              </a:rPr>
              <a:t>data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 80%</a:t>
            </a:r>
            <a:r>
              <a:rPr dirty="0" sz="950" spc="-2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Train</a:t>
            </a:r>
            <a:r>
              <a:rPr dirty="0" sz="950" spc="21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/</a:t>
            </a:r>
            <a:r>
              <a:rPr dirty="0" sz="950" spc="13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20%</a:t>
            </a:r>
            <a:r>
              <a:rPr dirty="0" sz="950" spc="-2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Test</a:t>
            </a:r>
            <a:r>
              <a:rPr dirty="0" sz="950" spc="2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—</a:t>
            </a:r>
            <a:r>
              <a:rPr dirty="0" sz="950" spc="-3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Stratified</a:t>
            </a:r>
            <a:r>
              <a:rPr dirty="0" sz="950" spc="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D7EAF5"/>
                </a:solidFill>
                <a:latin typeface="Calibri"/>
                <a:cs typeface="Calibri"/>
              </a:rPr>
              <a:t>split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6943725" y="1619186"/>
            <a:ext cx="2014855" cy="1109980"/>
            <a:chOff x="6943725" y="1619186"/>
            <a:chExt cx="2014855" cy="1109980"/>
          </a:xfrm>
        </p:grpSpPr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43725" y="1619186"/>
              <a:ext cx="2014601" cy="1109662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7134225" y="1733550"/>
              <a:ext cx="1714500" cy="809625"/>
            </a:xfrm>
            <a:custGeom>
              <a:avLst/>
              <a:gdLst/>
              <a:ahLst/>
              <a:cxnLst/>
              <a:rect l="l" t="t" r="r" b="b"/>
              <a:pathLst>
                <a:path w="1714500" h="809625">
                  <a:moveTo>
                    <a:pt x="1640840" y="0"/>
                  </a:moveTo>
                  <a:lnTo>
                    <a:pt x="73659" y="0"/>
                  </a:lnTo>
                  <a:lnTo>
                    <a:pt x="44952" y="5776"/>
                  </a:lnTo>
                  <a:lnTo>
                    <a:pt x="21542" y="21542"/>
                  </a:lnTo>
                  <a:lnTo>
                    <a:pt x="5776" y="44952"/>
                  </a:lnTo>
                  <a:lnTo>
                    <a:pt x="0" y="73660"/>
                  </a:lnTo>
                  <a:lnTo>
                    <a:pt x="0" y="735964"/>
                  </a:lnTo>
                  <a:lnTo>
                    <a:pt x="5776" y="764672"/>
                  </a:lnTo>
                  <a:lnTo>
                    <a:pt x="21542" y="788082"/>
                  </a:lnTo>
                  <a:lnTo>
                    <a:pt x="44952" y="803848"/>
                  </a:lnTo>
                  <a:lnTo>
                    <a:pt x="73659" y="809625"/>
                  </a:lnTo>
                  <a:lnTo>
                    <a:pt x="1640840" y="809625"/>
                  </a:lnTo>
                  <a:lnTo>
                    <a:pt x="1669547" y="803848"/>
                  </a:lnTo>
                  <a:lnTo>
                    <a:pt x="1692957" y="788082"/>
                  </a:lnTo>
                  <a:lnTo>
                    <a:pt x="1708723" y="764672"/>
                  </a:lnTo>
                  <a:lnTo>
                    <a:pt x="1714500" y="735964"/>
                  </a:lnTo>
                  <a:lnTo>
                    <a:pt x="1714500" y="73660"/>
                  </a:lnTo>
                  <a:lnTo>
                    <a:pt x="1708723" y="44952"/>
                  </a:lnTo>
                  <a:lnTo>
                    <a:pt x="1692957" y="21542"/>
                  </a:lnTo>
                  <a:lnTo>
                    <a:pt x="1669547" y="5776"/>
                  </a:lnTo>
                  <a:lnTo>
                    <a:pt x="1640840" y="0"/>
                  </a:lnTo>
                  <a:close/>
                </a:path>
              </a:pathLst>
            </a:custGeom>
            <a:solidFill>
              <a:srgbClr val="1B4F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134225" y="1733550"/>
              <a:ext cx="1714500" cy="809625"/>
            </a:xfrm>
            <a:custGeom>
              <a:avLst/>
              <a:gdLst/>
              <a:ahLst/>
              <a:cxnLst/>
              <a:rect l="l" t="t" r="r" b="b"/>
              <a:pathLst>
                <a:path w="1714500" h="809625">
                  <a:moveTo>
                    <a:pt x="0" y="73660"/>
                  </a:moveTo>
                  <a:lnTo>
                    <a:pt x="5776" y="44952"/>
                  </a:lnTo>
                  <a:lnTo>
                    <a:pt x="21542" y="21542"/>
                  </a:lnTo>
                  <a:lnTo>
                    <a:pt x="44952" y="5776"/>
                  </a:lnTo>
                  <a:lnTo>
                    <a:pt x="73659" y="0"/>
                  </a:lnTo>
                  <a:lnTo>
                    <a:pt x="1640840" y="0"/>
                  </a:lnTo>
                  <a:lnTo>
                    <a:pt x="1669547" y="5776"/>
                  </a:lnTo>
                  <a:lnTo>
                    <a:pt x="1692957" y="21542"/>
                  </a:lnTo>
                  <a:lnTo>
                    <a:pt x="1708723" y="44952"/>
                  </a:lnTo>
                  <a:lnTo>
                    <a:pt x="1714500" y="73660"/>
                  </a:lnTo>
                  <a:lnTo>
                    <a:pt x="1714500" y="735964"/>
                  </a:lnTo>
                  <a:lnTo>
                    <a:pt x="1708723" y="764672"/>
                  </a:lnTo>
                  <a:lnTo>
                    <a:pt x="1692957" y="788082"/>
                  </a:lnTo>
                  <a:lnTo>
                    <a:pt x="1669547" y="803848"/>
                  </a:lnTo>
                  <a:lnTo>
                    <a:pt x="1640840" y="809625"/>
                  </a:lnTo>
                  <a:lnTo>
                    <a:pt x="73659" y="809625"/>
                  </a:lnTo>
                  <a:lnTo>
                    <a:pt x="44952" y="803848"/>
                  </a:lnTo>
                  <a:lnTo>
                    <a:pt x="21542" y="788082"/>
                  </a:lnTo>
                  <a:lnTo>
                    <a:pt x="5776" y="764672"/>
                  </a:lnTo>
                  <a:lnTo>
                    <a:pt x="0" y="735964"/>
                  </a:lnTo>
                  <a:lnTo>
                    <a:pt x="0" y="7366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134225" y="1733550"/>
              <a:ext cx="1714500" cy="295275"/>
            </a:xfrm>
            <a:custGeom>
              <a:avLst/>
              <a:gdLst/>
              <a:ahLst/>
              <a:cxnLst/>
              <a:rect l="l" t="t" r="r" b="b"/>
              <a:pathLst>
                <a:path w="1714500" h="295275">
                  <a:moveTo>
                    <a:pt x="1640713" y="0"/>
                  </a:moveTo>
                  <a:lnTo>
                    <a:pt x="73786" y="0"/>
                  </a:lnTo>
                  <a:lnTo>
                    <a:pt x="45059" y="5796"/>
                  </a:lnTo>
                  <a:lnTo>
                    <a:pt x="21605" y="21605"/>
                  </a:lnTo>
                  <a:lnTo>
                    <a:pt x="5796" y="45059"/>
                  </a:lnTo>
                  <a:lnTo>
                    <a:pt x="0" y="73787"/>
                  </a:lnTo>
                  <a:lnTo>
                    <a:pt x="0" y="221487"/>
                  </a:lnTo>
                  <a:lnTo>
                    <a:pt x="5796" y="250215"/>
                  </a:lnTo>
                  <a:lnTo>
                    <a:pt x="21605" y="273669"/>
                  </a:lnTo>
                  <a:lnTo>
                    <a:pt x="45059" y="289478"/>
                  </a:lnTo>
                  <a:lnTo>
                    <a:pt x="73786" y="295275"/>
                  </a:lnTo>
                  <a:lnTo>
                    <a:pt x="1640713" y="295275"/>
                  </a:lnTo>
                  <a:lnTo>
                    <a:pt x="1669440" y="289478"/>
                  </a:lnTo>
                  <a:lnTo>
                    <a:pt x="1692894" y="273669"/>
                  </a:lnTo>
                  <a:lnTo>
                    <a:pt x="1708703" y="250215"/>
                  </a:lnTo>
                  <a:lnTo>
                    <a:pt x="1714500" y="221487"/>
                  </a:lnTo>
                  <a:lnTo>
                    <a:pt x="1714500" y="73787"/>
                  </a:lnTo>
                  <a:lnTo>
                    <a:pt x="1708703" y="45059"/>
                  </a:lnTo>
                  <a:lnTo>
                    <a:pt x="1692894" y="21605"/>
                  </a:lnTo>
                  <a:lnTo>
                    <a:pt x="1669440" y="5796"/>
                  </a:lnTo>
                  <a:lnTo>
                    <a:pt x="16407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7255256" y="1798002"/>
            <a:ext cx="8420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latin typeface="Cambria"/>
                <a:cs typeface="Cambria"/>
              </a:rPr>
              <a:t>Datasets</a:t>
            </a:r>
            <a:r>
              <a:rPr dirty="0" sz="950" spc="190" b="1">
                <a:latin typeface="Cambria"/>
                <a:cs typeface="Cambria"/>
              </a:rPr>
              <a:t> </a:t>
            </a:r>
            <a:r>
              <a:rPr dirty="0" sz="950" spc="-20" b="1">
                <a:latin typeface="Cambria"/>
                <a:cs typeface="Cambria"/>
              </a:rPr>
              <a:t>Used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7255256" y="2112962"/>
            <a:ext cx="1108710" cy="4311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97155" indent="-84455">
              <a:lnSpc>
                <a:spcPct val="100000"/>
              </a:lnSpc>
              <a:spcBef>
                <a:spcPts val="125"/>
              </a:spcBef>
              <a:buChar char="•"/>
              <a:tabLst>
                <a:tab pos="97155" algn="l"/>
              </a:tabLst>
            </a:pP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NSL-</a:t>
            </a: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KDD</a:t>
            </a:r>
            <a:r>
              <a:rPr dirty="0" sz="950" spc="15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(UNB.ca)</a:t>
            </a:r>
            <a:endParaRPr sz="950">
              <a:latin typeface="Calibri"/>
              <a:cs typeface="Calibri"/>
            </a:endParaRPr>
          </a:p>
          <a:p>
            <a:pPr marL="97155" indent="-84455">
              <a:lnSpc>
                <a:spcPct val="100000"/>
              </a:lnSpc>
              <a:spcBef>
                <a:spcPts val="880"/>
              </a:spcBef>
              <a:buChar char="•"/>
              <a:tabLst>
                <a:tab pos="97155" algn="l"/>
              </a:tabLst>
            </a:pP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UNSW-</a:t>
            </a: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NB15</a:t>
            </a:r>
            <a:r>
              <a:rPr dirty="0" sz="950" spc="45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(ADFA)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133350" y="4686300"/>
            <a:ext cx="6129655" cy="457200"/>
            <a:chOff x="133350" y="4686300"/>
            <a:chExt cx="6129655" cy="457200"/>
          </a:xfrm>
        </p:grpSpPr>
        <p:pic>
          <p:nvPicPr>
            <p:cNvPr id="49" name="object 4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3350" y="4686300"/>
              <a:ext cx="6129401" cy="457200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314325" y="4791075"/>
              <a:ext cx="5848350" cy="352425"/>
            </a:xfrm>
            <a:custGeom>
              <a:avLst/>
              <a:gdLst/>
              <a:ahLst/>
              <a:cxnLst/>
              <a:rect l="l" t="t" r="r" b="b"/>
              <a:pathLst>
                <a:path w="5848350" h="352425">
                  <a:moveTo>
                    <a:pt x="5774182" y="0"/>
                  </a:moveTo>
                  <a:lnTo>
                    <a:pt x="74193" y="0"/>
                  </a:lnTo>
                  <a:lnTo>
                    <a:pt x="45316" y="5831"/>
                  </a:lnTo>
                  <a:lnTo>
                    <a:pt x="21732" y="21732"/>
                  </a:lnTo>
                  <a:lnTo>
                    <a:pt x="5831" y="45316"/>
                  </a:lnTo>
                  <a:lnTo>
                    <a:pt x="0" y="74193"/>
                  </a:lnTo>
                  <a:lnTo>
                    <a:pt x="0" y="278226"/>
                  </a:lnTo>
                  <a:lnTo>
                    <a:pt x="5831" y="307108"/>
                  </a:lnTo>
                  <a:lnTo>
                    <a:pt x="21732" y="330692"/>
                  </a:lnTo>
                  <a:lnTo>
                    <a:pt x="45316" y="346594"/>
                  </a:lnTo>
                  <a:lnTo>
                    <a:pt x="74193" y="352425"/>
                  </a:lnTo>
                  <a:lnTo>
                    <a:pt x="5774182" y="352425"/>
                  </a:lnTo>
                  <a:lnTo>
                    <a:pt x="5803022" y="346594"/>
                  </a:lnTo>
                  <a:lnTo>
                    <a:pt x="5826601" y="330692"/>
                  </a:lnTo>
                  <a:lnTo>
                    <a:pt x="5842511" y="307108"/>
                  </a:lnTo>
                  <a:lnTo>
                    <a:pt x="5848350" y="278226"/>
                  </a:lnTo>
                  <a:lnTo>
                    <a:pt x="5848350" y="74193"/>
                  </a:lnTo>
                  <a:lnTo>
                    <a:pt x="5842511" y="45316"/>
                  </a:lnTo>
                  <a:lnTo>
                    <a:pt x="5826601" y="21732"/>
                  </a:lnTo>
                  <a:lnTo>
                    <a:pt x="5803022" y="5831"/>
                  </a:lnTo>
                  <a:lnTo>
                    <a:pt x="5774182" y="0"/>
                  </a:lnTo>
                  <a:close/>
                </a:path>
              </a:pathLst>
            </a:custGeom>
            <a:solidFill>
              <a:srgbClr val="1B2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1303274" y="4876165"/>
            <a:ext cx="387032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Output</a:t>
            </a:r>
            <a:r>
              <a:rPr dirty="0" sz="950" spc="16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→</a:t>
            </a:r>
            <a:r>
              <a:rPr dirty="0" sz="950" spc="135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Clean,</a:t>
            </a:r>
            <a:r>
              <a:rPr dirty="0" sz="950" spc="65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Normalized,</a:t>
            </a:r>
            <a:r>
              <a:rPr dirty="0" sz="950" spc="7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Feature-ready</a:t>
            </a:r>
            <a:r>
              <a:rPr dirty="0" sz="950" spc="9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Dataset</a:t>
            </a:r>
            <a:r>
              <a:rPr dirty="0" sz="950" spc="18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—</a:t>
            </a:r>
            <a:r>
              <a:rPr dirty="0" sz="950" spc="13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Passes</a:t>
            </a:r>
            <a:r>
              <a:rPr dirty="0" sz="950" spc="9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to</a:t>
            </a:r>
            <a:r>
              <a:rPr dirty="0" sz="950" spc="105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Phase</a:t>
            </a:r>
            <a:r>
              <a:rPr dirty="0" sz="950" spc="155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spc="-50" b="1">
                <a:solidFill>
                  <a:srgbClr val="8ABCD9"/>
                </a:solidFill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2" name="object 5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Quantum-Inspired</a:t>
            </a:r>
            <a:r>
              <a:rPr dirty="0" spc="80"/>
              <a:t> </a:t>
            </a:r>
            <a:r>
              <a:rPr dirty="0"/>
              <a:t>NIDS</a:t>
            </a:r>
            <a:r>
              <a:rPr dirty="0" spc="355"/>
              <a:t> </a:t>
            </a:r>
            <a:r>
              <a:rPr dirty="0"/>
              <a:t>|</a:t>
            </a:r>
            <a:r>
              <a:rPr dirty="0" spc="250"/>
              <a:t> </a:t>
            </a:r>
            <a:r>
              <a:rPr dirty="0"/>
              <a:t>Ini</a:t>
            </a:r>
            <a:r>
              <a:rPr dirty="0" spc="-55"/>
              <a:t> </a:t>
            </a:r>
            <a:r>
              <a:rPr dirty="0"/>
              <a:t>tial</a:t>
            </a:r>
            <a:r>
              <a:rPr dirty="0" spc="155"/>
              <a:t> </a:t>
            </a:r>
            <a:r>
              <a:rPr dirty="0" spc="-10"/>
              <a:t>Defence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28600" y="152400"/>
            <a:ext cx="1733550" cy="257175"/>
          </a:xfrm>
          <a:custGeom>
            <a:avLst/>
            <a:gdLst/>
            <a:ahLst/>
            <a:cxnLst/>
            <a:rect l="l" t="t" r="r" b="b"/>
            <a:pathLst>
              <a:path w="1733550" h="257175">
                <a:moveTo>
                  <a:pt x="1605026" y="0"/>
                </a:moveTo>
                <a:lnTo>
                  <a:pt x="128587" y="0"/>
                </a:lnTo>
                <a:lnTo>
                  <a:pt x="78534" y="10098"/>
                </a:lnTo>
                <a:lnTo>
                  <a:pt x="37661" y="37639"/>
                </a:lnTo>
                <a:lnTo>
                  <a:pt x="10104" y="78491"/>
                </a:lnTo>
                <a:lnTo>
                  <a:pt x="0" y="128524"/>
                </a:lnTo>
                <a:lnTo>
                  <a:pt x="10104" y="178629"/>
                </a:lnTo>
                <a:lnTo>
                  <a:pt x="37661" y="219519"/>
                </a:lnTo>
                <a:lnTo>
                  <a:pt x="78534" y="247074"/>
                </a:lnTo>
                <a:lnTo>
                  <a:pt x="128587" y="257175"/>
                </a:lnTo>
                <a:lnTo>
                  <a:pt x="1605026" y="257175"/>
                </a:lnTo>
                <a:lnTo>
                  <a:pt x="1655058" y="247074"/>
                </a:lnTo>
                <a:lnTo>
                  <a:pt x="1695910" y="219519"/>
                </a:lnTo>
                <a:lnTo>
                  <a:pt x="1723451" y="178629"/>
                </a:lnTo>
                <a:lnTo>
                  <a:pt x="1733550" y="128524"/>
                </a:lnTo>
                <a:lnTo>
                  <a:pt x="1723451" y="78491"/>
                </a:lnTo>
                <a:lnTo>
                  <a:pt x="1695910" y="37639"/>
                </a:lnTo>
                <a:lnTo>
                  <a:pt x="1655058" y="10098"/>
                </a:lnTo>
                <a:lnTo>
                  <a:pt x="1605026" y="0"/>
                </a:lnTo>
                <a:close/>
              </a:path>
            </a:pathLst>
          </a:custGeom>
          <a:solidFill>
            <a:srgbClr val="1B4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89242" y="201040"/>
            <a:ext cx="12725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dirty="0" sz="8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80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dirty="0" sz="8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55" b="1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dirty="0" sz="80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60" b="1">
                <a:solidFill>
                  <a:srgbClr val="FFFFFF"/>
                </a:solidFill>
                <a:latin typeface="Calibri"/>
                <a:cs typeface="Calibri"/>
              </a:rPr>
              <a:t>LO</a:t>
            </a:r>
            <a:r>
              <a:rPr dirty="0" sz="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800" spc="215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800" spc="3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800" spc="3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/>
              <a:t>ML</a:t>
            </a:r>
            <a:r>
              <a:rPr dirty="0" spc="105"/>
              <a:t> </a:t>
            </a:r>
            <a:r>
              <a:rPr dirty="0"/>
              <a:t>Model</a:t>
            </a:r>
            <a:r>
              <a:rPr dirty="0" spc="20"/>
              <a:t> </a:t>
            </a:r>
            <a:r>
              <a:rPr dirty="0"/>
              <a:t>Training</a:t>
            </a:r>
            <a:r>
              <a:rPr dirty="0" spc="105"/>
              <a:t> </a:t>
            </a:r>
            <a:r>
              <a:rPr dirty="0"/>
              <a:t>&amp;</a:t>
            </a:r>
            <a:r>
              <a:rPr dirty="0" spc="80"/>
              <a:t> </a:t>
            </a:r>
            <a:r>
              <a:rPr dirty="0"/>
              <a:t>QPSO</a:t>
            </a:r>
            <a:r>
              <a:rPr dirty="0" spc="35"/>
              <a:t> </a:t>
            </a:r>
            <a:r>
              <a:rPr dirty="0" spc="-10"/>
              <a:t>Optimization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1284350"/>
            <a:ext cx="9144000" cy="3859529"/>
            <a:chOff x="0" y="1284350"/>
            <a:chExt cx="9144000" cy="3859529"/>
          </a:xfrm>
        </p:grpSpPr>
        <p:sp>
          <p:nvSpPr>
            <p:cNvPr id="6" name="object 6" descr=""/>
            <p:cNvSpPr/>
            <p:nvPr/>
          </p:nvSpPr>
          <p:spPr>
            <a:xfrm>
              <a:off x="0" y="5029199"/>
              <a:ext cx="9144000" cy="114300"/>
            </a:xfrm>
            <a:custGeom>
              <a:avLst/>
              <a:gdLst/>
              <a:ahLst/>
              <a:cxnLst/>
              <a:rect l="l" t="t" r="r" b="b"/>
              <a:pathLst>
                <a:path w="9144000" h="114300">
                  <a:moveTo>
                    <a:pt x="9144000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9144000" y="1143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4F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33362" y="1290700"/>
              <a:ext cx="2800985" cy="314325"/>
            </a:xfrm>
            <a:custGeom>
              <a:avLst/>
              <a:gdLst/>
              <a:ahLst/>
              <a:cxnLst/>
              <a:rect l="l" t="t" r="r" b="b"/>
              <a:pathLst>
                <a:path w="2800985" h="314325">
                  <a:moveTo>
                    <a:pt x="2643187" y="0"/>
                  </a:moveTo>
                  <a:lnTo>
                    <a:pt x="157162" y="0"/>
                  </a:lnTo>
                  <a:lnTo>
                    <a:pt x="107484" y="8011"/>
                  </a:lnTo>
                  <a:lnTo>
                    <a:pt x="64341" y="30317"/>
                  </a:lnTo>
                  <a:lnTo>
                    <a:pt x="30321" y="64328"/>
                  </a:lnTo>
                  <a:lnTo>
                    <a:pt x="8011" y="107452"/>
                  </a:lnTo>
                  <a:lnTo>
                    <a:pt x="0" y="157099"/>
                  </a:lnTo>
                  <a:lnTo>
                    <a:pt x="8011" y="206759"/>
                  </a:lnTo>
                  <a:lnTo>
                    <a:pt x="30321" y="249914"/>
                  </a:lnTo>
                  <a:lnTo>
                    <a:pt x="64341" y="283962"/>
                  </a:lnTo>
                  <a:lnTo>
                    <a:pt x="107484" y="306300"/>
                  </a:lnTo>
                  <a:lnTo>
                    <a:pt x="157162" y="314325"/>
                  </a:lnTo>
                  <a:lnTo>
                    <a:pt x="2643187" y="314325"/>
                  </a:lnTo>
                  <a:lnTo>
                    <a:pt x="2692847" y="306300"/>
                  </a:lnTo>
                  <a:lnTo>
                    <a:pt x="2736003" y="283962"/>
                  </a:lnTo>
                  <a:lnTo>
                    <a:pt x="2770051" y="249914"/>
                  </a:lnTo>
                  <a:lnTo>
                    <a:pt x="2792389" y="206759"/>
                  </a:lnTo>
                  <a:lnTo>
                    <a:pt x="2800413" y="157099"/>
                  </a:lnTo>
                  <a:lnTo>
                    <a:pt x="2792389" y="107452"/>
                  </a:lnTo>
                  <a:lnTo>
                    <a:pt x="2770051" y="64328"/>
                  </a:lnTo>
                  <a:lnTo>
                    <a:pt x="2736003" y="30317"/>
                  </a:lnTo>
                  <a:lnTo>
                    <a:pt x="2692847" y="8011"/>
                  </a:lnTo>
                  <a:lnTo>
                    <a:pt x="2643187" y="0"/>
                  </a:lnTo>
                  <a:close/>
                </a:path>
              </a:pathLst>
            </a:custGeom>
            <a:solidFill>
              <a:srgbClr val="E8E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33362" y="1290700"/>
              <a:ext cx="2800985" cy="314325"/>
            </a:xfrm>
            <a:custGeom>
              <a:avLst/>
              <a:gdLst/>
              <a:ahLst/>
              <a:cxnLst/>
              <a:rect l="l" t="t" r="r" b="b"/>
              <a:pathLst>
                <a:path w="2800985" h="314325">
                  <a:moveTo>
                    <a:pt x="0" y="157099"/>
                  </a:moveTo>
                  <a:lnTo>
                    <a:pt x="8011" y="107452"/>
                  </a:lnTo>
                  <a:lnTo>
                    <a:pt x="30321" y="64328"/>
                  </a:lnTo>
                  <a:lnTo>
                    <a:pt x="64341" y="30317"/>
                  </a:lnTo>
                  <a:lnTo>
                    <a:pt x="107484" y="8011"/>
                  </a:lnTo>
                  <a:lnTo>
                    <a:pt x="157162" y="0"/>
                  </a:lnTo>
                  <a:lnTo>
                    <a:pt x="2643187" y="0"/>
                  </a:lnTo>
                  <a:lnTo>
                    <a:pt x="2692847" y="8011"/>
                  </a:lnTo>
                  <a:lnTo>
                    <a:pt x="2736003" y="30317"/>
                  </a:lnTo>
                  <a:lnTo>
                    <a:pt x="2770051" y="64328"/>
                  </a:lnTo>
                  <a:lnTo>
                    <a:pt x="2792389" y="107452"/>
                  </a:lnTo>
                  <a:lnTo>
                    <a:pt x="2800413" y="157099"/>
                  </a:lnTo>
                  <a:lnTo>
                    <a:pt x="2792389" y="206759"/>
                  </a:lnTo>
                  <a:lnTo>
                    <a:pt x="2770051" y="249914"/>
                  </a:lnTo>
                  <a:lnTo>
                    <a:pt x="2736003" y="283962"/>
                  </a:lnTo>
                  <a:lnTo>
                    <a:pt x="2692847" y="306300"/>
                  </a:lnTo>
                  <a:lnTo>
                    <a:pt x="2643187" y="314325"/>
                  </a:lnTo>
                  <a:lnTo>
                    <a:pt x="157162" y="314325"/>
                  </a:lnTo>
                  <a:lnTo>
                    <a:pt x="107484" y="306300"/>
                  </a:lnTo>
                  <a:lnTo>
                    <a:pt x="64341" y="283962"/>
                  </a:lnTo>
                  <a:lnTo>
                    <a:pt x="30321" y="249914"/>
                  </a:lnTo>
                  <a:lnTo>
                    <a:pt x="8011" y="206759"/>
                  </a:lnTo>
                  <a:lnTo>
                    <a:pt x="0" y="157099"/>
                  </a:lnTo>
                  <a:close/>
                </a:path>
              </a:pathLst>
            </a:custGeom>
            <a:ln w="12700">
              <a:solidFill>
                <a:srgbClr val="CAD3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92810" y="1356423"/>
            <a:ext cx="148272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①</a:t>
            </a:r>
            <a:r>
              <a:rPr dirty="0" sz="900" spc="-1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Data</a:t>
            </a:r>
            <a:r>
              <a:rPr dirty="0" sz="900" spc="-4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Input</a:t>
            </a:r>
            <a:r>
              <a:rPr dirty="0" sz="900" spc="1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&amp;</a:t>
            </a:r>
            <a:r>
              <a:rPr dirty="0" sz="900" spc="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C8E"/>
                </a:solidFill>
                <a:latin typeface="Calibri"/>
                <a:cs typeface="Calibri"/>
              </a:rPr>
              <a:t>Preprocessing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132201" y="1284350"/>
            <a:ext cx="2813050" cy="327025"/>
            <a:chOff x="3132201" y="1284350"/>
            <a:chExt cx="2813050" cy="327025"/>
          </a:xfrm>
        </p:grpSpPr>
        <p:sp>
          <p:nvSpPr>
            <p:cNvPr id="11" name="object 11" descr=""/>
            <p:cNvSpPr/>
            <p:nvPr/>
          </p:nvSpPr>
          <p:spPr>
            <a:xfrm>
              <a:off x="3138551" y="1290700"/>
              <a:ext cx="2800350" cy="314325"/>
            </a:xfrm>
            <a:custGeom>
              <a:avLst/>
              <a:gdLst/>
              <a:ahLst/>
              <a:cxnLst/>
              <a:rect l="l" t="t" r="r" b="b"/>
              <a:pathLst>
                <a:path w="2800350" h="314325">
                  <a:moveTo>
                    <a:pt x="2643124" y="0"/>
                  </a:moveTo>
                  <a:lnTo>
                    <a:pt x="157099" y="0"/>
                  </a:lnTo>
                  <a:lnTo>
                    <a:pt x="107452" y="8011"/>
                  </a:lnTo>
                  <a:lnTo>
                    <a:pt x="64328" y="30317"/>
                  </a:lnTo>
                  <a:lnTo>
                    <a:pt x="30317" y="64328"/>
                  </a:lnTo>
                  <a:lnTo>
                    <a:pt x="8011" y="107452"/>
                  </a:lnTo>
                  <a:lnTo>
                    <a:pt x="0" y="157099"/>
                  </a:lnTo>
                  <a:lnTo>
                    <a:pt x="8011" y="206759"/>
                  </a:lnTo>
                  <a:lnTo>
                    <a:pt x="30317" y="249914"/>
                  </a:lnTo>
                  <a:lnTo>
                    <a:pt x="64328" y="283962"/>
                  </a:lnTo>
                  <a:lnTo>
                    <a:pt x="107452" y="306300"/>
                  </a:lnTo>
                  <a:lnTo>
                    <a:pt x="157099" y="314325"/>
                  </a:lnTo>
                  <a:lnTo>
                    <a:pt x="2643124" y="314325"/>
                  </a:lnTo>
                  <a:lnTo>
                    <a:pt x="2692784" y="306300"/>
                  </a:lnTo>
                  <a:lnTo>
                    <a:pt x="2735939" y="283962"/>
                  </a:lnTo>
                  <a:lnTo>
                    <a:pt x="2769987" y="249914"/>
                  </a:lnTo>
                  <a:lnTo>
                    <a:pt x="2792325" y="206759"/>
                  </a:lnTo>
                  <a:lnTo>
                    <a:pt x="2800350" y="157099"/>
                  </a:lnTo>
                  <a:lnTo>
                    <a:pt x="2792325" y="107452"/>
                  </a:lnTo>
                  <a:lnTo>
                    <a:pt x="2769987" y="64328"/>
                  </a:lnTo>
                  <a:lnTo>
                    <a:pt x="2735939" y="30317"/>
                  </a:lnTo>
                  <a:lnTo>
                    <a:pt x="2692784" y="8011"/>
                  </a:lnTo>
                  <a:lnTo>
                    <a:pt x="2643124" y="0"/>
                  </a:lnTo>
                  <a:close/>
                </a:path>
              </a:pathLst>
            </a:custGeom>
            <a:solidFill>
              <a:srgbClr val="5B2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138551" y="1290700"/>
              <a:ext cx="2800350" cy="314325"/>
            </a:xfrm>
            <a:custGeom>
              <a:avLst/>
              <a:gdLst/>
              <a:ahLst/>
              <a:cxnLst/>
              <a:rect l="l" t="t" r="r" b="b"/>
              <a:pathLst>
                <a:path w="2800350" h="314325">
                  <a:moveTo>
                    <a:pt x="0" y="157099"/>
                  </a:moveTo>
                  <a:lnTo>
                    <a:pt x="8011" y="107452"/>
                  </a:lnTo>
                  <a:lnTo>
                    <a:pt x="30317" y="64328"/>
                  </a:lnTo>
                  <a:lnTo>
                    <a:pt x="64328" y="30317"/>
                  </a:lnTo>
                  <a:lnTo>
                    <a:pt x="107452" y="8011"/>
                  </a:lnTo>
                  <a:lnTo>
                    <a:pt x="157099" y="0"/>
                  </a:lnTo>
                  <a:lnTo>
                    <a:pt x="2643124" y="0"/>
                  </a:lnTo>
                  <a:lnTo>
                    <a:pt x="2692784" y="8011"/>
                  </a:lnTo>
                  <a:lnTo>
                    <a:pt x="2735939" y="30317"/>
                  </a:lnTo>
                  <a:lnTo>
                    <a:pt x="2769987" y="64328"/>
                  </a:lnTo>
                  <a:lnTo>
                    <a:pt x="2792325" y="107452"/>
                  </a:lnTo>
                  <a:lnTo>
                    <a:pt x="2800350" y="157099"/>
                  </a:lnTo>
                  <a:lnTo>
                    <a:pt x="2792325" y="206759"/>
                  </a:lnTo>
                  <a:lnTo>
                    <a:pt x="2769987" y="249914"/>
                  </a:lnTo>
                  <a:lnTo>
                    <a:pt x="2735939" y="283962"/>
                  </a:lnTo>
                  <a:lnTo>
                    <a:pt x="2692784" y="306300"/>
                  </a:lnTo>
                  <a:lnTo>
                    <a:pt x="2643124" y="314325"/>
                  </a:lnTo>
                  <a:lnTo>
                    <a:pt x="157099" y="314325"/>
                  </a:lnTo>
                  <a:lnTo>
                    <a:pt x="107452" y="306300"/>
                  </a:lnTo>
                  <a:lnTo>
                    <a:pt x="64328" y="283962"/>
                  </a:lnTo>
                  <a:lnTo>
                    <a:pt x="30317" y="249914"/>
                  </a:lnTo>
                  <a:lnTo>
                    <a:pt x="8011" y="206759"/>
                  </a:lnTo>
                  <a:lnTo>
                    <a:pt x="0" y="157099"/>
                  </a:lnTo>
                  <a:close/>
                </a:path>
              </a:pathLst>
            </a:custGeom>
            <a:ln w="12700">
              <a:solidFill>
                <a:srgbClr val="5B2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787775" y="1356423"/>
            <a:ext cx="150050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②</a:t>
            </a:r>
            <a:r>
              <a:rPr dirty="0" sz="90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dirty="0" sz="9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dirty="0" sz="9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dirty="0" sz="9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dirty="0" sz="900" spc="-20" b="1">
                <a:solidFill>
                  <a:srgbClr val="FFFFFF"/>
                </a:solidFill>
                <a:latin typeface="Calibri"/>
                <a:cs typeface="Calibri"/>
              </a:rPr>
              <a:t>QPSO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046851" y="1284350"/>
            <a:ext cx="2803525" cy="327025"/>
            <a:chOff x="6046851" y="1284350"/>
            <a:chExt cx="2803525" cy="327025"/>
          </a:xfrm>
        </p:grpSpPr>
        <p:sp>
          <p:nvSpPr>
            <p:cNvPr id="15" name="object 15" descr=""/>
            <p:cNvSpPr/>
            <p:nvPr/>
          </p:nvSpPr>
          <p:spPr>
            <a:xfrm>
              <a:off x="6053201" y="1290700"/>
              <a:ext cx="2790825" cy="314325"/>
            </a:xfrm>
            <a:custGeom>
              <a:avLst/>
              <a:gdLst/>
              <a:ahLst/>
              <a:cxnLst/>
              <a:rect l="l" t="t" r="r" b="b"/>
              <a:pathLst>
                <a:path w="2790825" h="314325">
                  <a:moveTo>
                    <a:pt x="2633599" y="0"/>
                  </a:moveTo>
                  <a:lnTo>
                    <a:pt x="157099" y="0"/>
                  </a:lnTo>
                  <a:lnTo>
                    <a:pt x="107452" y="8011"/>
                  </a:lnTo>
                  <a:lnTo>
                    <a:pt x="64328" y="30317"/>
                  </a:lnTo>
                  <a:lnTo>
                    <a:pt x="30317" y="64328"/>
                  </a:lnTo>
                  <a:lnTo>
                    <a:pt x="8011" y="107452"/>
                  </a:lnTo>
                  <a:lnTo>
                    <a:pt x="0" y="157099"/>
                  </a:lnTo>
                  <a:lnTo>
                    <a:pt x="8011" y="206759"/>
                  </a:lnTo>
                  <a:lnTo>
                    <a:pt x="30317" y="249914"/>
                  </a:lnTo>
                  <a:lnTo>
                    <a:pt x="64328" y="283962"/>
                  </a:lnTo>
                  <a:lnTo>
                    <a:pt x="107452" y="306300"/>
                  </a:lnTo>
                  <a:lnTo>
                    <a:pt x="157099" y="314325"/>
                  </a:lnTo>
                  <a:lnTo>
                    <a:pt x="2633599" y="314325"/>
                  </a:lnTo>
                  <a:lnTo>
                    <a:pt x="2683259" y="306300"/>
                  </a:lnTo>
                  <a:lnTo>
                    <a:pt x="2726414" y="283962"/>
                  </a:lnTo>
                  <a:lnTo>
                    <a:pt x="2760462" y="249914"/>
                  </a:lnTo>
                  <a:lnTo>
                    <a:pt x="2782800" y="206759"/>
                  </a:lnTo>
                  <a:lnTo>
                    <a:pt x="2790825" y="157099"/>
                  </a:lnTo>
                  <a:lnTo>
                    <a:pt x="2782800" y="107452"/>
                  </a:lnTo>
                  <a:lnTo>
                    <a:pt x="2760462" y="64328"/>
                  </a:lnTo>
                  <a:lnTo>
                    <a:pt x="2726414" y="30317"/>
                  </a:lnTo>
                  <a:lnTo>
                    <a:pt x="2683259" y="8011"/>
                  </a:lnTo>
                  <a:lnTo>
                    <a:pt x="2633599" y="0"/>
                  </a:lnTo>
                  <a:close/>
                </a:path>
              </a:pathLst>
            </a:custGeom>
            <a:solidFill>
              <a:srgbClr val="E8E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053201" y="1290700"/>
              <a:ext cx="2790825" cy="314325"/>
            </a:xfrm>
            <a:custGeom>
              <a:avLst/>
              <a:gdLst/>
              <a:ahLst/>
              <a:cxnLst/>
              <a:rect l="l" t="t" r="r" b="b"/>
              <a:pathLst>
                <a:path w="2790825" h="314325">
                  <a:moveTo>
                    <a:pt x="0" y="157099"/>
                  </a:moveTo>
                  <a:lnTo>
                    <a:pt x="8011" y="107452"/>
                  </a:lnTo>
                  <a:lnTo>
                    <a:pt x="30317" y="64328"/>
                  </a:lnTo>
                  <a:lnTo>
                    <a:pt x="64328" y="30317"/>
                  </a:lnTo>
                  <a:lnTo>
                    <a:pt x="107452" y="8011"/>
                  </a:lnTo>
                  <a:lnTo>
                    <a:pt x="157099" y="0"/>
                  </a:lnTo>
                  <a:lnTo>
                    <a:pt x="2633599" y="0"/>
                  </a:lnTo>
                  <a:lnTo>
                    <a:pt x="2683259" y="8011"/>
                  </a:lnTo>
                  <a:lnTo>
                    <a:pt x="2726414" y="30317"/>
                  </a:lnTo>
                  <a:lnTo>
                    <a:pt x="2760462" y="64328"/>
                  </a:lnTo>
                  <a:lnTo>
                    <a:pt x="2782800" y="107452"/>
                  </a:lnTo>
                  <a:lnTo>
                    <a:pt x="2790825" y="157099"/>
                  </a:lnTo>
                  <a:lnTo>
                    <a:pt x="2782800" y="206759"/>
                  </a:lnTo>
                  <a:lnTo>
                    <a:pt x="2760462" y="249914"/>
                  </a:lnTo>
                  <a:lnTo>
                    <a:pt x="2726414" y="283962"/>
                  </a:lnTo>
                  <a:lnTo>
                    <a:pt x="2683259" y="306300"/>
                  </a:lnTo>
                  <a:lnTo>
                    <a:pt x="2633599" y="314325"/>
                  </a:lnTo>
                  <a:lnTo>
                    <a:pt x="157099" y="314325"/>
                  </a:lnTo>
                  <a:lnTo>
                    <a:pt x="107452" y="306300"/>
                  </a:lnTo>
                  <a:lnTo>
                    <a:pt x="64328" y="283962"/>
                  </a:lnTo>
                  <a:lnTo>
                    <a:pt x="30317" y="249914"/>
                  </a:lnTo>
                  <a:lnTo>
                    <a:pt x="8011" y="206759"/>
                  </a:lnTo>
                  <a:lnTo>
                    <a:pt x="0" y="157099"/>
                  </a:lnTo>
                  <a:close/>
                </a:path>
              </a:pathLst>
            </a:custGeom>
            <a:ln w="12700">
              <a:solidFill>
                <a:srgbClr val="CAD3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970141" y="1356423"/>
            <a:ext cx="96583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③</a:t>
            </a:r>
            <a:r>
              <a:rPr dirty="0" sz="900" spc="-1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Detection</a:t>
            </a:r>
            <a:r>
              <a:rPr dirty="0" sz="900" spc="-1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&amp;</a:t>
            </a:r>
            <a:r>
              <a:rPr dirty="0" sz="900" spc="-7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6B7C8E"/>
                </a:solidFill>
                <a:latin typeface="Calibri"/>
                <a:cs typeface="Calibri"/>
              </a:rPr>
              <a:t>GUI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14325" y="1562036"/>
            <a:ext cx="6796405" cy="1224280"/>
            <a:chOff x="314325" y="1562036"/>
            <a:chExt cx="6796405" cy="122428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325" y="1800225"/>
              <a:ext cx="657225" cy="65722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50" y="1562036"/>
              <a:ext cx="6138926" cy="1223962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157287" y="1671701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5756846" y="0"/>
                  </a:moveTo>
                  <a:lnTo>
                    <a:pt x="91516" y="0"/>
                  </a:lnTo>
                  <a:lnTo>
                    <a:pt x="55892" y="7179"/>
                  </a:lnTo>
                  <a:lnTo>
                    <a:pt x="26803" y="26765"/>
                  </a:lnTo>
                  <a:lnTo>
                    <a:pt x="7191" y="55828"/>
                  </a:lnTo>
                  <a:lnTo>
                    <a:pt x="0" y="91439"/>
                  </a:lnTo>
                  <a:lnTo>
                    <a:pt x="0" y="841882"/>
                  </a:lnTo>
                  <a:lnTo>
                    <a:pt x="7191" y="877514"/>
                  </a:lnTo>
                  <a:lnTo>
                    <a:pt x="26803" y="906621"/>
                  </a:lnTo>
                  <a:lnTo>
                    <a:pt x="55892" y="926250"/>
                  </a:lnTo>
                  <a:lnTo>
                    <a:pt x="91516" y="933450"/>
                  </a:lnTo>
                  <a:lnTo>
                    <a:pt x="5756846" y="933450"/>
                  </a:lnTo>
                  <a:lnTo>
                    <a:pt x="5792477" y="926250"/>
                  </a:lnTo>
                  <a:lnTo>
                    <a:pt x="5821584" y="906621"/>
                  </a:lnTo>
                  <a:lnTo>
                    <a:pt x="5841214" y="877514"/>
                  </a:lnTo>
                  <a:lnTo>
                    <a:pt x="5848413" y="841882"/>
                  </a:lnTo>
                  <a:lnTo>
                    <a:pt x="5848413" y="91439"/>
                  </a:lnTo>
                  <a:lnTo>
                    <a:pt x="5841214" y="55828"/>
                  </a:lnTo>
                  <a:lnTo>
                    <a:pt x="5821584" y="26765"/>
                  </a:lnTo>
                  <a:lnTo>
                    <a:pt x="5792477" y="7179"/>
                  </a:lnTo>
                  <a:lnTo>
                    <a:pt x="5756846" y="0"/>
                  </a:lnTo>
                  <a:close/>
                </a:path>
              </a:pathLst>
            </a:custGeom>
            <a:solidFill>
              <a:srgbClr val="5B2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57287" y="1671701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0" y="91439"/>
                  </a:moveTo>
                  <a:lnTo>
                    <a:pt x="7191" y="55828"/>
                  </a:lnTo>
                  <a:lnTo>
                    <a:pt x="26803" y="26765"/>
                  </a:lnTo>
                  <a:lnTo>
                    <a:pt x="55892" y="7179"/>
                  </a:lnTo>
                  <a:lnTo>
                    <a:pt x="91516" y="0"/>
                  </a:lnTo>
                  <a:lnTo>
                    <a:pt x="5756846" y="0"/>
                  </a:lnTo>
                  <a:lnTo>
                    <a:pt x="5792477" y="7179"/>
                  </a:lnTo>
                  <a:lnTo>
                    <a:pt x="5821584" y="26765"/>
                  </a:lnTo>
                  <a:lnTo>
                    <a:pt x="5841214" y="55828"/>
                  </a:lnTo>
                  <a:lnTo>
                    <a:pt x="5848413" y="91439"/>
                  </a:lnTo>
                  <a:lnTo>
                    <a:pt x="5848413" y="841882"/>
                  </a:lnTo>
                  <a:lnTo>
                    <a:pt x="5841214" y="877514"/>
                  </a:lnTo>
                  <a:lnTo>
                    <a:pt x="5821584" y="906621"/>
                  </a:lnTo>
                  <a:lnTo>
                    <a:pt x="5792477" y="926250"/>
                  </a:lnTo>
                  <a:lnTo>
                    <a:pt x="5756846" y="933450"/>
                  </a:lnTo>
                  <a:lnTo>
                    <a:pt x="91516" y="933450"/>
                  </a:lnTo>
                  <a:lnTo>
                    <a:pt x="55892" y="926250"/>
                  </a:lnTo>
                  <a:lnTo>
                    <a:pt x="26803" y="906621"/>
                  </a:lnTo>
                  <a:lnTo>
                    <a:pt x="7191" y="877514"/>
                  </a:lnTo>
                  <a:lnTo>
                    <a:pt x="0" y="841882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5B2C8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50" y="2066925"/>
              <a:ext cx="66675" cy="66675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50" y="2295525"/>
              <a:ext cx="66675" cy="66675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1305560" y="1754822"/>
            <a:ext cx="261747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Classical</a:t>
            </a:r>
            <a:r>
              <a:rPr dirty="0" sz="1200" spc="-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ML</a:t>
            </a:r>
            <a:r>
              <a:rPr dirty="0" sz="1200" spc="-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r>
              <a:rPr dirty="0" sz="1200" spc="-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Training</a:t>
            </a:r>
            <a:endParaRPr sz="120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755"/>
              </a:spcBef>
            </a:pP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Random</a:t>
            </a:r>
            <a:r>
              <a:rPr dirty="0" sz="950" spc="-3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Forest</a:t>
            </a:r>
            <a:r>
              <a:rPr dirty="0" sz="950" spc="-3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(100</a:t>
            </a:r>
            <a:r>
              <a:rPr dirty="0" sz="950" spc="-4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trees) &amp;</a:t>
            </a:r>
            <a:r>
              <a:rPr dirty="0" sz="950" spc="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Decision</a:t>
            </a:r>
            <a:r>
              <a:rPr dirty="0" sz="950" spc="1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Tree</a:t>
            </a:r>
            <a:r>
              <a:rPr dirty="0" sz="950" spc="-4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(CART)</a:t>
            </a:r>
            <a:endParaRPr sz="950">
              <a:latin typeface="Calibri"/>
              <a:cs typeface="Calibri"/>
            </a:endParaRPr>
          </a:p>
          <a:p>
            <a:pPr marL="140335">
              <a:lnSpc>
                <a:spcPct val="100000"/>
              </a:lnSpc>
              <a:spcBef>
                <a:spcPts val="665"/>
              </a:spcBef>
            </a:pP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Train</a:t>
            </a:r>
            <a:r>
              <a:rPr dirty="0" sz="950" spc="1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on</a:t>
            </a:r>
            <a:r>
              <a:rPr dirty="0" sz="950" spc="-5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dataset</a:t>
            </a:r>
            <a:r>
              <a:rPr dirty="0" sz="950" spc="-2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→</a:t>
            </a:r>
            <a:r>
              <a:rPr dirty="0" sz="950" spc="2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Save</a:t>
            </a:r>
            <a:r>
              <a:rPr dirty="0" sz="950" spc="-3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Baseline</a:t>
            </a:r>
            <a:r>
              <a:rPr dirty="0" sz="950" spc="-3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Metrics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943725" y="1676400"/>
            <a:ext cx="2014855" cy="1614805"/>
            <a:chOff x="6943725" y="1676400"/>
            <a:chExt cx="2014855" cy="1614805"/>
          </a:xfrm>
        </p:grpSpPr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43725" y="1676400"/>
              <a:ext cx="2014601" cy="1614424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7134225" y="1790700"/>
              <a:ext cx="1714500" cy="1314450"/>
            </a:xfrm>
            <a:custGeom>
              <a:avLst/>
              <a:gdLst/>
              <a:ahLst/>
              <a:cxnLst/>
              <a:rect l="l" t="t" r="r" b="b"/>
              <a:pathLst>
                <a:path w="1714500" h="1314450">
                  <a:moveTo>
                    <a:pt x="1641475" y="0"/>
                  </a:moveTo>
                  <a:lnTo>
                    <a:pt x="73025" y="0"/>
                  </a:lnTo>
                  <a:lnTo>
                    <a:pt x="44576" y="5730"/>
                  </a:lnTo>
                  <a:lnTo>
                    <a:pt x="21367" y="21367"/>
                  </a:lnTo>
                  <a:lnTo>
                    <a:pt x="5730" y="44576"/>
                  </a:lnTo>
                  <a:lnTo>
                    <a:pt x="0" y="73025"/>
                  </a:lnTo>
                  <a:lnTo>
                    <a:pt x="0" y="1241425"/>
                  </a:lnTo>
                  <a:lnTo>
                    <a:pt x="5730" y="1269873"/>
                  </a:lnTo>
                  <a:lnTo>
                    <a:pt x="21367" y="1293082"/>
                  </a:lnTo>
                  <a:lnTo>
                    <a:pt x="44576" y="1308719"/>
                  </a:lnTo>
                  <a:lnTo>
                    <a:pt x="73025" y="1314450"/>
                  </a:lnTo>
                  <a:lnTo>
                    <a:pt x="1641475" y="1314450"/>
                  </a:lnTo>
                  <a:lnTo>
                    <a:pt x="1669923" y="1308719"/>
                  </a:lnTo>
                  <a:lnTo>
                    <a:pt x="1693132" y="1293082"/>
                  </a:lnTo>
                  <a:lnTo>
                    <a:pt x="1708769" y="1269873"/>
                  </a:lnTo>
                  <a:lnTo>
                    <a:pt x="1714500" y="1241425"/>
                  </a:lnTo>
                  <a:lnTo>
                    <a:pt x="1714500" y="73025"/>
                  </a:lnTo>
                  <a:lnTo>
                    <a:pt x="1708769" y="44576"/>
                  </a:lnTo>
                  <a:lnTo>
                    <a:pt x="1693132" y="21367"/>
                  </a:lnTo>
                  <a:lnTo>
                    <a:pt x="1669923" y="5730"/>
                  </a:lnTo>
                  <a:lnTo>
                    <a:pt x="1641475" y="0"/>
                  </a:lnTo>
                  <a:close/>
                </a:path>
              </a:pathLst>
            </a:custGeom>
            <a:solidFill>
              <a:srgbClr val="5B2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134225" y="1790700"/>
              <a:ext cx="1714500" cy="1314450"/>
            </a:xfrm>
            <a:custGeom>
              <a:avLst/>
              <a:gdLst/>
              <a:ahLst/>
              <a:cxnLst/>
              <a:rect l="l" t="t" r="r" b="b"/>
              <a:pathLst>
                <a:path w="1714500" h="1314450">
                  <a:moveTo>
                    <a:pt x="0" y="73025"/>
                  </a:moveTo>
                  <a:lnTo>
                    <a:pt x="5730" y="44576"/>
                  </a:lnTo>
                  <a:lnTo>
                    <a:pt x="21367" y="21367"/>
                  </a:lnTo>
                  <a:lnTo>
                    <a:pt x="44576" y="5730"/>
                  </a:lnTo>
                  <a:lnTo>
                    <a:pt x="73025" y="0"/>
                  </a:lnTo>
                  <a:lnTo>
                    <a:pt x="1641475" y="0"/>
                  </a:lnTo>
                  <a:lnTo>
                    <a:pt x="1669923" y="5730"/>
                  </a:lnTo>
                  <a:lnTo>
                    <a:pt x="1693132" y="21367"/>
                  </a:lnTo>
                  <a:lnTo>
                    <a:pt x="1708769" y="44576"/>
                  </a:lnTo>
                  <a:lnTo>
                    <a:pt x="1714500" y="73025"/>
                  </a:lnTo>
                  <a:lnTo>
                    <a:pt x="1714500" y="1241425"/>
                  </a:lnTo>
                  <a:lnTo>
                    <a:pt x="1708769" y="1269873"/>
                  </a:lnTo>
                  <a:lnTo>
                    <a:pt x="1693132" y="1293082"/>
                  </a:lnTo>
                  <a:lnTo>
                    <a:pt x="1669923" y="1308719"/>
                  </a:lnTo>
                  <a:lnTo>
                    <a:pt x="1641475" y="1314450"/>
                  </a:lnTo>
                  <a:lnTo>
                    <a:pt x="73025" y="1314450"/>
                  </a:lnTo>
                  <a:lnTo>
                    <a:pt x="44576" y="1308719"/>
                  </a:lnTo>
                  <a:lnTo>
                    <a:pt x="21367" y="1293082"/>
                  </a:lnTo>
                  <a:lnTo>
                    <a:pt x="5730" y="1269873"/>
                  </a:lnTo>
                  <a:lnTo>
                    <a:pt x="0" y="1241425"/>
                  </a:lnTo>
                  <a:lnTo>
                    <a:pt x="0" y="7302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134225" y="1790700"/>
              <a:ext cx="1714500" cy="295275"/>
            </a:xfrm>
            <a:custGeom>
              <a:avLst/>
              <a:gdLst/>
              <a:ahLst/>
              <a:cxnLst/>
              <a:rect l="l" t="t" r="r" b="b"/>
              <a:pathLst>
                <a:path w="1714500" h="295275">
                  <a:moveTo>
                    <a:pt x="1640713" y="0"/>
                  </a:moveTo>
                  <a:lnTo>
                    <a:pt x="73786" y="0"/>
                  </a:lnTo>
                  <a:lnTo>
                    <a:pt x="45059" y="5796"/>
                  </a:lnTo>
                  <a:lnTo>
                    <a:pt x="21605" y="21605"/>
                  </a:lnTo>
                  <a:lnTo>
                    <a:pt x="5796" y="45059"/>
                  </a:lnTo>
                  <a:lnTo>
                    <a:pt x="0" y="73787"/>
                  </a:lnTo>
                  <a:lnTo>
                    <a:pt x="0" y="221487"/>
                  </a:lnTo>
                  <a:lnTo>
                    <a:pt x="5796" y="250215"/>
                  </a:lnTo>
                  <a:lnTo>
                    <a:pt x="21605" y="273669"/>
                  </a:lnTo>
                  <a:lnTo>
                    <a:pt x="45059" y="289478"/>
                  </a:lnTo>
                  <a:lnTo>
                    <a:pt x="73786" y="295275"/>
                  </a:lnTo>
                  <a:lnTo>
                    <a:pt x="1640713" y="295275"/>
                  </a:lnTo>
                  <a:lnTo>
                    <a:pt x="1669440" y="289478"/>
                  </a:lnTo>
                  <a:lnTo>
                    <a:pt x="1692894" y="273669"/>
                  </a:lnTo>
                  <a:lnTo>
                    <a:pt x="1708703" y="250215"/>
                  </a:lnTo>
                  <a:lnTo>
                    <a:pt x="1714500" y="221487"/>
                  </a:lnTo>
                  <a:lnTo>
                    <a:pt x="1714500" y="73787"/>
                  </a:lnTo>
                  <a:lnTo>
                    <a:pt x="1708703" y="45059"/>
                  </a:lnTo>
                  <a:lnTo>
                    <a:pt x="1692894" y="21605"/>
                  </a:lnTo>
                  <a:lnTo>
                    <a:pt x="1669440" y="5796"/>
                  </a:lnTo>
                  <a:lnTo>
                    <a:pt x="16407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7255256" y="1852866"/>
            <a:ext cx="13747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latin typeface="Cambria"/>
                <a:cs typeface="Cambria"/>
              </a:rPr>
              <a:t>Quantum-Inspired</a:t>
            </a:r>
            <a:r>
              <a:rPr dirty="0" sz="950" spc="350" b="1">
                <a:latin typeface="Cambria"/>
                <a:cs typeface="Cambria"/>
              </a:rPr>
              <a:t> </a:t>
            </a:r>
            <a:r>
              <a:rPr dirty="0" sz="950" spc="-20" b="1">
                <a:latin typeface="Cambria"/>
                <a:cs typeface="Cambria"/>
              </a:rPr>
              <a:t>Opt.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255256" y="2133155"/>
            <a:ext cx="1352550" cy="60452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97155" indent="-84455">
              <a:lnSpc>
                <a:spcPct val="100000"/>
              </a:lnSpc>
              <a:spcBef>
                <a:spcPts val="400"/>
              </a:spcBef>
              <a:buChar char="•"/>
              <a:tabLst>
                <a:tab pos="97155" algn="l"/>
              </a:tabLst>
            </a:pP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Particle</a:t>
            </a: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Swarm </a:t>
            </a: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Algorithm</a:t>
            </a:r>
            <a:endParaRPr sz="950">
              <a:latin typeface="Calibri"/>
              <a:cs typeface="Calibri"/>
            </a:endParaRPr>
          </a:p>
          <a:p>
            <a:pPr marL="133350" indent="-84455">
              <a:lnSpc>
                <a:spcPct val="100000"/>
              </a:lnSpc>
              <a:spcBef>
                <a:spcPts val="305"/>
              </a:spcBef>
              <a:buChar char="•"/>
              <a:tabLst>
                <a:tab pos="133350" algn="l"/>
              </a:tabLst>
            </a:pP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Fitness</a:t>
            </a:r>
            <a:r>
              <a:rPr dirty="0" sz="950" spc="-15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Evaluation</a:t>
            </a:r>
            <a:endParaRPr sz="950">
              <a:latin typeface="Calibri"/>
              <a:cs typeface="Calibri"/>
            </a:endParaRPr>
          </a:p>
          <a:p>
            <a:pPr marL="133350" indent="-84455">
              <a:lnSpc>
                <a:spcPct val="100000"/>
              </a:lnSpc>
              <a:spcBef>
                <a:spcPts val="525"/>
              </a:spcBef>
              <a:buChar char="•"/>
              <a:tabLst>
                <a:tab pos="133350" algn="l"/>
              </a:tabLst>
            </a:pP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Convergence</a:t>
            </a:r>
            <a:r>
              <a:rPr dirty="0" sz="950" spc="45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Detection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314325" y="2515127"/>
            <a:ext cx="6796405" cy="1290320"/>
            <a:chOff x="314325" y="2515127"/>
            <a:chExt cx="6796405" cy="1290320"/>
          </a:xfrm>
        </p:grpSpPr>
        <p:pic>
          <p:nvPicPr>
            <p:cNvPr id="34" name="object 3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224" y="2515127"/>
              <a:ext cx="171149" cy="17104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4325" y="2828925"/>
              <a:ext cx="657225" cy="657225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1550" y="2581338"/>
              <a:ext cx="6138926" cy="1223962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157287" y="2690876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5756846" y="0"/>
                  </a:moveTo>
                  <a:lnTo>
                    <a:pt x="91516" y="0"/>
                  </a:lnTo>
                  <a:lnTo>
                    <a:pt x="55892" y="7179"/>
                  </a:lnTo>
                  <a:lnTo>
                    <a:pt x="26803" y="26765"/>
                  </a:lnTo>
                  <a:lnTo>
                    <a:pt x="7191" y="55828"/>
                  </a:lnTo>
                  <a:lnTo>
                    <a:pt x="0" y="91440"/>
                  </a:lnTo>
                  <a:lnTo>
                    <a:pt x="0" y="841883"/>
                  </a:lnTo>
                  <a:lnTo>
                    <a:pt x="7191" y="877514"/>
                  </a:lnTo>
                  <a:lnTo>
                    <a:pt x="26803" y="906621"/>
                  </a:lnTo>
                  <a:lnTo>
                    <a:pt x="55892" y="926250"/>
                  </a:lnTo>
                  <a:lnTo>
                    <a:pt x="91516" y="933450"/>
                  </a:lnTo>
                  <a:lnTo>
                    <a:pt x="5756846" y="933450"/>
                  </a:lnTo>
                  <a:lnTo>
                    <a:pt x="5792477" y="926250"/>
                  </a:lnTo>
                  <a:lnTo>
                    <a:pt x="5821584" y="906621"/>
                  </a:lnTo>
                  <a:lnTo>
                    <a:pt x="5841214" y="877514"/>
                  </a:lnTo>
                  <a:lnTo>
                    <a:pt x="5848413" y="841883"/>
                  </a:lnTo>
                  <a:lnTo>
                    <a:pt x="5848413" y="91440"/>
                  </a:lnTo>
                  <a:lnTo>
                    <a:pt x="5841214" y="55828"/>
                  </a:lnTo>
                  <a:lnTo>
                    <a:pt x="5821584" y="26765"/>
                  </a:lnTo>
                  <a:lnTo>
                    <a:pt x="5792477" y="7179"/>
                  </a:lnTo>
                  <a:lnTo>
                    <a:pt x="5756846" y="0"/>
                  </a:lnTo>
                  <a:close/>
                </a:path>
              </a:pathLst>
            </a:custGeom>
            <a:solidFill>
              <a:srgbClr val="1A6B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157287" y="2690876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0" y="91440"/>
                  </a:moveTo>
                  <a:lnTo>
                    <a:pt x="7191" y="55828"/>
                  </a:lnTo>
                  <a:lnTo>
                    <a:pt x="26803" y="26765"/>
                  </a:lnTo>
                  <a:lnTo>
                    <a:pt x="55892" y="7179"/>
                  </a:lnTo>
                  <a:lnTo>
                    <a:pt x="91516" y="0"/>
                  </a:lnTo>
                  <a:lnTo>
                    <a:pt x="5756846" y="0"/>
                  </a:lnTo>
                  <a:lnTo>
                    <a:pt x="5792477" y="7179"/>
                  </a:lnTo>
                  <a:lnTo>
                    <a:pt x="5821584" y="26765"/>
                  </a:lnTo>
                  <a:lnTo>
                    <a:pt x="5841214" y="55828"/>
                  </a:lnTo>
                  <a:lnTo>
                    <a:pt x="5848413" y="91440"/>
                  </a:lnTo>
                  <a:lnTo>
                    <a:pt x="5848413" y="841883"/>
                  </a:lnTo>
                  <a:lnTo>
                    <a:pt x="5841214" y="877514"/>
                  </a:lnTo>
                  <a:lnTo>
                    <a:pt x="5821584" y="906621"/>
                  </a:lnTo>
                  <a:lnTo>
                    <a:pt x="5792477" y="926250"/>
                  </a:lnTo>
                  <a:lnTo>
                    <a:pt x="5756846" y="933450"/>
                  </a:lnTo>
                  <a:lnTo>
                    <a:pt x="91516" y="933450"/>
                  </a:lnTo>
                  <a:lnTo>
                    <a:pt x="55892" y="926250"/>
                  </a:lnTo>
                  <a:lnTo>
                    <a:pt x="26803" y="906621"/>
                  </a:lnTo>
                  <a:lnTo>
                    <a:pt x="7191" y="877514"/>
                  </a:lnTo>
                  <a:lnTo>
                    <a:pt x="0" y="841883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1A6B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50" y="3086100"/>
              <a:ext cx="66675" cy="66675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50" y="3314700"/>
              <a:ext cx="66675" cy="66675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1305560" y="2780982"/>
            <a:ext cx="298069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QPSO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mbria"/>
                <a:cs typeface="Cambria"/>
              </a:rPr>
              <a:t>Feature</a:t>
            </a:r>
            <a:r>
              <a:rPr dirty="0" sz="1200" spc="-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Selection</a:t>
            </a:r>
            <a:endParaRPr sz="120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755"/>
              </a:spcBef>
            </a:pP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Initialize</a:t>
            </a:r>
            <a:r>
              <a:rPr dirty="0" sz="950" spc="2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particles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(each =</a:t>
            </a:r>
            <a:r>
              <a:rPr dirty="0" sz="950" spc="-4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feature</a:t>
            </a:r>
            <a:r>
              <a:rPr dirty="0" sz="950" spc="2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subset),</a:t>
            </a:r>
            <a:r>
              <a:rPr dirty="0" sz="950" spc="-2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evaluate</a:t>
            </a:r>
            <a:r>
              <a:rPr dirty="0" sz="950" spc="-4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fitness</a:t>
            </a:r>
            <a:endParaRPr sz="950">
              <a:latin typeface="Calibri"/>
              <a:cs typeface="Calibri"/>
            </a:endParaRPr>
          </a:p>
          <a:p>
            <a:pPr marL="140335">
              <a:lnSpc>
                <a:spcPct val="100000"/>
              </a:lnSpc>
              <a:spcBef>
                <a:spcPts val="665"/>
              </a:spcBef>
            </a:pP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Quantum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velocity</a:t>
            </a:r>
            <a:r>
              <a:rPr dirty="0" sz="950" spc="-4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update</a:t>
            </a:r>
            <a:r>
              <a:rPr dirty="0" sz="950" spc="-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→</a:t>
            </a:r>
            <a:r>
              <a:rPr dirty="0" sz="950" spc="5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converge</a:t>
            </a:r>
            <a:r>
              <a:rPr dirty="0" sz="950" spc="-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to</a:t>
            </a:r>
            <a:r>
              <a:rPr dirty="0" sz="950" spc="4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best</a:t>
            </a:r>
            <a:r>
              <a:rPr dirty="0" sz="950" spc="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30">
                <a:solidFill>
                  <a:srgbClr val="D7EAF5"/>
                </a:solidFill>
                <a:latin typeface="Calibri"/>
                <a:cs typeface="Calibri"/>
              </a:rPr>
              <a:t>19</a:t>
            </a:r>
            <a:r>
              <a:rPr dirty="0" sz="950" spc="-1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features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6943725" y="2667063"/>
            <a:ext cx="2014855" cy="1357630"/>
            <a:chOff x="6943725" y="2667063"/>
            <a:chExt cx="2014855" cy="1357630"/>
          </a:xfrm>
        </p:grpSpPr>
        <p:pic>
          <p:nvPicPr>
            <p:cNvPr id="43" name="object 4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43725" y="2667063"/>
              <a:ext cx="2014601" cy="1357249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7134225" y="2781300"/>
              <a:ext cx="1714500" cy="1057275"/>
            </a:xfrm>
            <a:custGeom>
              <a:avLst/>
              <a:gdLst/>
              <a:ahLst/>
              <a:cxnLst/>
              <a:rect l="l" t="t" r="r" b="b"/>
              <a:pathLst>
                <a:path w="1714500" h="1057275">
                  <a:moveTo>
                    <a:pt x="1641602" y="0"/>
                  </a:moveTo>
                  <a:lnTo>
                    <a:pt x="72898" y="0"/>
                  </a:lnTo>
                  <a:lnTo>
                    <a:pt x="44523" y="5728"/>
                  </a:lnTo>
                  <a:lnTo>
                    <a:pt x="21351" y="21351"/>
                  </a:lnTo>
                  <a:lnTo>
                    <a:pt x="5728" y="44523"/>
                  </a:lnTo>
                  <a:lnTo>
                    <a:pt x="0" y="72898"/>
                  </a:lnTo>
                  <a:lnTo>
                    <a:pt x="0" y="984377"/>
                  </a:lnTo>
                  <a:lnTo>
                    <a:pt x="5728" y="1012751"/>
                  </a:lnTo>
                  <a:lnTo>
                    <a:pt x="21351" y="1035923"/>
                  </a:lnTo>
                  <a:lnTo>
                    <a:pt x="44523" y="1051546"/>
                  </a:lnTo>
                  <a:lnTo>
                    <a:pt x="72898" y="1057275"/>
                  </a:lnTo>
                  <a:lnTo>
                    <a:pt x="1641602" y="1057275"/>
                  </a:lnTo>
                  <a:lnTo>
                    <a:pt x="1669976" y="1051546"/>
                  </a:lnTo>
                  <a:lnTo>
                    <a:pt x="1693148" y="1035923"/>
                  </a:lnTo>
                  <a:lnTo>
                    <a:pt x="1708771" y="1012751"/>
                  </a:lnTo>
                  <a:lnTo>
                    <a:pt x="1714500" y="984377"/>
                  </a:lnTo>
                  <a:lnTo>
                    <a:pt x="1714500" y="72898"/>
                  </a:lnTo>
                  <a:lnTo>
                    <a:pt x="1708771" y="44523"/>
                  </a:lnTo>
                  <a:lnTo>
                    <a:pt x="1693148" y="21351"/>
                  </a:lnTo>
                  <a:lnTo>
                    <a:pt x="1669976" y="5728"/>
                  </a:lnTo>
                  <a:lnTo>
                    <a:pt x="1641602" y="0"/>
                  </a:lnTo>
                  <a:close/>
                </a:path>
              </a:pathLst>
            </a:custGeom>
            <a:solidFill>
              <a:srgbClr val="1A6B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134225" y="2781300"/>
              <a:ext cx="1714500" cy="1057275"/>
            </a:xfrm>
            <a:custGeom>
              <a:avLst/>
              <a:gdLst/>
              <a:ahLst/>
              <a:cxnLst/>
              <a:rect l="l" t="t" r="r" b="b"/>
              <a:pathLst>
                <a:path w="1714500" h="1057275">
                  <a:moveTo>
                    <a:pt x="0" y="72898"/>
                  </a:moveTo>
                  <a:lnTo>
                    <a:pt x="5728" y="44523"/>
                  </a:lnTo>
                  <a:lnTo>
                    <a:pt x="21351" y="21351"/>
                  </a:lnTo>
                  <a:lnTo>
                    <a:pt x="44523" y="5728"/>
                  </a:lnTo>
                  <a:lnTo>
                    <a:pt x="72898" y="0"/>
                  </a:lnTo>
                  <a:lnTo>
                    <a:pt x="1641602" y="0"/>
                  </a:lnTo>
                  <a:lnTo>
                    <a:pt x="1669976" y="5728"/>
                  </a:lnTo>
                  <a:lnTo>
                    <a:pt x="1693148" y="21351"/>
                  </a:lnTo>
                  <a:lnTo>
                    <a:pt x="1708771" y="44523"/>
                  </a:lnTo>
                  <a:lnTo>
                    <a:pt x="1714500" y="72898"/>
                  </a:lnTo>
                  <a:lnTo>
                    <a:pt x="1714500" y="984377"/>
                  </a:lnTo>
                  <a:lnTo>
                    <a:pt x="1708771" y="1012751"/>
                  </a:lnTo>
                  <a:lnTo>
                    <a:pt x="1693148" y="1035923"/>
                  </a:lnTo>
                  <a:lnTo>
                    <a:pt x="1669976" y="1051546"/>
                  </a:lnTo>
                  <a:lnTo>
                    <a:pt x="1641602" y="1057275"/>
                  </a:lnTo>
                  <a:lnTo>
                    <a:pt x="72898" y="1057275"/>
                  </a:lnTo>
                  <a:lnTo>
                    <a:pt x="44523" y="1051546"/>
                  </a:lnTo>
                  <a:lnTo>
                    <a:pt x="21351" y="1035923"/>
                  </a:lnTo>
                  <a:lnTo>
                    <a:pt x="5728" y="1012751"/>
                  </a:lnTo>
                  <a:lnTo>
                    <a:pt x="0" y="984377"/>
                  </a:lnTo>
                  <a:lnTo>
                    <a:pt x="0" y="72898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134225" y="2781300"/>
              <a:ext cx="1714500" cy="295275"/>
            </a:xfrm>
            <a:custGeom>
              <a:avLst/>
              <a:gdLst/>
              <a:ahLst/>
              <a:cxnLst/>
              <a:rect l="l" t="t" r="r" b="b"/>
              <a:pathLst>
                <a:path w="1714500" h="295275">
                  <a:moveTo>
                    <a:pt x="1640713" y="0"/>
                  </a:moveTo>
                  <a:lnTo>
                    <a:pt x="73786" y="0"/>
                  </a:lnTo>
                  <a:lnTo>
                    <a:pt x="45059" y="5796"/>
                  </a:lnTo>
                  <a:lnTo>
                    <a:pt x="21605" y="21605"/>
                  </a:lnTo>
                  <a:lnTo>
                    <a:pt x="5796" y="45059"/>
                  </a:lnTo>
                  <a:lnTo>
                    <a:pt x="0" y="73787"/>
                  </a:lnTo>
                  <a:lnTo>
                    <a:pt x="0" y="221487"/>
                  </a:lnTo>
                  <a:lnTo>
                    <a:pt x="5796" y="250215"/>
                  </a:lnTo>
                  <a:lnTo>
                    <a:pt x="21605" y="273669"/>
                  </a:lnTo>
                  <a:lnTo>
                    <a:pt x="45059" y="289478"/>
                  </a:lnTo>
                  <a:lnTo>
                    <a:pt x="73786" y="295275"/>
                  </a:lnTo>
                  <a:lnTo>
                    <a:pt x="1640713" y="295275"/>
                  </a:lnTo>
                  <a:lnTo>
                    <a:pt x="1669440" y="289478"/>
                  </a:lnTo>
                  <a:lnTo>
                    <a:pt x="1692894" y="273669"/>
                  </a:lnTo>
                  <a:lnTo>
                    <a:pt x="1708703" y="250215"/>
                  </a:lnTo>
                  <a:lnTo>
                    <a:pt x="1714500" y="221487"/>
                  </a:lnTo>
                  <a:lnTo>
                    <a:pt x="1714500" y="73787"/>
                  </a:lnTo>
                  <a:lnTo>
                    <a:pt x="1708703" y="45059"/>
                  </a:lnTo>
                  <a:lnTo>
                    <a:pt x="1692894" y="21605"/>
                  </a:lnTo>
                  <a:lnTo>
                    <a:pt x="1669440" y="5796"/>
                  </a:lnTo>
                  <a:lnTo>
                    <a:pt x="16407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7255256" y="2842196"/>
            <a:ext cx="9639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latin typeface="Cambria"/>
                <a:cs typeface="Cambria"/>
              </a:rPr>
              <a:t>QPSO</a:t>
            </a:r>
            <a:r>
              <a:rPr dirty="0" sz="950" spc="135" b="1">
                <a:latin typeface="Cambria"/>
                <a:cs typeface="Cambria"/>
              </a:rPr>
              <a:t> </a:t>
            </a:r>
            <a:r>
              <a:rPr dirty="0" sz="950" spc="-10" b="1">
                <a:latin typeface="Cambria"/>
                <a:cs typeface="Cambria"/>
              </a:rPr>
              <a:t>Algorithm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7255256" y="2866707"/>
            <a:ext cx="1508760" cy="97853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97155" indent="-84455">
              <a:lnSpc>
                <a:spcPct val="100000"/>
              </a:lnSpc>
              <a:spcBef>
                <a:spcPts val="685"/>
              </a:spcBef>
              <a:buChar char="•"/>
              <a:tabLst>
                <a:tab pos="97155" algn="l"/>
              </a:tabLst>
            </a:pP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Feature</a:t>
            </a:r>
            <a:r>
              <a:rPr dirty="0" sz="950" spc="-15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Subset</a:t>
            </a:r>
            <a:r>
              <a:rPr dirty="0" sz="950" spc="5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Optimization</a:t>
            </a:r>
            <a:endParaRPr sz="950">
              <a:latin typeface="Calibri"/>
              <a:cs typeface="Calibri"/>
            </a:endParaRPr>
          </a:p>
          <a:p>
            <a:pPr marL="97155" indent="-84455">
              <a:lnSpc>
                <a:spcPct val="100000"/>
              </a:lnSpc>
              <a:spcBef>
                <a:spcPts val="590"/>
              </a:spcBef>
              <a:buChar char="•"/>
              <a:tabLst>
                <a:tab pos="97155" algn="l"/>
              </a:tabLst>
            </a:pP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Dimensionality</a:t>
            </a:r>
            <a:r>
              <a:rPr dirty="0" sz="950" spc="-20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Reduction</a:t>
            </a:r>
            <a:endParaRPr sz="950">
              <a:latin typeface="Calibri"/>
              <a:cs typeface="Calibri"/>
            </a:endParaRPr>
          </a:p>
          <a:p>
            <a:pPr marL="97155" indent="-84455">
              <a:lnSpc>
                <a:spcPct val="100000"/>
              </a:lnSpc>
              <a:spcBef>
                <a:spcPts val="880"/>
              </a:spcBef>
              <a:buChar char="•"/>
              <a:tabLst>
                <a:tab pos="97155" algn="l"/>
              </a:tabLst>
            </a:pP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Optimal</a:t>
            </a:r>
            <a:r>
              <a:rPr dirty="0" sz="950" spc="-25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Feature</a:t>
            </a:r>
            <a:r>
              <a:rPr dirty="0" sz="950" spc="10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Subset</a:t>
            </a:r>
            <a:endParaRPr sz="950">
              <a:latin typeface="Calibri"/>
              <a:cs typeface="Calibri"/>
            </a:endParaRPr>
          </a:p>
          <a:p>
            <a:pPr marL="97155" indent="-84455">
              <a:lnSpc>
                <a:spcPct val="100000"/>
              </a:lnSpc>
              <a:spcBef>
                <a:spcPts val="880"/>
              </a:spcBef>
              <a:buChar char="•"/>
              <a:tabLst>
                <a:tab pos="97155" algn="l"/>
              </a:tabLst>
            </a:pP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41</a:t>
            </a:r>
            <a:r>
              <a:rPr dirty="0" sz="950" spc="229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→</a:t>
            </a:r>
            <a:r>
              <a:rPr dirty="0" sz="950" spc="220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19</a:t>
            </a:r>
            <a:r>
              <a:rPr dirty="0" sz="950" spc="-15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features</a:t>
            </a:r>
            <a:r>
              <a:rPr dirty="0" sz="950" spc="-55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(53%</a:t>
            </a:r>
            <a:r>
              <a:rPr dirty="0" sz="950" spc="10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C7E3FF"/>
                </a:solidFill>
                <a:latin typeface="Calibri"/>
                <a:cs typeface="Calibri"/>
              </a:rPr>
              <a:t>↓)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314325" y="3543827"/>
            <a:ext cx="6796405" cy="1290320"/>
            <a:chOff x="314325" y="3543827"/>
            <a:chExt cx="6796405" cy="1290320"/>
          </a:xfrm>
        </p:grpSpPr>
        <p:pic>
          <p:nvPicPr>
            <p:cNvPr id="50" name="object 5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224" y="3543827"/>
              <a:ext cx="171149" cy="17104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4325" y="3848100"/>
              <a:ext cx="657225" cy="657225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1550" y="3609975"/>
              <a:ext cx="6138926" cy="1223962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1157287" y="3719576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5756846" y="0"/>
                  </a:moveTo>
                  <a:lnTo>
                    <a:pt x="91516" y="0"/>
                  </a:lnTo>
                  <a:lnTo>
                    <a:pt x="55892" y="7179"/>
                  </a:lnTo>
                  <a:lnTo>
                    <a:pt x="26803" y="26765"/>
                  </a:lnTo>
                  <a:lnTo>
                    <a:pt x="7191" y="55828"/>
                  </a:lnTo>
                  <a:lnTo>
                    <a:pt x="0" y="91440"/>
                  </a:lnTo>
                  <a:lnTo>
                    <a:pt x="0" y="841870"/>
                  </a:lnTo>
                  <a:lnTo>
                    <a:pt x="7191" y="877493"/>
                  </a:lnTo>
                  <a:lnTo>
                    <a:pt x="26803" y="906583"/>
                  </a:lnTo>
                  <a:lnTo>
                    <a:pt x="55892" y="926195"/>
                  </a:lnTo>
                  <a:lnTo>
                    <a:pt x="91516" y="933386"/>
                  </a:lnTo>
                  <a:lnTo>
                    <a:pt x="5756846" y="933386"/>
                  </a:lnTo>
                  <a:lnTo>
                    <a:pt x="5792477" y="926195"/>
                  </a:lnTo>
                  <a:lnTo>
                    <a:pt x="5821584" y="906583"/>
                  </a:lnTo>
                  <a:lnTo>
                    <a:pt x="5841214" y="877493"/>
                  </a:lnTo>
                  <a:lnTo>
                    <a:pt x="5848413" y="841870"/>
                  </a:lnTo>
                  <a:lnTo>
                    <a:pt x="5848413" y="91440"/>
                  </a:lnTo>
                  <a:lnTo>
                    <a:pt x="5841214" y="55828"/>
                  </a:lnTo>
                  <a:lnTo>
                    <a:pt x="5821584" y="26765"/>
                  </a:lnTo>
                  <a:lnTo>
                    <a:pt x="5792477" y="7179"/>
                  </a:lnTo>
                  <a:lnTo>
                    <a:pt x="5756846" y="0"/>
                  </a:lnTo>
                  <a:close/>
                </a:path>
              </a:pathLst>
            </a:custGeom>
            <a:solidFill>
              <a:srgbClr val="0079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157287" y="3719576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0" y="91440"/>
                  </a:moveTo>
                  <a:lnTo>
                    <a:pt x="7191" y="55828"/>
                  </a:lnTo>
                  <a:lnTo>
                    <a:pt x="26803" y="26765"/>
                  </a:lnTo>
                  <a:lnTo>
                    <a:pt x="55892" y="7179"/>
                  </a:lnTo>
                  <a:lnTo>
                    <a:pt x="91516" y="0"/>
                  </a:lnTo>
                  <a:lnTo>
                    <a:pt x="5756846" y="0"/>
                  </a:lnTo>
                  <a:lnTo>
                    <a:pt x="5792477" y="7179"/>
                  </a:lnTo>
                  <a:lnTo>
                    <a:pt x="5821584" y="26765"/>
                  </a:lnTo>
                  <a:lnTo>
                    <a:pt x="5841214" y="55828"/>
                  </a:lnTo>
                  <a:lnTo>
                    <a:pt x="5848413" y="91440"/>
                  </a:lnTo>
                  <a:lnTo>
                    <a:pt x="5848413" y="841870"/>
                  </a:lnTo>
                  <a:lnTo>
                    <a:pt x="5841214" y="877493"/>
                  </a:lnTo>
                  <a:lnTo>
                    <a:pt x="5821584" y="906583"/>
                  </a:lnTo>
                  <a:lnTo>
                    <a:pt x="5792477" y="926195"/>
                  </a:lnTo>
                  <a:lnTo>
                    <a:pt x="5756846" y="933386"/>
                  </a:lnTo>
                  <a:lnTo>
                    <a:pt x="91516" y="933386"/>
                  </a:lnTo>
                  <a:lnTo>
                    <a:pt x="55892" y="926195"/>
                  </a:lnTo>
                  <a:lnTo>
                    <a:pt x="26803" y="906583"/>
                  </a:lnTo>
                  <a:lnTo>
                    <a:pt x="7191" y="877493"/>
                  </a:lnTo>
                  <a:lnTo>
                    <a:pt x="0" y="841870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00798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14450" y="4114800"/>
              <a:ext cx="66675" cy="66675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14450" y="4343400"/>
              <a:ext cx="66675" cy="66675"/>
            </a:xfrm>
            <a:prstGeom prst="rect">
              <a:avLst/>
            </a:prstGeom>
          </p:spPr>
        </p:pic>
      </p:grpSp>
      <p:sp>
        <p:nvSpPr>
          <p:cNvPr id="57" name="object 57" descr=""/>
          <p:cNvSpPr txBox="1"/>
          <p:nvPr/>
        </p:nvSpPr>
        <p:spPr>
          <a:xfrm>
            <a:off x="1305560" y="3807459"/>
            <a:ext cx="2571750" cy="678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Hybrid</a:t>
            </a:r>
            <a:r>
              <a:rPr dirty="0" sz="1200" spc="-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RF</a:t>
            </a:r>
            <a:r>
              <a:rPr dirty="0" sz="1200" spc="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dirty="0" sz="1200" spc="-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QPSO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Cambria"/>
                <a:cs typeface="Cambria"/>
              </a:rPr>
              <a:t>Model</a:t>
            </a:r>
            <a:endParaRPr sz="1200">
              <a:latin typeface="Cambria"/>
              <a:cs typeface="Cambria"/>
            </a:endParaRPr>
          </a:p>
          <a:p>
            <a:pPr marL="140335" marR="5080">
              <a:lnSpc>
                <a:spcPct val="158300"/>
              </a:lnSpc>
              <a:spcBef>
                <a:spcPts val="85"/>
              </a:spcBef>
            </a:pP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Re-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train</a:t>
            </a:r>
            <a:r>
              <a:rPr dirty="0" sz="950" spc="3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Random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Forest on</a:t>
            </a:r>
            <a:r>
              <a:rPr dirty="0" sz="950" spc="-4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19</a:t>
            </a:r>
            <a:r>
              <a:rPr dirty="0" sz="950" spc="-2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optimized</a:t>
            </a:r>
            <a:r>
              <a:rPr dirty="0" sz="950" spc="-4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features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Evaluate:</a:t>
            </a:r>
            <a:r>
              <a:rPr dirty="0" sz="950" spc="-2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Accuracy</a:t>
            </a:r>
            <a:r>
              <a:rPr dirty="0" sz="950" spc="2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·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Precision</a:t>
            </a:r>
            <a:r>
              <a:rPr dirty="0" sz="950" spc="-5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· Recall</a:t>
            </a:r>
            <a:r>
              <a:rPr dirty="0" sz="950" spc="-6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· F1</a:t>
            </a:r>
            <a:r>
              <a:rPr dirty="0" sz="950" spc="-3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·</a:t>
            </a:r>
            <a:r>
              <a:rPr dirty="0" sz="950" spc="-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D7EAF5"/>
                </a:solidFill>
                <a:latin typeface="Calibri"/>
                <a:cs typeface="Calibri"/>
              </a:rPr>
              <a:t>FPR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133350" y="4667250"/>
            <a:ext cx="6129655" cy="476250"/>
            <a:chOff x="133350" y="4667250"/>
            <a:chExt cx="6129655" cy="476250"/>
          </a:xfrm>
        </p:grpSpPr>
        <p:pic>
          <p:nvPicPr>
            <p:cNvPr id="59" name="object 5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3350" y="4667250"/>
              <a:ext cx="6129401" cy="476250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314325" y="4772025"/>
              <a:ext cx="5848350" cy="352425"/>
            </a:xfrm>
            <a:custGeom>
              <a:avLst/>
              <a:gdLst/>
              <a:ahLst/>
              <a:cxnLst/>
              <a:rect l="l" t="t" r="r" b="b"/>
              <a:pathLst>
                <a:path w="5848350" h="352425">
                  <a:moveTo>
                    <a:pt x="5774182" y="0"/>
                  </a:moveTo>
                  <a:lnTo>
                    <a:pt x="74193" y="0"/>
                  </a:lnTo>
                  <a:lnTo>
                    <a:pt x="45316" y="5831"/>
                  </a:lnTo>
                  <a:lnTo>
                    <a:pt x="21732" y="21732"/>
                  </a:lnTo>
                  <a:lnTo>
                    <a:pt x="5831" y="45316"/>
                  </a:lnTo>
                  <a:lnTo>
                    <a:pt x="0" y="74193"/>
                  </a:lnTo>
                  <a:lnTo>
                    <a:pt x="0" y="278226"/>
                  </a:lnTo>
                  <a:lnTo>
                    <a:pt x="5831" y="307108"/>
                  </a:lnTo>
                  <a:lnTo>
                    <a:pt x="21732" y="330692"/>
                  </a:lnTo>
                  <a:lnTo>
                    <a:pt x="45316" y="346594"/>
                  </a:lnTo>
                  <a:lnTo>
                    <a:pt x="74193" y="352425"/>
                  </a:lnTo>
                  <a:lnTo>
                    <a:pt x="5774182" y="352425"/>
                  </a:lnTo>
                  <a:lnTo>
                    <a:pt x="5803022" y="346594"/>
                  </a:lnTo>
                  <a:lnTo>
                    <a:pt x="5826601" y="330692"/>
                  </a:lnTo>
                  <a:lnTo>
                    <a:pt x="5842511" y="307108"/>
                  </a:lnTo>
                  <a:lnTo>
                    <a:pt x="5848350" y="278226"/>
                  </a:lnTo>
                  <a:lnTo>
                    <a:pt x="5848350" y="74193"/>
                  </a:lnTo>
                  <a:lnTo>
                    <a:pt x="5842511" y="45316"/>
                  </a:lnTo>
                  <a:lnTo>
                    <a:pt x="5826601" y="21732"/>
                  </a:lnTo>
                  <a:lnTo>
                    <a:pt x="5803022" y="5831"/>
                  </a:lnTo>
                  <a:lnTo>
                    <a:pt x="5774182" y="0"/>
                  </a:lnTo>
                  <a:close/>
                </a:path>
              </a:pathLst>
            </a:custGeom>
            <a:solidFill>
              <a:srgbClr val="1B2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216217" y="4863372"/>
            <a:ext cx="5341620" cy="29845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708660">
              <a:lnSpc>
                <a:spcPct val="100000"/>
              </a:lnSpc>
              <a:spcBef>
                <a:spcPts val="80"/>
              </a:spcBef>
            </a:pP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Output</a:t>
            </a:r>
            <a:r>
              <a:rPr dirty="0" sz="950" spc="13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→</a:t>
            </a:r>
            <a:r>
              <a:rPr dirty="0" sz="950" spc="11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Hybrid</a:t>
            </a:r>
            <a:r>
              <a:rPr dirty="0" sz="950" spc="85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QPSO+RF</a:t>
            </a:r>
            <a:r>
              <a:rPr dirty="0" sz="950" spc="95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Model</a:t>
            </a:r>
            <a:r>
              <a:rPr dirty="0" sz="950" spc="6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Trained</a:t>
            </a:r>
            <a:r>
              <a:rPr dirty="0" sz="950" spc="85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·</a:t>
            </a:r>
            <a:r>
              <a:rPr dirty="0" sz="950" spc="14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Baseline</a:t>
            </a:r>
            <a:r>
              <a:rPr dirty="0" sz="950" spc="135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Metrics</a:t>
            </a:r>
            <a:r>
              <a:rPr dirty="0" sz="950" spc="65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Saved</a:t>
            </a:r>
            <a:r>
              <a:rPr dirty="0" sz="950" spc="8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→</a:t>
            </a:r>
            <a:r>
              <a:rPr dirty="0" sz="950" spc="114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Passes</a:t>
            </a:r>
            <a:r>
              <a:rPr dirty="0" sz="950" spc="65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to</a:t>
            </a:r>
            <a:r>
              <a:rPr dirty="0" sz="950" spc="85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Phase</a:t>
            </a:r>
            <a:r>
              <a:rPr dirty="0" sz="950" spc="13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spc="-50" b="1">
                <a:solidFill>
                  <a:srgbClr val="8ABCD9"/>
                </a:solidFill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650">
                <a:solidFill>
                  <a:srgbClr val="9FB8CC"/>
                </a:solidFill>
                <a:latin typeface="Calibri"/>
                <a:cs typeface="Calibri"/>
              </a:rPr>
              <a:t>Quantum-Inspired</a:t>
            </a:r>
            <a:r>
              <a:rPr dirty="0" sz="650" spc="80">
                <a:solidFill>
                  <a:srgbClr val="9FB8CC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9FB8CC"/>
                </a:solidFill>
                <a:latin typeface="Calibri"/>
                <a:cs typeface="Calibri"/>
              </a:rPr>
              <a:t>NIDS</a:t>
            </a:r>
            <a:r>
              <a:rPr dirty="0" sz="650" spc="355">
                <a:solidFill>
                  <a:srgbClr val="9FB8CC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9FB8CC"/>
                </a:solidFill>
                <a:latin typeface="Calibri"/>
                <a:cs typeface="Calibri"/>
              </a:rPr>
              <a:t>|</a:t>
            </a:r>
            <a:r>
              <a:rPr dirty="0" sz="650" spc="250">
                <a:solidFill>
                  <a:srgbClr val="9FB8CC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9FB8CC"/>
                </a:solidFill>
                <a:latin typeface="Calibri"/>
                <a:cs typeface="Calibri"/>
              </a:rPr>
              <a:t>Ini</a:t>
            </a:r>
            <a:r>
              <a:rPr dirty="0" sz="650" spc="-55">
                <a:solidFill>
                  <a:srgbClr val="9FB8CC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9FB8CC"/>
                </a:solidFill>
                <a:latin typeface="Calibri"/>
                <a:cs typeface="Calibri"/>
              </a:rPr>
              <a:t>tial</a:t>
            </a:r>
            <a:r>
              <a:rPr dirty="0" sz="650" spc="155">
                <a:solidFill>
                  <a:srgbClr val="9FB8CC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9FB8CC"/>
                </a:solidFill>
                <a:latin typeface="Calibri"/>
                <a:cs typeface="Calibri"/>
              </a:rPr>
              <a:t>Defence</a:t>
            </a:r>
            <a:endParaRPr sz="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28600" y="152400"/>
            <a:ext cx="1733550" cy="257175"/>
          </a:xfrm>
          <a:custGeom>
            <a:avLst/>
            <a:gdLst/>
            <a:ahLst/>
            <a:cxnLst/>
            <a:rect l="l" t="t" r="r" b="b"/>
            <a:pathLst>
              <a:path w="1733550" h="257175">
                <a:moveTo>
                  <a:pt x="1605026" y="0"/>
                </a:moveTo>
                <a:lnTo>
                  <a:pt x="128587" y="0"/>
                </a:lnTo>
                <a:lnTo>
                  <a:pt x="78534" y="10098"/>
                </a:lnTo>
                <a:lnTo>
                  <a:pt x="37661" y="37639"/>
                </a:lnTo>
                <a:lnTo>
                  <a:pt x="10104" y="78491"/>
                </a:lnTo>
                <a:lnTo>
                  <a:pt x="0" y="128524"/>
                </a:lnTo>
                <a:lnTo>
                  <a:pt x="10104" y="178629"/>
                </a:lnTo>
                <a:lnTo>
                  <a:pt x="37661" y="219519"/>
                </a:lnTo>
                <a:lnTo>
                  <a:pt x="78534" y="247074"/>
                </a:lnTo>
                <a:lnTo>
                  <a:pt x="128587" y="257175"/>
                </a:lnTo>
                <a:lnTo>
                  <a:pt x="1605026" y="257175"/>
                </a:lnTo>
                <a:lnTo>
                  <a:pt x="1655058" y="247074"/>
                </a:lnTo>
                <a:lnTo>
                  <a:pt x="1695910" y="219519"/>
                </a:lnTo>
                <a:lnTo>
                  <a:pt x="1723451" y="178629"/>
                </a:lnTo>
                <a:lnTo>
                  <a:pt x="1733550" y="128524"/>
                </a:lnTo>
                <a:lnTo>
                  <a:pt x="1723451" y="78491"/>
                </a:lnTo>
                <a:lnTo>
                  <a:pt x="1695910" y="37639"/>
                </a:lnTo>
                <a:lnTo>
                  <a:pt x="1655058" y="10098"/>
                </a:lnTo>
                <a:lnTo>
                  <a:pt x="1605026" y="0"/>
                </a:lnTo>
                <a:close/>
              </a:path>
            </a:pathLst>
          </a:custGeom>
          <a:solidFill>
            <a:srgbClr val="1B4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89242" y="201040"/>
            <a:ext cx="12725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dirty="0" sz="8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80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dirty="0" sz="8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55" b="1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dirty="0" sz="80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60" b="1">
                <a:solidFill>
                  <a:srgbClr val="FFFFFF"/>
                </a:solidFill>
                <a:latin typeface="Calibri"/>
                <a:cs typeface="Calibri"/>
              </a:rPr>
              <a:t>LO</a:t>
            </a:r>
            <a:r>
              <a:rPr dirty="0" sz="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800" spc="215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dirty="0" sz="800" spc="3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800" spc="3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/>
              <a:t>Attack</a:t>
            </a:r>
            <a:r>
              <a:rPr dirty="0" spc="60"/>
              <a:t> </a:t>
            </a:r>
            <a:r>
              <a:rPr dirty="0"/>
              <a:t>Detection</a:t>
            </a:r>
            <a:r>
              <a:rPr dirty="0" spc="25"/>
              <a:t> </a:t>
            </a:r>
            <a:r>
              <a:rPr dirty="0"/>
              <a:t>&amp;</a:t>
            </a:r>
            <a:r>
              <a:rPr dirty="0" spc="70"/>
              <a:t> </a:t>
            </a:r>
            <a:r>
              <a:rPr dirty="0"/>
              <a:t>GUI</a:t>
            </a:r>
            <a:r>
              <a:rPr dirty="0" spc="60"/>
              <a:t> </a:t>
            </a:r>
            <a:r>
              <a:rPr dirty="0" spc="-10"/>
              <a:t>Simulation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1284350"/>
            <a:ext cx="9144000" cy="3859529"/>
            <a:chOff x="0" y="1284350"/>
            <a:chExt cx="9144000" cy="3859529"/>
          </a:xfrm>
        </p:grpSpPr>
        <p:sp>
          <p:nvSpPr>
            <p:cNvPr id="6" name="object 6" descr=""/>
            <p:cNvSpPr/>
            <p:nvPr/>
          </p:nvSpPr>
          <p:spPr>
            <a:xfrm>
              <a:off x="0" y="5029199"/>
              <a:ext cx="9144000" cy="114300"/>
            </a:xfrm>
            <a:custGeom>
              <a:avLst/>
              <a:gdLst/>
              <a:ahLst/>
              <a:cxnLst/>
              <a:rect l="l" t="t" r="r" b="b"/>
              <a:pathLst>
                <a:path w="9144000" h="114300">
                  <a:moveTo>
                    <a:pt x="9144000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9144000" y="1143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B4F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33362" y="1290700"/>
              <a:ext cx="2800985" cy="314325"/>
            </a:xfrm>
            <a:custGeom>
              <a:avLst/>
              <a:gdLst/>
              <a:ahLst/>
              <a:cxnLst/>
              <a:rect l="l" t="t" r="r" b="b"/>
              <a:pathLst>
                <a:path w="2800985" h="314325">
                  <a:moveTo>
                    <a:pt x="2643187" y="0"/>
                  </a:moveTo>
                  <a:lnTo>
                    <a:pt x="157162" y="0"/>
                  </a:lnTo>
                  <a:lnTo>
                    <a:pt x="107484" y="8011"/>
                  </a:lnTo>
                  <a:lnTo>
                    <a:pt x="64341" y="30317"/>
                  </a:lnTo>
                  <a:lnTo>
                    <a:pt x="30321" y="64328"/>
                  </a:lnTo>
                  <a:lnTo>
                    <a:pt x="8011" y="107452"/>
                  </a:lnTo>
                  <a:lnTo>
                    <a:pt x="0" y="157099"/>
                  </a:lnTo>
                  <a:lnTo>
                    <a:pt x="8011" y="206759"/>
                  </a:lnTo>
                  <a:lnTo>
                    <a:pt x="30321" y="249914"/>
                  </a:lnTo>
                  <a:lnTo>
                    <a:pt x="64341" y="283962"/>
                  </a:lnTo>
                  <a:lnTo>
                    <a:pt x="107484" y="306300"/>
                  </a:lnTo>
                  <a:lnTo>
                    <a:pt x="157162" y="314325"/>
                  </a:lnTo>
                  <a:lnTo>
                    <a:pt x="2643187" y="314325"/>
                  </a:lnTo>
                  <a:lnTo>
                    <a:pt x="2692847" y="306300"/>
                  </a:lnTo>
                  <a:lnTo>
                    <a:pt x="2736003" y="283962"/>
                  </a:lnTo>
                  <a:lnTo>
                    <a:pt x="2770051" y="249914"/>
                  </a:lnTo>
                  <a:lnTo>
                    <a:pt x="2792389" y="206759"/>
                  </a:lnTo>
                  <a:lnTo>
                    <a:pt x="2800413" y="157099"/>
                  </a:lnTo>
                  <a:lnTo>
                    <a:pt x="2792389" y="107452"/>
                  </a:lnTo>
                  <a:lnTo>
                    <a:pt x="2770051" y="64328"/>
                  </a:lnTo>
                  <a:lnTo>
                    <a:pt x="2736003" y="30317"/>
                  </a:lnTo>
                  <a:lnTo>
                    <a:pt x="2692847" y="8011"/>
                  </a:lnTo>
                  <a:lnTo>
                    <a:pt x="2643187" y="0"/>
                  </a:lnTo>
                  <a:close/>
                </a:path>
              </a:pathLst>
            </a:custGeom>
            <a:solidFill>
              <a:srgbClr val="E8E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33362" y="1290700"/>
              <a:ext cx="2800985" cy="314325"/>
            </a:xfrm>
            <a:custGeom>
              <a:avLst/>
              <a:gdLst/>
              <a:ahLst/>
              <a:cxnLst/>
              <a:rect l="l" t="t" r="r" b="b"/>
              <a:pathLst>
                <a:path w="2800985" h="314325">
                  <a:moveTo>
                    <a:pt x="0" y="157099"/>
                  </a:moveTo>
                  <a:lnTo>
                    <a:pt x="8011" y="107452"/>
                  </a:lnTo>
                  <a:lnTo>
                    <a:pt x="30321" y="64328"/>
                  </a:lnTo>
                  <a:lnTo>
                    <a:pt x="64341" y="30317"/>
                  </a:lnTo>
                  <a:lnTo>
                    <a:pt x="107484" y="8011"/>
                  </a:lnTo>
                  <a:lnTo>
                    <a:pt x="157162" y="0"/>
                  </a:lnTo>
                  <a:lnTo>
                    <a:pt x="2643187" y="0"/>
                  </a:lnTo>
                  <a:lnTo>
                    <a:pt x="2692847" y="8011"/>
                  </a:lnTo>
                  <a:lnTo>
                    <a:pt x="2736003" y="30317"/>
                  </a:lnTo>
                  <a:lnTo>
                    <a:pt x="2770051" y="64328"/>
                  </a:lnTo>
                  <a:lnTo>
                    <a:pt x="2792389" y="107452"/>
                  </a:lnTo>
                  <a:lnTo>
                    <a:pt x="2800413" y="157099"/>
                  </a:lnTo>
                  <a:lnTo>
                    <a:pt x="2792389" y="206759"/>
                  </a:lnTo>
                  <a:lnTo>
                    <a:pt x="2770051" y="249914"/>
                  </a:lnTo>
                  <a:lnTo>
                    <a:pt x="2736003" y="283962"/>
                  </a:lnTo>
                  <a:lnTo>
                    <a:pt x="2692847" y="306300"/>
                  </a:lnTo>
                  <a:lnTo>
                    <a:pt x="2643187" y="314325"/>
                  </a:lnTo>
                  <a:lnTo>
                    <a:pt x="157162" y="314325"/>
                  </a:lnTo>
                  <a:lnTo>
                    <a:pt x="107484" y="306300"/>
                  </a:lnTo>
                  <a:lnTo>
                    <a:pt x="64341" y="283962"/>
                  </a:lnTo>
                  <a:lnTo>
                    <a:pt x="30321" y="249914"/>
                  </a:lnTo>
                  <a:lnTo>
                    <a:pt x="8011" y="206759"/>
                  </a:lnTo>
                  <a:lnTo>
                    <a:pt x="0" y="157099"/>
                  </a:lnTo>
                  <a:close/>
                </a:path>
              </a:pathLst>
            </a:custGeom>
            <a:ln w="12700">
              <a:solidFill>
                <a:srgbClr val="CAD3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92810" y="1356423"/>
            <a:ext cx="148272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①</a:t>
            </a:r>
            <a:r>
              <a:rPr dirty="0" sz="900" spc="-1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Data</a:t>
            </a:r>
            <a:r>
              <a:rPr dirty="0" sz="900" spc="-4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Input</a:t>
            </a:r>
            <a:r>
              <a:rPr dirty="0" sz="900" spc="1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&amp;</a:t>
            </a:r>
            <a:r>
              <a:rPr dirty="0" sz="900" spc="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C8E"/>
                </a:solidFill>
                <a:latin typeface="Calibri"/>
                <a:cs typeface="Calibri"/>
              </a:rPr>
              <a:t>Preprocessing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132201" y="1284350"/>
            <a:ext cx="2813050" cy="327025"/>
            <a:chOff x="3132201" y="1284350"/>
            <a:chExt cx="2813050" cy="327025"/>
          </a:xfrm>
        </p:grpSpPr>
        <p:sp>
          <p:nvSpPr>
            <p:cNvPr id="11" name="object 11" descr=""/>
            <p:cNvSpPr/>
            <p:nvPr/>
          </p:nvSpPr>
          <p:spPr>
            <a:xfrm>
              <a:off x="3138551" y="1290700"/>
              <a:ext cx="2800350" cy="314325"/>
            </a:xfrm>
            <a:custGeom>
              <a:avLst/>
              <a:gdLst/>
              <a:ahLst/>
              <a:cxnLst/>
              <a:rect l="l" t="t" r="r" b="b"/>
              <a:pathLst>
                <a:path w="2800350" h="314325">
                  <a:moveTo>
                    <a:pt x="2643124" y="0"/>
                  </a:moveTo>
                  <a:lnTo>
                    <a:pt x="157099" y="0"/>
                  </a:lnTo>
                  <a:lnTo>
                    <a:pt x="107452" y="8011"/>
                  </a:lnTo>
                  <a:lnTo>
                    <a:pt x="64328" y="30317"/>
                  </a:lnTo>
                  <a:lnTo>
                    <a:pt x="30317" y="64328"/>
                  </a:lnTo>
                  <a:lnTo>
                    <a:pt x="8011" y="107452"/>
                  </a:lnTo>
                  <a:lnTo>
                    <a:pt x="0" y="157099"/>
                  </a:lnTo>
                  <a:lnTo>
                    <a:pt x="8011" y="206759"/>
                  </a:lnTo>
                  <a:lnTo>
                    <a:pt x="30317" y="249914"/>
                  </a:lnTo>
                  <a:lnTo>
                    <a:pt x="64328" y="283962"/>
                  </a:lnTo>
                  <a:lnTo>
                    <a:pt x="107452" y="306300"/>
                  </a:lnTo>
                  <a:lnTo>
                    <a:pt x="157099" y="314325"/>
                  </a:lnTo>
                  <a:lnTo>
                    <a:pt x="2643124" y="314325"/>
                  </a:lnTo>
                  <a:lnTo>
                    <a:pt x="2692784" y="306300"/>
                  </a:lnTo>
                  <a:lnTo>
                    <a:pt x="2735939" y="283962"/>
                  </a:lnTo>
                  <a:lnTo>
                    <a:pt x="2769987" y="249914"/>
                  </a:lnTo>
                  <a:lnTo>
                    <a:pt x="2792325" y="206759"/>
                  </a:lnTo>
                  <a:lnTo>
                    <a:pt x="2800350" y="157099"/>
                  </a:lnTo>
                  <a:lnTo>
                    <a:pt x="2792325" y="107452"/>
                  </a:lnTo>
                  <a:lnTo>
                    <a:pt x="2769987" y="64328"/>
                  </a:lnTo>
                  <a:lnTo>
                    <a:pt x="2735939" y="30317"/>
                  </a:lnTo>
                  <a:lnTo>
                    <a:pt x="2692784" y="8011"/>
                  </a:lnTo>
                  <a:lnTo>
                    <a:pt x="2643124" y="0"/>
                  </a:lnTo>
                  <a:close/>
                </a:path>
              </a:pathLst>
            </a:custGeom>
            <a:solidFill>
              <a:srgbClr val="E8E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138551" y="1290700"/>
              <a:ext cx="2800350" cy="314325"/>
            </a:xfrm>
            <a:custGeom>
              <a:avLst/>
              <a:gdLst/>
              <a:ahLst/>
              <a:cxnLst/>
              <a:rect l="l" t="t" r="r" b="b"/>
              <a:pathLst>
                <a:path w="2800350" h="314325">
                  <a:moveTo>
                    <a:pt x="0" y="157099"/>
                  </a:moveTo>
                  <a:lnTo>
                    <a:pt x="8011" y="107452"/>
                  </a:lnTo>
                  <a:lnTo>
                    <a:pt x="30317" y="64328"/>
                  </a:lnTo>
                  <a:lnTo>
                    <a:pt x="64328" y="30317"/>
                  </a:lnTo>
                  <a:lnTo>
                    <a:pt x="107452" y="8011"/>
                  </a:lnTo>
                  <a:lnTo>
                    <a:pt x="157099" y="0"/>
                  </a:lnTo>
                  <a:lnTo>
                    <a:pt x="2643124" y="0"/>
                  </a:lnTo>
                  <a:lnTo>
                    <a:pt x="2692784" y="8011"/>
                  </a:lnTo>
                  <a:lnTo>
                    <a:pt x="2735939" y="30317"/>
                  </a:lnTo>
                  <a:lnTo>
                    <a:pt x="2769987" y="64328"/>
                  </a:lnTo>
                  <a:lnTo>
                    <a:pt x="2792325" y="107452"/>
                  </a:lnTo>
                  <a:lnTo>
                    <a:pt x="2800350" y="157099"/>
                  </a:lnTo>
                  <a:lnTo>
                    <a:pt x="2792325" y="206759"/>
                  </a:lnTo>
                  <a:lnTo>
                    <a:pt x="2769987" y="249914"/>
                  </a:lnTo>
                  <a:lnTo>
                    <a:pt x="2735939" y="283962"/>
                  </a:lnTo>
                  <a:lnTo>
                    <a:pt x="2692784" y="306300"/>
                  </a:lnTo>
                  <a:lnTo>
                    <a:pt x="2643124" y="314325"/>
                  </a:lnTo>
                  <a:lnTo>
                    <a:pt x="157099" y="314325"/>
                  </a:lnTo>
                  <a:lnTo>
                    <a:pt x="107452" y="306300"/>
                  </a:lnTo>
                  <a:lnTo>
                    <a:pt x="64328" y="283962"/>
                  </a:lnTo>
                  <a:lnTo>
                    <a:pt x="30317" y="249914"/>
                  </a:lnTo>
                  <a:lnTo>
                    <a:pt x="8011" y="206759"/>
                  </a:lnTo>
                  <a:lnTo>
                    <a:pt x="0" y="157099"/>
                  </a:lnTo>
                  <a:close/>
                </a:path>
              </a:pathLst>
            </a:custGeom>
            <a:ln w="12700">
              <a:solidFill>
                <a:srgbClr val="CAD3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802634" y="1356423"/>
            <a:ext cx="146939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②</a:t>
            </a:r>
            <a:r>
              <a:rPr dirty="0" sz="900" spc="-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ML</a:t>
            </a:r>
            <a:r>
              <a:rPr dirty="0" sz="900" spc="1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Model</a:t>
            </a:r>
            <a:r>
              <a:rPr dirty="0" sz="900" spc="30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C8E"/>
                </a:solidFill>
                <a:latin typeface="Calibri"/>
                <a:cs typeface="Calibri"/>
              </a:rPr>
              <a:t>Training</a:t>
            </a:r>
            <a:r>
              <a:rPr dirty="0" sz="900" spc="-3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C8E"/>
                </a:solidFill>
                <a:latin typeface="Calibri"/>
                <a:cs typeface="Calibri"/>
              </a:rPr>
              <a:t>&amp;</a:t>
            </a:r>
            <a:r>
              <a:rPr dirty="0" sz="900" spc="-5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6B7C8E"/>
                </a:solidFill>
                <a:latin typeface="Calibri"/>
                <a:cs typeface="Calibri"/>
              </a:rPr>
              <a:t>QPSO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046851" y="1284350"/>
            <a:ext cx="2803525" cy="327025"/>
            <a:chOff x="6046851" y="1284350"/>
            <a:chExt cx="2803525" cy="327025"/>
          </a:xfrm>
        </p:grpSpPr>
        <p:sp>
          <p:nvSpPr>
            <p:cNvPr id="15" name="object 15" descr=""/>
            <p:cNvSpPr/>
            <p:nvPr/>
          </p:nvSpPr>
          <p:spPr>
            <a:xfrm>
              <a:off x="6053201" y="1290700"/>
              <a:ext cx="2790825" cy="314325"/>
            </a:xfrm>
            <a:custGeom>
              <a:avLst/>
              <a:gdLst/>
              <a:ahLst/>
              <a:cxnLst/>
              <a:rect l="l" t="t" r="r" b="b"/>
              <a:pathLst>
                <a:path w="2790825" h="314325">
                  <a:moveTo>
                    <a:pt x="2633599" y="0"/>
                  </a:moveTo>
                  <a:lnTo>
                    <a:pt x="157099" y="0"/>
                  </a:lnTo>
                  <a:lnTo>
                    <a:pt x="107452" y="8011"/>
                  </a:lnTo>
                  <a:lnTo>
                    <a:pt x="64328" y="30317"/>
                  </a:lnTo>
                  <a:lnTo>
                    <a:pt x="30317" y="64328"/>
                  </a:lnTo>
                  <a:lnTo>
                    <a:pt x="8011" y="107452"/>
                  </a:lnTo>
                  <a:lnTo>
                    <a:pt x="0" y="157099"/>
                  </a:lnTo>
                  <a:lnTo>
                    <a:pt x="8011" y="206759"/>
                  </a:lnTo>
                  <a:lnTo>
                    <a:pt x="30317" y="249914"/>
                  </a:lnTo>
                  <a:lnTo>
                    <a:pt x="64328" y="283962"/>
                  </a:lnTo>
                  <a:lnTo>
                    <a:pt x="107452" y="306300"/>
                  </a:lnTo>
                  <a:lnTo>
                    <a:pt x="157099" y="314325"/>
                  </a:lnTo>
                  <a:lnTo>
                    <a:pt x="2633599" y="314325"/>
                  </a:lnTo>
                  <a:lnTo>
                    <a:pt x="2683259" y="306300"/>
                  </a:lnTo>
                  <a:lnTo>
                    <a:pt x="2726414" y="283962"/>
                  </a:lnTo>
                  <a:lnTo>
                    <a:pt x="2760462" y="249914"/>
                  </a:lnTo>
                  <a:lnTo>
                    <a:pt x="2782800" y="206759"/>
                  </a:lnTo>
                  <a:lnTo>
                    <a:pt x="2790825" y="157099"/>
                  </a:lnTo>
                  <a:lnTo>
                    <a:pt x="2782800" y="107452"/>
                  </a:lnTo>
                  <a:lnTo>
                    <a:pt x="2760462" y="64328"/>
                  </a:lnTo>
                  <a:lnTo>
                    <a:pt x="2726414" y="30317"/>
                  </a:lnTo>
                  <a:lnTo>
                    <a:pt x="2683259" y="8011"/>
                  </a:lnTo>
                  <a:lnTo>
                    <a:pt x="2633599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053201" y="1290700"/>
              <a:ext cx="2790825" cy="314325"/>
            </a:xfrm>
            <a:custGeom>
              <a:avLst/>
              <a:gdLst/>
              <a:ahLst/>
              <a:cxnLst/>
              <a:rect l="l" t="t" r="r" b="b"/>
              <a:pathLst>
                <a:path w="2790825" h="314325">
                  <a:moveTo>
                    <a:pt x="0" y="157099"/>
                  </a:moveTo>
                  <a:lnTo>
                    <a:pt x="8011" y="107452"/>
                  </a:lnTo>
                  <a:lnTo>
                    <a:pt x="30317" y="64328"/>
                  </a:lnTo>
                  <a:lnTo>
                    <a:pt x="64328" y="30317"/>
                  </a:lnTo>
                  <a:lnTo>
                    <a:pt x="107452" y="8011"/>
                  </a:lnTo>
                  <a:lnTo>
                    <a:pt x="157099" y="0"/>
                  </a:lnTo>
                  <a:lnTo>
                    <a:pt x="2633599" y="0"/>
                  </a:lnTo>
                  <a:lnTo>
                    <a:pt x="2683259" y="8011"/>
                  </a:lnTo>
                  <a:lnTo>
                    <a:pt x="2726414" y="30317"/>
                  </a:lnTo>
                  <a:lnTo>
                    <a:pt x="2760462" y="64328"/>
                  </a:lnTo>
                  <a:lnTo>
                    <a:pt x="2782800" y="107452"/>
                  </a:lnTo>
                  <a:lnTo>
                    <a:pt x="2790825" y="157099"/>
                  </a:lnTo>
                  <a:lnTo>
                    <a:pt x="2782800" y="206759"/>
                  </a:lnTo>
                  <a:lnTo>
                    <a:pt x="2760462" y="249914"/>
                  </a:lnTo>
                  <a:lnTo>
                    <a:pt x="2726414" y="283962"/>
                  </a:lnTo>
                  <a:lnTo>
                    <a:pt x="2683259" y="306300"/>
                  </a:lnTo>
                  <a:lnTo>
                    <a:pt x="2633599" y="314325"/>
                  </a:lnTo>
                  <a:lnTo>
                    <a:pt x="157099" y="314325"/>
                  </a:lnTo>
                  <a:lnTo>
                    <a:pt x="107452" y="306300"/>
                  </a:lnTo>
                  <a:lnTo>
                    <a:pt x="64328" y="283962"/>
                  </a:lnTo>
                  <a:lnTo>
                    <a:pt x="30317" y="249914"/>
                  </a:lnTo>
                  <a:lnTo>
                    <a:pt x="8011" y="206759"/>
                  </a:lnTo>
                  <a:lnTo>
                    <a:pt x="0" y="157099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961505" y="1356423"/>
            <a:ext cx="97663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③</a:t>
            </a:r>
            <a:r>
              <a:rPr dirty="0" sz="9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r>
              <a:rPr dirty="0" sz="90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9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25" b="1">
                <a:solidFill>
                  <a:srgbClr val="FFFFFF"/>
                </a:solidFill>
                <a:latin typeface="Calibri"/>
                <a:cs typeface="Calibri"/>
              </a:rPr>
              <a:t>GUI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14325" y="1562036"/>
            <a:ext cx="6796405" cy="1224280"/>
            <a:chOff x="314325" y="1562036"/>
            <a:chExt cx="6796405" cy="122428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325" y="1800225"/>
              <a:ext cx="657225" cy="65722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50" y="1562036"/>
              <a:ext cx="6138926" cy="1223962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157287" y="1671701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5756846" y="0"/>
                  </a:moveTo>
                  <a:lnTo>
                    <a:pt x="91516" y="0"/>
                  </a:lnTo>
                  <a:lnTo>
                    <a:pt x="55892" y="7179"/>
                  </a:lnTo>
                  <a:lnTo>
                    <a:pt x="26803" y="26765"/>
                  </a:lnTo>
                  <a:lnTo>
                    <a:pt x="7191" y="55828"/>
                  </a:lnTo>
                  <a:lnTo>
                    <a:pt x="0" y="91439"/>
                  </a:lnTo>
                  <a:lnTo>
                    <a:pt x="0" y="841882"/>
                  </a:lnTo>
                  <a:lnTo>
                    <a:pt x="7191" y="877514"/>
                  </a:lnTo>
                  <a:lnTo>
                    <a:pt x="26803" y="906621"/>
                  </a:lnTo>
                  <a:lnTo>
                    <a:pt x="55892" y="926250"/>
                  </a:lnTo>
                  <a:lnTo>
                    <a:pt x="91516" y="933450"/>
                  </a:lnTo>
                  <a:lnTo>
                    <a:pt x="5756846" y="933450"/>
                  </a:lnTo>
                  <a:lnTo>
                    <a:pt x="5792477" y="926250"/>
                  </a:lnTo>
                  <a:lnTo>
                    <a:pt x="5821584" y="906621"/>
                  </a:lnTo>
                  <a:lnTo>
                    <a:pt x="5841214" y="877514"/>
                  </a:lnTo>
                  <a:lnTo>
                    <a:pt x="5848413" y="841882"/>
                  </a:lnTo>
                  <a:lnTo>
                    <a:pt x="5848413" y="91439"/>
                  </a:lnTo>
                  <a:lnTo>
                    <a:pt x="5841214" y="55828"/>
                  </a:lnTo>
                  <a:lnTo>
                    <a:pt x="5821584" y="26765"/>
                  </a:lnTo>
                  <a:lnTo>
                    <a:pt x="5792477" y="7179"/>
                  </a:lnTo>
                  <a:lnTo>
                    <a:pt x="5756846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57287" y="1671701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0" y="91439"/>
                  </a:moveTo>
                  <a:lnTo>
                    <a:pt x="7191" y="55828"/>
                  </a:lnTo>
                  <a:lnTo>
                    <a:pt x="26803" y="26765"/>
                  </a:lnTo>
                  <a:lnTo>
                    <a:pt x="55892" y="7179"/>
                  </a:lnTo>
                  <a:lnTo>
                    <a:pt x="91516" y="0"/>
                  </a:lnTo>
                  <a:lnTo>
                    <a:pt x="5756846" y="0"/>
                  </a:lnTo>
                  <a:lnTo>
                    <a:pt x="5792477" y="7179"/>
                  </a:lnTo>
                  <a:lnTo>
                    <a:pt x="5821584" y="26765"/>
                  </a:lnTo>
                  <a:lnTo>
                    <a:pt x="5841214" y="55828"/>
                  </a:lnTo>
                  <a:lnTo>
                    <a:pt x="5848413" y="91439"/>
                  </a:lnTo>
                  <a:lnTo>
                    <a:pt x="5848413" y="841882"/>
                  </a:lnTo>
                  <a:lnTo>
                    <a:pt x="5841214" y="877514"/>
                  </a:lnTo>
                  <a:lnTo>
                    <a:pt x="5821584" y="906621"/>
                  </a:lnTo>
                  <a:lnTo>
                    <a:pt x="5792477" y="926250"/>
                  </a:lnTo>
                  <a:lnTo>
                    <a:pt x="5756846" y="933450"/>
                  </a:lnTo>
                  <a:lnTo>
                    <a:pt x="91516" y="933450"/>
                  </a:lnTo>
                  <a:lnTo>
                    <a:pt x="55892" y="926250"/>
                  </a:lnTo>
                  <a:lnTo>
                    <a:pt x="26803" y="906621"/>
                  </a:lnTo>
                  <a:lnTo>
                    <a:pt x="7191" y="877514"/>
                  </a:lnTo>
                  <a:lnTo>
                    <a:pt x="0" y="841882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50" y="2066925"/>
              <a:ext cx="66675" cy="66675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50" y="2295525"/>
              <a:ext cx="66675" cy="66675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1305560" y="1754822"/>
            <a:ext cx="2860040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Attack</a:t>
            </a:r>
            <a:r>
              <a:rPr dirty="0" sz="1200" spc="-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Detection</a:t>
            </a:r>
            <a:r>
              <a:rPr dirty="0" sz="1200" spc="-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&amp;</a:t>
            </a:r>
            <a:r>
              <a:rPr dirty="0" sz="1200" spc="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Classification</a:t>
            </a:r>
            <a:endParaRPr sz="120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755"/>
              </a:spcBef>
            </a:pP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Apply</a:t>
            </a:r>
            <a:r>
              <a:rPr dirty="0" sz="950" spc="-5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Hybrid</a:t>
            </a:r>
            <a:r>
              <a:rPr dirty="0" sz="950" spc="2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RF</a:t>
            </a:r>
            <a:r>
              <a:rPr dirty="0" sz="950" spc="-6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model</a:t>
            </a:r>
            <a:r>
              <a:rPr dirty="0" sz="950" spc="2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—</a:t>
            </a:r>
            <a:r>
              <a:rPr dirty="0" sz="950" spc="-1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Attack</a:t>
            </a:r>
            <a:r>
              <a:rPr dirty="0" sz="950" spc="2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/</a:t>
            </a:r>
            <a:r>
              <a:rPr dirty="0" sz="950" spc="-6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Normal</a:t>
            </a:r>
            <a:r>
              <a:rPr dirty="0" sz="950" spc="-5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classification</a:t>
            </a:r>
            <a:endParaRPr sz="950">
              <a:latin typeface="Calibri"/>
              <a:cs typeface="Calibri"/>
            </a:endParaRPr>
          </a:p>
          <a:p>
            <a:pPr marL="140335">
              <a:lnSpc>
                <a:spcPct val="100000"/>
              </a:lnSpc>
              <a:spcBef>
                <a:spcPts val="665"/>
              </a:spcBef>
            </a:pP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Confidence</a:t>
            </a:r>
            <a:r>
              <a:rPr dirty="0" sz="950" spc="-3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Scoring &amp;</a:t>
            </a:r>
            <a:r>
              <a:rPr dirty="0" sz="950" spc="-5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Alert</a:t>
            </a:r>
            <a:r>
              <a:rPr dirty="0" sz="950" spc="-2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Generation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314325" y="2515127"/>
            <a:ext cx="6796405" cy="1290320"/>
            <a:chOff x="314325" y="2515127"/>
            <a:chExt cx="6796405" cy="1290320"/>
          </a:xfrm>
        </p:grpSpPr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0224" y="2515127"/>
              <a:ext cx="171149" cy="17104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4325" y="2828925"/>
              <a:ext cx="657225" cy="657225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1550" y="2581338"/>
              <a:ext cx="6138926" cy="1223962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157287" y="2690876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5756846" y="0"/>
                  </a:moveTo>
                  <a:lnTo>
                    <a:pt x="91516" y="0"/>
                  </a:lnTo>
                  <a:lnTo>
                    <a:pt x="55892" y="7179"/>
                  </a:lnTo>
                  <a:lnTo>
                    <a:pt x="26803" y="26765"/>
                  </a:lnTo>
                  <a:lnTo>
                    <a:pt x="7191" y="55828"/>
                  </a:lnTo>
                  <a:lnTo>
                    <a:pt x="0" y="91440"/>
                  </a:lnTo>
                  <a:lnTo>
                    <a:pt x="0" y="841883"/>
                  </a:lnTo>
                  <a:lnTo>
                    <a:pt x="7191" y="877514"/>
                  </a:lnTo>
                  <a:lnTo>
                    <a:pt x="26803" y="906621"/>
                  </a:lnTo>
                  <a:lnTo>
                    <a:pt x="55892" y="926250"/>
                  </a:lnTo>
                  <a:lnTo>
                    <a:pt x="91516" y="933450"/>
                  </a:lnTo>
                  <a:lnTo>
                    <a:pt x="5756846" y="933450"/>
                  </a:lnTo>
                  <a:lnTo>
                    <a:pt x="5792477" y="926250"/>
                  </a:lnTo>
                  <a:lnTo>
                    <a:pt x="5821584" y="906621"/>
                  </a:lnTo>
                  <a:lnTo>
                    <a:pt x="5841214" y="877514"/>
                  </a:lnTo>
                  <a:lnTo>
                    <a:pt x="5848413" y="841883"/>
                  </a:lnTo>
                  <a:lnTo>
                    <a:pt x="5848413" y="91440"/>
                  </a:lnTo>
                  <a:lnTo>
                    <a:pt x="5841214" y="55828"/>
                  </a:lnTo>
                  <a:lnTo>
                    <a:pt x="5821584" y="26765"/>
                  </a:lnTo>
                  <a:lnTo>
                    <a:pt x="5792477" y="7179"/>
                  </a:lnTo>
                  <a:lnTo>
                    <a:pt x="5756846" y="0"/>
                  </a:lnTo>
                  <a:close/>
                </a:path>
              </a:pathLst>
            </a:custGeom>
            <a:solidFill>
              <a:srgbClr val="0079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157287" y="2690876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0" y="91440"/>
                  </a:moveTo>
                  <a:lnTo>
                    <a:pt x="7191" y="55828"/>
                  </a:lnTo>
                  <a:lnTo>
                    <a:pt x="26803" y="26765"/>
                  </a:lnTo>
                  <a:lnTo>
                    <a:pt x="55892" y="7179"/>
                  </a:lnTo>
                  <a:lnTo>
                    <a:pt x="91516" y="0"/>
                  </a:lnTo>
                  <a:lnTo>
                    <a:pt x="5756846" y="0"/>
                  </a:lnTo>
                  <a:lnTo>
                    <a:pt x="5792477" y="7179"/>
                  </a:lnTo>
                  <a:lnTo>
                    <a:pt x="5821584" y="26765"/>
                  </a:lnTo>
                  <a:lnTo>
                    <a:pt x="5841214" y="55828"/>
                  </a:lnTo>
                  <a:lnTo>
                    <a:pt x="5848413" y="91440"/>
                  </a:lnTo>
                  <a:lnTo>
                    <a:pt x="5848413" y="841883"/>
                  </a:lnTo>
                  <a:lnTo>
                    <a:pt x="5841214" y="877514"/>
                  </a:lnTo>
                  <a:lnTo>
                    <a:pt x="5821584" y="906621"/>
                  </a:lnTo>
                  <a:lnTo>
                    <a:pt x="5792477" y="926250"/>
                  </a:lnTo>
                  <a:lnTo>
                    <a:pt x="5756846" y="933450"/>
                  </a:lnTo>
                  <a:lnTo>
                    <a:pt x="91516" y="933450"/>
                  </a:lnTo>
                  <a:lnTo>
                    <a:pt x="55892" y="926250"/>
                  </a:lnTo>
                  <a:lnTo>
                    <a:pt x="26803" y="906621"/>
                  </a:lnTo>
                  <a:lnTo>
                    <a:pt x="7191" y="877514"/>
                  </a:lnTo>
                  <a:lnTo>
                    <a:pt x="0" y="841883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00798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50" y="3086100"/>
              <a:ext cx="66675" cy="66675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50" y="3314700"/>
              <a:ext cx="66675" cy="66675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1305560" y="2780982"/>
            <a:ext cx="2634615" cy="67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Classical</a:t>
            </a:r>
            <a:r>
              <a:rPr dirty="0" sz="1200" spc="-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vs</a:t>
            </a:r>
            <a:r>
              <a:rPr dirty="0" sz="1200" spc="-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Quantum</a:t>
            </a:r>
            <a:r>
              <a:rPr dirty="0" sz="1200" spc="-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Comparison</a:t>
            </a:r>
            <a:endParaRPr sz="120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755"/>
              </a:spcBef>
            </a:pP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Compare</a:t>
            </a:r>
            <a:r>
              <a:rPr dirty="0" sz="950" spc="-1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baseline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RF</a:t>
            </a:r>
            <a:r>
              <a:rPr dirty="0" sz="950" spc="3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vs</a:t>
            </a:r>
            <a:r>
              <a:rPr dirty="0" sz="950" spc="-6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QPSO+RF</a:t>
            </a:r>
            <a:r>
              <a:rPr dirty="0" sz="950" spc="-5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metrics</a:t>
            </a:r>
            <a:endParaRPr sz="950">
              <a:latin typeface="Calibri"/>
              <a:cs typeface="Calibri"/>
            </a:endParaRPr>
          </a:p>
          <a:p>
            <a:pPr marL="140335">
              <a:lnSpc>
                <a:spcPct val="100000"/>
              </a:lnSpc>
              <a:spcBef>
                <a:spcPts val="665"/>
              </a:spcBef>
            </a:pP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Validate</a:t>
            </a:r>
            <a:r>
              <a:rPr dirty="0" sz="950" spc="-3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improvement</a:t>
            </a:r>
            <a:r>
              <a:rPr dirty="0" sz="950" spc="-2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in</a:t>
            </a:r>
            <a:r>
              <a:rPr dirty="0" sz="950" spc="-5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Accuracy,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FPR</a:t>
            </a:r>
            <a:r>
              <a:rPr dirty="0" sz="950" spc="-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&amp;</a:t>
            </a:r>
            <a:r>
              <a:rPr dirty="0" sz="950" spc="1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F1-</a:t>
            </a:r>
            <a:r>
              <a:rPr dirty="0" sz="950" spc="-20">
                <a:solidFill>
                  <a:srgbClr val="D7EAF5"/>
                </a:solidFill>
                <a:latin typeface="Calibri"/>
                <a:cs typeface="Calibri"/>
              </a:rPr>
              <a:t>Score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314325" y="3543827"/>
            <a:ext cx="6796405" cy="1290320"/>
            <a:chOff x="314325" y="3543827"/>
            <a:chExt cx="6796405" cy="1290320"/>
          </a:xfrm>
        </p:grpSpPr>
        <p:pic>
          <p:nvPicPr>
            <p:cNvPr id="36" name="object 3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0224" y="3543827"/>
              <a:ext cx="171149" cy="17104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4325" y="3848100"/>
              <a:ext cx="657225" cy="657225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1550" y="3609975"/>
              <a:ext cx="6138926" cy="1223962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157287" y="3719576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5756846" y="0"/>
                  </a:moveTo>
                  <a:lnTo>
                    <a:pt x="91516" y="0"/>
                  </a:lnTo>
                  <a:lnTo>
                    <a:pt x="55892" y="7179"/>
                  </a:lnTo>
                  <a:lnTo>
                    <a:pt x="26803" y="26765"/>
                  </a:lnTo>
                  <a:lnTo>
                    <a:pt x="7191" y="55828"/>
                  </a:lnTo>
                  <a:lnTo>
                    <a:pt x="0" y="91440"/>
                  </a:lnTo>
                  <a:lnTo>
                    <a:pt x="0" y="841870"/>
                  </a:lnTo>
                  <a:lnTo>
                    <a:pt x="7191" y="877493"/>
                  </a:lnTo>
                  <a:lnTo>
                    <a:pt x="26803" y="906583"/>
                  </a:lnTo>
                  <a:lnTo>
                    <a:pt x="55892" y="926195"/>
                  </a:lnTo>
                  <a:lnTo>
                    <a:pt x="91516" y="933386"/>
                  </a:lnTo>
                  <a:lnTo>
                    <a:pt x="5756846" y="933386"/>
                  </a:lnTo>
                  <a:lnTo>
                    <a:pt x="5792477" y="926195"/>
                  </a:lnTo>
                  <a:lnTo>
                    <a:pt x="5821584" y="906583"/>
                  </a:lnTo>
                  <a:lnTo>
                    <a:pt x="5841214" y="877493"/>
                  </a:lnTo>
                  <a:lnTo>
                    <a:pt x="5848413" y="841870"/>
                  </a:lnTo>
                  <a:lnTo>
                    <a:pt x="5848413" y="91440"/>
                  </a:lnTo>
                  <a:lnTo>
                    <a:pt x="5841214" y="55828"/>
                  </a:lnTo>
                  <a:lnTo>
                    <a:pt x="5821584" y="26765"/>
                  </a:lnTo>
                  <a:lnTo>
                    <a:pt x="5792477" y="7179"/>
                  </a:lnTo>
                  <a:lnTo>
                    <a:pt x="5756846" y="0"/>
                  </a:lnTo>
                  <a:close/>
                </a:path>
              </a:pathLst>
            </a:custGeom>
            <a:solidFill>
              <a:srgbClr val="1B4F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157287" y="3719576"/>
              <a:ext cx="5848985" cy="933450"/>
            </a:xfrm>
            <a:custGeom>
              <a:avLst/>
              <a:gdLst/>
              <a:ahLst/>
              <a:cxnLst/>
              <a:rect l="l" t="t" r="r" b="b"/>
              <a:pathLst>
                <a:path w="5848984" h="933450">
                  <a:moveTo>
                    <a:pt x="0" y="91440"/>
                  </a:moveTo>
                  <a:lnTo>
                    <a:pt x="7191" y="55828"/>
                  </a:lnTo>
                  <a:lnTo>
                    <a:pt x="26803" y="26765"/>
                  </a:lnTo>
                  <a:lnTo>
                    <a:pt x="55892" y="7179"/>
                  </a:lnTo>
                  <a:lnTo>
                    <a:pt x="91516" y="0"/>
                  </a:lnTo>
                  <a:lnTo>
                    <a:pt x="5756846" y="0"/>
                  </a:lnTo>
                  <a:lnTo>
                    <a:pt x="5792477" y="7179"/>
                  </a:lnTo>
                  <a:lnTo>
                    <a:pt x="5821584" y="26765"/>
                  </a:lnTo>
                  <a:lnTo>
                    <a:pt x="5841214" y="55828"/>
                  </a:lnTo>
                  <a:lnTo>
                    <a:pt x="5848413" y="91440"/>
                  </a:lnTo>
                  <a:lnTo>
                    <a:pt x="5848413" y="841870"/>
                  </a:lnTo>
                  <a:lnTo>
                    <a:pt x="5841214" y="877493"/>
                  </a:lnTo>
                  <a:lnTo>
                    <a:pt x="5821584" y="906583"/>
                  </a:lnTo>
                  <a:lnTo>
                    <a:pt x="5792477" y="926195"/>
                  </a:lnTo>
                  <a:lnTo>
                    <a:pt x="5756846" y="933386"/>
                  </a:lnTo>
                  <a:lnTo>
                    <a:pt x="91516" y="933386"/>
                  </a:lnTo>
                  <a:lnTo>
                    <a:pt x="55892" y="926195"/>
                  </a:lnTo>
                  <a:lnTo>
                    <a:pt x="26803" y="906583"/>
                  </a:lnTo>
                  <a:lnTo>
                    <a:pt x="7191" y="877493"/>
                  </a:lnTo>
                  <a:lnTo>
                    <a:pt x="0" y="841870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1B4F8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14450" y="4114800"/>
              <a:ext cx="66675" cy="66675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14450" y="4343400"/>
              <a:ext cx="66675" cy="66675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1305560" y="3807459"/>
            <a:ext cx="2889250" cy="678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GUI 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Visualization</a:t>
            </a:r>
            <a:r>
              <a:rPr dirty="0" sz="1200" spc="-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&amp;</a:t>
            </a:r>
            <a:r>
              <a:rPr dirty="0" sz="1200" spc="-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Reporting</a:t>
            </a:r>
            <a:endParaRPr sz="1200">
              <a:latin typeface="Cambria"/>
              <a:cs typeface="Cambria"/>
            </a:endParaRPr>
          </a:p>
          <a:p>
            <a:pPr marL="140335" marR="5080">
              <a:lnSpc>
                <a:spcPct val="158300"/>
              </a:lnSpc>
              <a:spcBef>
                <a:spcPts val="85"/>
              </a:spcBef>
            </a:pP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Real-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Time</a:t>
            </a:r>
            <a:r>
              <a:rPr dirty="0" sz="950" spc="-2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Dashboard</a:t>
            </a:r>
            <a:r>
              <a:rPr dirty="0" sz="950" spc="-3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—</a:t>
            </a:r>
            <a:r>
              <a:rPr dirty="0" sz="950" spc="-1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live</a:t>
            </a:r>
            <a:r>
              <a:rPr dirty="0" sz="950" spc="6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detection,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 metrics</a:t>
            </a:r>
            <a:r>
              <a:rPr dirty="0" sz="950" spc="1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&amp;</a:t>
            </a:r>
            <a:r>
              <a:rPr dirty="0" sz="950" spc="-5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charts Export</a:t>
            </a:r>
            <a:r>
              <a:rPr dirty="0" sz="950" spc="-2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Results</a:t>
            </a:r>
            <a:r>
              <a:rPr dirty="0" sz="950" spc="1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—</a:t>
            </a:r>
            <a:r>
              <a:rPr dirty="0" sz="950" spc="-2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PDF</a:t>
            </a:r>
            <a:r>
              <a:rPr dirty="0" sz="950" spc="10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D7EAF5"/>
                </a:solidFill>
                <a:latin typeface="Calibri"/>
                <a:cs typeface="Calibri"/>
              </a:rPr>
              <a:t>/</a:t>
            </a:r>
            <a:r>
              <a:rPr dirty="0" sz="950" spc="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CSV</a:t>
            </a:r>
            <a:r>
              <a:rPr dirty="0" sz="950" spc="-25">
                <a:solidFill>
                  <a:srgbClr val="D7EAF5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D7EAF5"/>
                </a:solidFill>
                <a:latin typeface="Calibri"/>
                <a:cs typeface="Calibri"/>
              </a:rPr>
              <a:t>Report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6943725" y="1619250"/>
            <a:ext cx="2014855" cy="1624330"/>
            <a:chOff x="6943725" y="1619250"/>
            <a:chExt cx="2014855" cy="1624330"/>
          </a:xfrm>
        </p:grpSpPr>
        <p:pic>
          <p:nvPicPr>
            <p:cNvPr id="45" name="object 4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43725" y="1619250"/>
              <a:ext cx="2014601" cy="1623949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7134225" y="1733550"/>
              <a:ext cx="1714500" cy="1323975"/>
            </a:xfrm>
            <a:custGeom>
              <a:avLst/>
              <a:gdLst/>
              <a:ahLst/>
              <a:cxnLst/>
              <a:rect l="l" t="t" r="r" b="b"/>
              <a:pathLst>
                <a:path w="1714500" h="1323975">
                  <a:moveTo>
                    <a:pt x="1640967" y="0"/>
                  </a:moveTo>
                  <a:lnTo>
                    <a:pt x="73532" y="0"/>
                  </a:lnTo>
                  <a:lnTo>
                    <a:pt x="44898" y="5774"/>
                  </a:lnTo>
                  <a:lnTo>
                    <a:pt x="21526" y="21526"/>
                  </a:lnTo>
                  <a:lnTo>
                    <a:pt x="5774" y="44898"/>
                  </a:lnTo>
                  <a:lnTo>
                    <a:pt x="0" y="73533"/>
                  </a:lnTo>
                  <a:lnTo>
                    <a:pt x="0" y="1250442"/>
                  </a:lnTo>
                  <a:lnTo>
                    <a:pt x="5774" y="1279076"/>
                  </a:lnTo>
                  <a:lnTo>
                    <a:pt x="21526" y="1302448"/>
                  </a:lnTo>
                  <a:lnTo>
                    <a:pt x="44898" y="1318200"/>
                  </a:lnTo>
                  <a:lnTo>
                    <a:pt x="73532" y="1323975"/>
                  </a:lnTo>
                  <a:lnTo>
                    <a:pt x="1640967" y="1323975"/>
                  </a:lnTo>
                  <a:lnTo>
                    <a:pt x="1669601" y="1318200"/>
                  </a:lnTo>
                  <a:lnTo>
                    <a:pt x="1692973" y="1302448"/>
                  </a:lnTo>
                  <a:lnTo>
                    <a:pt x="1708725" y="1279076"/>
                  </a:lnTo>
                  <a:lnTo>
                    <a:pt x="1714500" y="1250442"/>
                  </a:lnTo>
                  <a:lnTo>
                    <a:pt x="1714500" y="73533"/>
                  </a:lnTo>
                  <a:lnTo>
                    <a:pt x="1708725" y="44898"/>
                  </a:lnTo>
                  <a:lnTo>
                    <a:pt x="1692973" y="21526"/>
                  </a:lnTo>
                  <a:lnTo>
                    <a:pt x="1669601" y="5774"/>
                  </a:lnTo>
                  <a:lnTo>
                    <a:pt x="1640967" y="0"/>
                  </a:lnTo>
                  <a:close/>
                </a:path>
              </a:pathLst>
            </a:custGeom>
            <a:solidFill>
              <a:srgbClr val="1B4F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134225" y="1733550"/>
              <a:ext cx="1714500" cy="1323975"/>
            </a:xfrm>
            <a:custGeom>
              <a:avLst/>
              <a:gdLst/>
              <a:ahLst/>
              <a:cxnLst/>
              <a:rect l="l" t="t" r="r" b="b"/>
              <a:pathLst>
                <a:path w="1714500" h="1323975">
                  <a:moveTo>
                    <a:pt x="0" y="73533"/>
                  </a:moveTo>
                  <a:lnTo>
                    <a:pt x="5774" y="44898"/>
                  </a:lnTo>
                  <a:lnTo>
                    <a:pt x="21526" y="21526"/>
                  </a:lnTo>
                  <a:lnTo>
                    <a:pt x="44898" y="5774"/>
                  </a:lnTo>
                  <a:lnTo>
                    <a:pt x="73532" y="0"/>
                  </a:lnTo>
                  <a:lnTo>
                    <a:pt x="1640967" y="0"/>
                  </a:lnTo>
                  <a:lnTo>
                    <a:pt x="1669601" y="5774"/>
                  </a:lnTo>
                  <a:lnTo>
                    <a:pt x="1692973" y="21526"/>
                  </a:lnTo>
                  <a:lnTo>
                    <a:pt x="1708725" y="44898"/>
                  </a:lnTo>
                  <a:lnTo>
                    <a:pt x="1714500" y="73533"/>
                  </a:lnTo>
                  <a:lnTo>
                    <a:pt x="1714500" y="1250442"/>
                  </a:lnTo>
                  <a:lnTo>
                    <a:pt x="1708725" y="1279076"/>
                  </a:lnTo>
                  <a:lnTo>
                    <a:pt x="1692973" y="1302448"/>
                  </a:lnTo>
                  <a:lnTo>
                    <a:pt x="1669601" y="1318200"/>
                  </a:lnTo>
                  <a:lnTo>
                    <a:pt x="1640967" y="1323975"/>
                  </a:lnTo>
                  <a:lnTo>
                    <a:pt x="73532" y="1323975"/>
                  </a:lnTo>
                  <a:lnTo>
                    <a:pt x="44898" y="1318200"/>
                  </a:lnTo>
                  <a:lnTo>
                    <a:pt x="21526" y="1302448"/>
                  </a:lnTo>
                  <a:lnTo>
                    <a:pt x="5774" y="1279076"/>
                  </a:lnTo>
                  <a:lnTo>
                    <a:pt x="0" y="1250442"/>
                  </a:lnTo>
                  <a:lnTo>
                    <a:pt x="0" y="73533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134225" y="1733550"/>
              <a:ext cx="1714500" cy="295275"/>
            </a:xfrm>
            <a:custGeom>
              <a:avLst/>
              <a:gdLst/>
              <a:ahLst/>
              <a:cxnLst/>
              <a:rect l="l" t="t" r="r" b="b"/>
              <a:pathLst>
                <a:path w="1714500" h="295275">
                  <a:moveTo>
                    <a:pt x="1640713" y="0"/>
                  </a:moveTo>
                  <a:lnTo>
                    <a:pt x="73786" y="0"/>
                  </a:lnTo>
                  <a:lnTo>
                    <a:pt x="45059" y="5796"/>
                  </a:lnTo>
                  <a:lnTo>
                    <a:pt x="21605" y="21605"/>
                  </a:lnTo>
                  <a:lnTo>
                    <a:pt x="5796" y="45059"/>
                  </a:lnTo>
                  <a:lnTo>
                    <a:pt x="0" y="73787"/>
                  </a:lnTo>
                  <a:lnTo>
                    <a:pt x="0" y="221487"/>
                  </a:lnTo>
                  <a:lnTo>
                    <a:pt x="5796" y="250215"/>
                  </a:lnTo>
                  <a:lnTo>
                    <a:pt x="21605" y="273669"/>
                  </a:lnTo>
                  <a:lnTo>
                    <a:pt x="45059" y="289478"/>
                  </a:lnTo>
                  <a:lnTo>
                    <a:pt x="73786" y="295275"/>
                  </a:lnTo>
                  <a:lnTo>
                    <a:pt x="1640713" y="295275"/>
                  </a:lnTo>
                  <a:lnTo>
                    <a:pt x="1669440" y="289478"/>
                  </a:lnTo>
                  <a:lnTo>
                    <a:pt x="1692894" y="273669"/>
                  </a:lnTo>
                  <a:lnTo>
                    <a:pt x="1708703" y="250215"/>
                  </a:lnTo>
                  <a:lnTo>
                    <a:pt x="1714500" y="221487"/>
                  </a:lnTo>
                  <a:lnTo>
                    <a:pt x="1714500" y="73787"/>
                  </a:lnTo>
                  <a:lnTo>
                    <a:pt x="1708703" y="45059"/>
                  </a:lnTo>
                  <a:lnTo>
                    <a:pt x="1692894" y="21605"/>
                  </a:lnTo>
                  <a:lnTo>
                    <a:pt x="1669440" y="5796"/>
                  </a:lnTo>
                  <a:lnTo>
                    <a:pt x="16407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7255256" y="1798002"/>
            <a:ext cx="77724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latin typeface="Cambria"/>
                <a:cs typeface="Cambria"/>
              </a:rPr>
              <a:t>GUI</a:t>
            </a:r>
            <a:r>
              <a:rPr dirty="0" sz="950" spc="60" b="1">
                <a:latin typeface="Cambria"/>
                <a:cs typeface="Cambria"/>
              </a:rPr>
              <a:t> </a:t>
            </a:r>
            <a:r>
              <a:rPr dirty="0" sz="950" spc="-10" b="1">
                <a:latin typeface="Cambria"/>
                <a:cs typeface="Cambria"/>
              </a:rPr>
              <a:t>Features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7255256" y="2112962"/>
            <a:ext cx="1280795" cy="94424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97155" indent="-84455">
              <a:lnSpc>
                <a:spcPct val="100000"/>
              </a:lnSpc>
              <a:spcBef>
                <a:spcPts val="125"/>
              </a:spcBef>
              <a:buChar char="•"/>
              <a:tabLst>
                <a:tab pos="97155" algn="l"/>
              </a:tabLst>
            </a:pP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Live</a:t>
            </a:r>
            <a:r>
              <a:rPr dirty="0" sz="950" spc="-40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Attack</a:t>
            </a:r>
            <a:r>
              <a:rPr dirty="0" sz="950" spc="5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C7E3FF"/>
                </a:solidFill>
                <a:latin typeface="Calibri"/>
                <a:cs typeface="Calibri"/>
              </a:rPr>
              <a:t>Feed</a:t>
            </a:r>
            <a:endParaRPr sz="950">
              <a:latin typeface="Calibri"/>
              <a:cs typeface="Calibri"/>
            </a:endParaRPr>
          </a:p>
          <a:p>
            <a:pPr marL="97155" indent="-84455">
              <a:lnSpc>
                <a:spcPct val="100000"/>
              </a:lnSpc>
              <a:spcBef>
                <a:spcPts val="880"/>
              </a:spcBef>
              <a:buChar char="•"/>
              <a:tabLst>
                <a:tab pos="97155" algn="l"/>
              </a:tabLst>
            </a:pP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Metrics</a:t>
            </a:r>
            <a:r>
              <a:rPr dirty="0" sz="950" spc="-20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Dashboard</a:t>
            </a:r>
            <a:endParaRPr sz="950">
              <a:latin typeface="Calibri"/>
              <a:cs typeface="Calibri"/>
            </a:endParaRPr>
          </a:p>
          <a:p>
            <a:pPr marL="97155" indent="-84455">
              <a:lnSpc>
                <a:spcPct val="100000"/>
              </a:lnSpc>
              <a:spcBef>
                <a:spcPts val="880"/>
              </a:spcBef>
              <a:buChar char="•"/>
              <a:tabLst>
                <a:tab pos="97155" algn="l"/>
              </a:tabLst>
            </a:pP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Classical</a:t>
            </a:r>
            <a:r>
              <a:rPr dirty="0" sz="950" spc="-15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vs</a:t>
            </a:r>
            <a:r>
              <a:rPr dirty="0" sz="950" spc="-25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QPSO</a:t>
            </a:r>
            <a:r>
              <a:rPr dirty="0" sz="950" spc="-50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C7E3FF"/>
                </a:solidFill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  <a:p>
            <a:pPr marL="97155" indent="-84455">
              <a:lnSpc>
                <a:spcPct val="100000"/>
              </a:lnSpc>
              <a:spcBef>
                <a:spcPts val="880"/>
              </a:spcBef>
              <a:buChar char="•"/>
              <a:tabLst>
                <a:tab pos="97155" algn="l"/>
              </a:tabLst>
            </a:pPr>
            <a:r>
              <a:rPr dirty="0" sz="950">
                <a:solidFill>
                  <a:srgbClr val="C7E3FF"/>
                </a:solidFill>
                <a:latin typeface="Calibri"/>
                <a:cs typeface="Calibri"/>
              </a:rPr>
              <a:t>Custom</a:t>
            </a:r>
            <a:r>
              <a:rPr dirty="0" sz="950" spc="20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Attack</a:t>
            </a:r>
            <a:r>
              <a:rPr dirty="0" sz="950" spc="-30">
                <a:solidFill>
                  <a:srgbClr val="C7E3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C7E3FF"/>
                </a:solidFill>
                <a:latin typeface="Calibri"/>
                <a:cs typeface="Calibri"/>
              </a:rPr>
              <a:t>Injection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133350" y="4667250"/>
            <a:ext cx="6129655" cy="476250"/>
            <a:chOff x="133350" y="4667250"/>
            <a:chExt cx="6129655" cy="476250"/>
          </a:xfrm>
        </p:grpSpPr>
        <p:pic>
          <p:nvPicPr>
            <p:cNvPr id="52" name="object 5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3350" y="4667250"/>
              <a:ext cx="6129401" cy="476250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314325" y="4772025"/>
              <a:ext cx="5848350" cy="352425"/>
            </a:xfrm>
            <a:custGeom>
              <a:avLst/>
              <a:gdLst/>
              <a:ahLst/>
              <a:cxnLst/>
              <a:rect l="l" t="t" r="r" b="b"/>
              <a:pathLst>
                <a:path w="5848350" h="352425">
                  <a:moveTo>
                    <a:pt x="5774182" y="0"/>
                  </a:moveTo>
                  <a:lnTo>
                    <a:pt x="74193" y="0"/>
                  </a:lnTo>
                  <a:lnTo>
                    <a:pt x="45316" y="5831"/>
                  </a:lnTo>
                  <a:lnTo>
                    <a:pt x="21732" y="21732"/>
                  </a:lnTo>
                  <a:lnTo>
                    <a:pt x="5831" y="45316"/>
                  </a:lnTo>
                  <a:lnTo>
                    <a:pt x="0" y="74193"/>
                  </a:lnTo>
                  <a:lnTo>
                    <a:pt x="0" y="278226"/>
                  </a:lnTo>
                  <a:lnTo>
                    <a:pt x="5831" y="307108"/>
                  </a:lnTo>
                  <a:lnTo>
                    <a:pt x="21732" y="330692"/>
                  </a:lnTo>
                  <a:lnTo>
                    <a:pt x="45316" y="346594"/>
                  </a:lnTo>
                  <a:lnTo>
                    <a:pt x="74193" y="352425"/>
                  </a:lnTo>
                  <a:lnTo>
                    <a:pt x="5774182" y="352425"/>
                  </a:lnTo>
                  <a:lnTo>
                    <a:pt x="5803022" y="346594"/>
                  </a:lnTo>
                  <a:lnTo>
                    <a:pt x="5826601" y="330692"/>
                  </a:lnTo>
                  <a:lnTo>
                    <a:pt x="5842511" y="307108"/>
                  </a:lnTo>
                  <a:lnTo>
                    <a:pt x="5848350" y="278226"/>
                  </a:lnTo>
                  <a:lnTo>
                    <a:pt x="5848350" y="74193"/>
                  </a:lnTo>
                  <a:lnTo>
                    <a:pt x="5842511" y="45316"/>
                  </a:lnTo>
                  <a:lnTo>
                    <a:pt x="5826601" y="21732"/>
                  </a:lnTo>
                  <a:lnTo>
                    <a:pt x="5803022" y="5831"/>
                  </a:lnTo>
                  <a:lnTo>
                    <a:pt x="5774182" y="0"/>
                  </a:lnTo>
                  <a:close/>
                </a:path>
              </a:pathLst>
            </a:custGeom>
            <a:solidFill>
              <a:srgbClr val="1B2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1399158" y="4857432"/>
            <a:ext cx="3678554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Complete</a:t>
            </a:r>
            <a:r>
              <a:rPr dirty="0" sz="950" spc="15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QPSO-Enhanced</a:t>
            </a:r>
            <a:r>
              <a:rPr dirty="0" sz="950" spc="105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NIDS</a:t>
            </a:r>
            <a:r>
              <a:rPr dirty="0" sz="950" spc="9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—</a:t>
            </a:r>
            <a:r>
              <a:rPr dirty="0" sz="950" spc="135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Detection</a:t>
            </a:r>
            <a:r>
              <a:rPr dirty="0" sz="950" spc="11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·</a:t>
            </a:r>
            <a:r>
              <a:rPr dirty="0" sz="950" spc="16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Analysis</a:t>
            </a:r>
            <a:r>
              <a:rPr dirty="0" sz="950" spc="85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8ABCD9"/>
                </a:solidFill>
                <a:latin typeface="Calibri"/>
                <a:cs typeface="Calibri"/>
              </a:rPr>
              <a:t>·</a:t>
            </a:r>
            <a:r>
              <a:rPr dirty="0" sz="950" spc="160" b="1">
                <a:solidFill>
                  <a:srgbClr val="8ABCD9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8ABCD9"/>
                </a:solidFill>
                <a:latin typeface="Calibri"/>
                <a:cs typeface="Calibri"/>
              </a:rPr>
              <a:t>Visualization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5" name="object 5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Quantum-Inspired</a:t>
            </a:r>
            <a:r>
              <a:rPr dirty="0" spc="80"/>
              <a:t> </a:t>
            </a:r>
            <a:r>
              <a:rPr dirty="0"/>
              <a:t>NIDS</a:t>
            </a:r>
            <a:r>
              <a:rPr dirty="0" spc="355"/>
              <a:t> </a:t>
            </a:r>
            <a:r>
              <a:rPr dirty="0"/>
              <a:t>|</a:t>
            </a:r>
            <a:r>
              <a:rPr dirty="0" spc="250"/>
              <a:t> </a:t>
            </a:r>
            <a:r>
              <a:rPr dirty="0"/>
              <a:t>Ini</a:t>
            </a:r>
            <a:r>
              <a:rPr dirty="0" spc="-55"/>
              <a:t> </a:t>
            </a:r>
            <a:r>
              <a:rPr dirty="0"/>
              <a:t>tial</a:t>
            </a:r>
            <a:r>
              <a:rPr dirty="0" spc="155"/>
              <a:t> </a:t>
            </a:r>
            <a:r>
              <a:rPr dirty="0" spc="-10"/>
              <a:t>Defence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0"/>
            <a:ext cx="9144000" cy="66675"/>
            <a:chOff x="0" y="0"/>
            <a:chExt cx="9144000" cy="66675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4572000" cy="66675"/>
            </a:xfrm>
            <a:custGeom>
              <a:avLst/>
              <a:gdLst/>
              <a:ahLst/>
              <a:cxnLst/>
              <a:rect l="l" t="t" r="r" b="b"/>
              <a:pathLst>
                <a:path w="4572000" h="66675">
                  <a:moveTo>
                    <a:pt x="4572000" y="0"/>
                  </a:moveTo>
                  <a:lnTo>
                    <a:pt x="0" y="0"/>
                  </a:lnTo>
                  <a:lnTo>
                    <a:pt x="0" y="66675"/>
                  </a:lnTo>
                  <a:lnTo>
                    <a:pt x="4572000" y="66675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297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572000" y="0"/>
              <a:ext cx="4572000" cy="66675"/>
            </a:xfrm>
            <a:custGeom>
              <a:avLst/>
              <a:gdLst/>
              <a:ahLst/>
              <a:cxnLst/>
              <a:rect l="l" t="t" r="r" b="b"/>
              <a:pathLst>
                <a:path w="4572000" h="66675">
                  <a:moveTo>
                    <a:pt x="4572000" y="0"/>
                  </a:moveTo>
                  <a:lnTo>
                    <a:pt x="0" y="0"/>
                  </a:lnTo>
                  <a:lnTo>
                    <a:pt x="0" y="66675"/>
                  </a:lnTo>
                  <a:lnTo>
                    <a:pt x="4572000" y="66675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5B2C8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257175" y="180975"/>
            <a:ext cx="2190750" cy="257175"/>
          </a:xfrm>
          <a:custGeom>
            <a:avLst/>
            <a:gdLst/>
            <a:ahLst/>
            <a:cxnLst/>
            <a:rect l="l" t="t" r="r" b="b"/>
            <a:pathLst>
              <a:path w="2190750" h="257175">
                <a:moveTo>
                  <a:pt x="2062226" y="0"/>
                </a:moveTo>
                <a:lnTo>
                  <a:pt x="128587" y="0"/>
                </a:lnTo>
                <a:lnTo>
                  <a:pt x="78534" y="10098"/>
                </a:lnTo>
                <a:lnTo>
                  <a:pt x="37661" y="37639"/>
                </a:lnTo>
                <a:lnTo>
                  <a:pt x="10104" y="78491"/>
                </a:lnTo>
                <a:lnTo>
                  <a:pt x="0" y="128524"/>
                </a:lnTo>
                <a:lnTo>
                  <a:pt x="10104" y="178629"/>
                </a:lnTo>
                <a:lnTo>
                  <a:pt x="37661" y="219519"/>
                </a:lnTo>
                <a:lnTo>
                  <a:pt x="78534" y="247074"/>
                </a:lnTo>
                <a:lnTo>
                  <a:pt x="128587" y="257175"/>
                </a:lnTo>
                <a:lnTo>
                  <a:pt x="2062226" y="257175"/>
                </a:lnTo>
                <a:lnTo>
                  <a:pt x="2112258" y="247074"/>
                </a:lnTo>
                <a:lnTo>
                  <a:pt x="2153110" y="219519"/>
                </a:lnTo>
                <a:lnTo>
                  <a:pt x="2180651" y="178629"/>
                </a:lnTo>
                <a:lnTo>
                  <a:pt x="2190750" y="128524"/>
                </a:lnTo>
                <a:lnTo>
                  <a:pt x="2180651" y="78491"/>
                </a:lnTo>
                <a:lnTo>
                  <a:pt x="2153110" y="37639"/>
                </a:lnTo>
                <a:lnTo>
                  <a:pt x="2112258" y="10098"/>
                </a:lnTo>
                <a:lnTo>
                  <a:pt x="2062226" y="0"/>
                </a:lnTo>
                <a:close/>
              </a:path>
            </a:pathLst>
          </a:custGeom>
          <a:solidFill>
            <a:srgbClr val="297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16865" y="233616"/>
            <a:ext cx="84645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800" spc="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80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800" spc="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800" spc="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dirty="0" sz="80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dirty="0" sz="800" spc="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800" spc="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800" spc="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8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>
                <a:solidFill>
                  <a:srgbClr val="FFFFFF"/>
                </a:solidFill>
              </a:rPr>
              <a:t>What</a:t>
            </a:r>
            <a:r>
              <a:rPr dirty="0" sz="2750" spc="110">
                <a:solidFill>
                  <a:srgbClr val="FFFFFF"/>
                </a:solidFill>
              </a:rPr>
              <a:t> </a:t>
            </a:r>
            <a:r>
              <a:rPr dirty="0" sz="2750">
                <a:solidFill>
                  <a:srgbClr val="FFFFFF"/>
                </a:solidFill>
              </a:rPr>
              <a:t>This</a:t>
            </a:r>
            <a:r>
              <a:rPr dirty="0" sz="2750" spc="80">
                <a:solidFill>
                  <a:srgbClr val="FFFFFF"/>
                </a:solidFill>
              </a:rPr>
              <a:t> </a:t>
            </a:r>
            <a:r>
              <a:rPr dirty="0" sz="2750">
                <a:solidFill>
                  <a:srgbClr val="FFFFFF"/>
                </a:solidFill>
              </a:rPr>
              <a:t>Project</a:t>
            </a:r>
            <a:r>
              <a:rPr dirty="0" sz="2750" spc="25">
                <a:solidFill>
                  <a:srgbClr val="FFFFFF"/>
                </a:solidFill>
              </a:rPr>
              <a:t> </a:t>
            </a:r>
            <a:r>
              <a:rPr dirty="0" sz="2750" spc="-10">
                <a:solidFill>
                  <a:srgbClr val="FFFFFF"/>
                </a:solidFill>
              </a:rPr>
              <a:t>Achieves</a:t>
            </a:r>
            <a:endParaRPr sz="2750"/>
          </a:p>
        </p:txBody>
      </p:sp>
      <p:sp>
        <p:nvSpPr>
          <p:cNvPr id="9" name="object 9" descr=""/>
          <p:cNvSpPr txBox="1"/>
          <p:nvPr/>
        </p:nvSpPr>
        <p:spPr>
          <a:xfrm>
            <a:off x="243522" y="1079182"/>
            <a:ext cx="545655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i="1">
                <a:solidFill>
                  <a:srgbClr val="79ABDC"/>
                </a:solidFill>
                <a:latin typeface="Calibri"/>
                <a:cs typeface="Calibri"/>
              </a:rPr>
              <a:t>A</a:t>
            </a:r>
            <a:r>
              <a:rPr dirty="0" sz="1050" spc="-5" i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79ABDC"/>
                </a:solidFill>
                <a:latin typeface="Calibri"/>
                <a:cs typeface="Calibri"/>
              </a:rPr>
              <a:t>novel</a:t>
            </a:r>
            <a:r>
              <a:rPr dirty="0" sz="1050" spc="-20" i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79ABDC"/>
                </a:solidFill>
                <a:latin typeface="Calibri"/>
                <a:cs typeface="Calibri"/>
              </a:rPr>
              <a:t>Quantum-</a:t>
            </a:r>
            <a:r>
              <a:rPr dirty="0" sz="1050" i="1">
                <a:solidFill>
                  <a:srgbClr val="79ABDC"/>
                </a:solidFill>
                <a:latin typeface="Calibri"/>
                <a:cs typeface="Calibri"/>
              </a:rPr>
              <a:t>Inspired</a:t>
            </a:r>
            <a:r>
              <a:rPr dirty="0" sz="1050" spc="-10" i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79ABDC"/>
                </a:solidFill>
                <a:latin typeface="Calibri"/>
                <a:cs typeface="Calibri"/>
              </a:rPr>
              <a:t>approach</a:t>
            </a:r>
            <a:r>
              <a:rPr dirty="0" sz="1050" spc="-10" i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79ABDC"/>
                </a:solidFill>
                <a:latin typeface="Calibri"/>
                <a:cs typeface="Calibri"/>
              </a:rPr>
              <a:t>to</a:t>
            </a:r>
            <a:r>
              <a:rPr dirty="0" sz="1050" spc="-10" i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79ABDC"/>
                </a:solidFill>
                <a:latin typeface="Calibri"/>
                <a:cs typeface="Calibri"/>
              </a:rPr>
              <a:t>Network</a:t>
            </a:r>
            <a:r>
              <a:rPr dirty="0" sz="1050" spc="-25" i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79ABDC"/>
                </a:solidFill>
                <a:latin typeface="Calibri"/>
                <a:cs typeface="Calibri"/>
              </a:rPr>
              <a:t>Intrusion</a:t>
            </a:r>
            <a:r>
              <a:rPr dirty="0" sz="1050" spc="65" i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79ABDC"/>
                </a:solidFill>
                <a:latin typeface="Calibri"/>
                <a:cs typeface="Calibri"/>
              </a:rPr>
              <a:t>Detection</a:t>
            </a:r>
            <a:r>
              <a:rPr dirty="0" sz="1050" spc="-65" i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79ABDC"/>
                </a:solidFill>
                <a:latin typeface="Calibri"/>
                <a:cs typeface="Calibri"/>
              </a:rPr>
              <a:t>—</a:t>
            </a:r>
            <a:r>
              <a:rPr dirty="0" sz="1050" spc="10" i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79ABDC"/>
                </a:solidFill>
                <a:latin typeface="Calibri"/>
                <a:cs typeface="Calibri"/>
              </a:rPr>
              <a:t>making</a:t>
            </a:r>
            <a:r>
              <a:rPr dirty="0" sz="1050" spc="-15" i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79ABDC"/>
                </a:solidFill>
                <a:latin typeface="Calibri"/>
                <a:cs typeface="Calibri"/>
              </a:rPr>
              <a:t>cybersecurity</a:t>
            </a:r>
            <a:r>
              <a:rPr dirty="0" sz="1050" spc="-20" i="1">
                <a:solidFill>
                  <a:srgbClr val="79ABDC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79ABDC"/>
                </a:solidFill>
                <a:latin typeface="Calibri"/>
                <a:cs typeface="Calibri"/>
              </a:rPr>
              <a:t>smarter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6200" y="1285875"/>
            <a:ext cx="4424680" cy="1548130"/>
            <a:chOff x="76200" y="1285875"/>
            <a:chExt cx="4424680" cy="1548130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1285875"/>
              <a:ext cx="4424426" cy="154774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61937" y="1395476"/>
              <a:ext cx="4134485" cy="1257300"/>
            </a:xfrm>
            <a:custGeom>
              <a:avLst/>
              <a:gdLst/>
              <a:ahLst/>
              <a:cxnLst/>
              <a:rect l="l" t="t" r="r" b="b"/>
              <a:pathLst>
                <a:path w="4134485" h="1257300">
                  <a:moveTo>
                    <a:pt x="4024566" y="0"/>
                  </a:moveTo>
                  <a:lnTo>
                    <a:pt x="109334" y="0"/>
                  </a:lnTo>
                  <a:lnTo>
                    <a:pt x="66774" y="8582"/>
                  </a:lnTo>
                  <a:lnTo>
                    <a:pt x="32021" y="31988"/>
                  </a:lnTo>
                  <a:lnTo>
                    <a:pt x="8591" y="66704"/>
                  </a:lnTo>
                  <a:lnTo>
                    <a:pt x="0" y="109220"/>
                  </a:lnTo>
                  <a:lnTo>
                    <a:pt x="0" y="1147953"/>
                  </a:lnTo>
                  <a:lnTo>
                    <a:pt x="8591" y="1190488"/>
                  </a:lnTo>
                  <a:lnTo>
                    <a:pt x="32021" y="1225248"/>
                  </a:lnTo>
                  <a:lnTo>
                    <a:pt x="66774" y="1248697"/>
                  </a:lnTo>
                  <a:lnTo>
                    <a:pt x="109334" y="1257300"/>
                  </a:lnTo>
                  <a:lnTo>
                    <a:pt x="4024566" y="1257300"/>
                  </a:lnTo>
                  <a:lnTo>
                    <a:pt x="4067101" y="1248697"/>
                  </a:lnTo>
                  <a:lnTo>
                    <a:pt x="4101861" y="1225248"/>
                  </a:lnTo>
                  <a:lnTo>
                    <a:pt x="4125311" y="1190488"/>
                  </a:lnTo>
                  <a:lnTo>
                    <a:pt x="4133913" y="1147953"/>
                  </a:lnTo>
                  <a:lnTo>
                    <a:pt x="4133913" y="109220"/>
                  </a:lnTo>
                  <a:lnTo>
                    <a:pt x="4125311" y="66704"/>
                  </a:lnTo>
                  <a:lnTo>
                    <a:pt x="4101861" y="31988"/>
                  </a:lnTo>
                  <a:lnTo>
                    <a:pt x="4067101" y="8582"/>
                  </a:lnTo>
                  <a:lnTo>
                    <a:pt x="4024566" y="0"/>
                  </a:lnTo>
                  <a:close/>
                </a:path>
              </a:pathLst>
            </a:custGeom>
            <a:solidFill>
              <a:srgbClr val="1F3E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61937" y="1395476"/>
              <a:ext cx="4134485" cy="1257300"/>
            </a:xfrm>
            <a:custGeom>
              <a:avLst/>
              <a:gdLst/>
              <a:ahLst/>
              <a:cxnLst/>
              <a:rect l="l" t="t" r="r" b="b"/>
              <a:pathLst>
                <a:path w="4134485" h="1257300">
                  <a:moveTo>
                    <a:pt x="0" y="109220"/>
                  </a:moveTo>
                  <a:lnTo>
                    <a:pt x="8591" y="66704"/>
                  </a:lnTo>
                  <a:lnTo>
                    <a:pt x="32021" y="31988"/>
                  </a:lnTo>
                  <a:lnTo>
                    <a:pt x="66774" y="8582"/>
                  </a:lnTo>
                  <a:lnTo>
                    <a:pt x="109334" y="0"/>
                  </a:lnTo>
                  <a:lnTo>
                    <a:pt x="4024566" y="0"/>
                  </a:lnTo>
                  <a:lnTo>
                    <a:pt x="4067101" y="8582"/>
                  </a:lnTo>
                  <a:lnTo>
                    <a:pt x="4101861" y="31988"/>
                  </a:lnTo>
                  <a:lnTo>
                    <a:pt x="4125311" y="66704"/>
                  </a:lnTo>
                  <a:lnTo>
                    <a:pt x="4133913" y="109220"/>
                  </a:lnTo>
                  <a:lnTo>
                    <a:pt x="4133913" y="1147953"/>
                  </a:lnTo>
                  <a:lnTo>
                    <a:pt x="4125311" y="1190488"/>
                  </a:lnTo>
                  <a:lnTo>
                    <a:pt x="4101861" y="1225248"/>
                  </a:lnTo>
                  <a:lnTo>
                    <a:pt x="4067101" y="1248697"/>
                  </a:lnTo>
                  <a:lnTo>
                    <a:pt x="4024566" y="1257300"/>
                  </a:lnTo>
                  <a:lnTo>
                    <a:pt x="109334" y="1257300"/>
                  </a:lnTo>
                  <a:lnTo>
                    <a:pt x="66774" y="1248697"/>
                  </a:lnTo>
                  <a:lnTo>
                    <a:pt x="32021" y="1225248"/>
                  </a:lnTo>
                  <a:lnTo>
                    <a:pt x="8591" y="1190488"/>
                  </a:lnTo>
                  <a:lnTo>
                    <a:pt x="0" y="1147953"/>
                  </a:lnTo>
                  <a:lnTo>
                    <a:pt x="0" y="109220"/>
                  </a:lnTo>
                  <a:close/>
                </a:path>
              </a:pathLst>
            </a:custGeom>
            <a:ln w="12700">
              <a:solidFill>
                <a:srgbClr val="1B4F8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61937" y="1395476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28575" y="0"/>
                  </a:moveTo>
                  <a:lnTo>
                    <a:pt x="17450" y="2232"/>
                  </a:lnTo>
                  <a:lnTo>
                    <a:pt x="8367" y="8334"/>
                  </a:lnTo>
                  <a:lnTo>
                    <a:pt x="2244" y="17412"/>
                  </a:lnTo>
                  <a:lnTo>
                    <a:pt x="0" y="28575"/>
                  </a:lnTo>
                  <a:lnTo>
                    <a:pt x="25" y="1228725"/>
                  </a:lnTo>
                  <a:lnTo>
                    <a:pt x="2280" y="1239833"/>
                  </a:lnTo>
                  <a:lnTo>
                    <a:pt x="8391" y="1248918"/>
                  </a:lnTo>
                  <a:lnTo>
                    <a:pt x="17460" y="1255049"/>
                  </a:lnTo>
                  <a:lnTo>
                    <a:pt x="28575" y="1257300"/>
                  </a:lnTo>
                  <a:lnTo>
                    <a:pt x="39699" y="1255049"/>
                  </a:lnTo>
                  <a:lnTo>
                    <a:pt x="48782" y="1248918"/>
                  </a:lnTo>
                  <a:lnTo>
                    <a:pt x="54905" y="1239833"/>
                  </a:lnTo>
                  <a:lnTo>
                    <a:pt x="57150" y="1228725"/>
                  </a:lnTo>
                  <a:lnTo>
                    <a:pt x="57150" y="28575"/>
                  </a:lnTo>
                  <a:lnTo>
                    <a:pt x="54905" y="17412"/>
                  </a:lnTo>
                  <a:lnTo>
                    <a:pt x="48782" y="8334"/>
                  </a:lnTo>
                  <a:lnTo>
                    <a:pt x="39699" y="2232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1B4F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61937" y="1395476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28575"/>
                  </a:moveTo>
                  <a:lnTo>
                    <a:pt x="2244" y="17412"/>
                  </a:lnTo>
                  <a:lnTo>
                    <a:pt x="8367" y="8334"/>
                  </a:lnTo>
                  <a:lnTo>
                    <a:pt x="17450" y="2232"/>
                  </a:lnTo>
                  <a:lnTo>
                    <a:pt x="28575" y="0"/>
                  </a:lnTo>
                  <a:lnTo>
                    <a:pt x="39699" y="2232"/>
                  </a:lnTo>
                  <a:lnTo>
                    <a:pt x="48782" y="8334"/>
                  </a:lnTo>
                  <a:lnTo>
                    <a:pt x="54905" y="17412"/>
                  </a:lnTo>
                  <a:lnTo>
                    <a:pt x="57150" y="28575"/>
                  </a:lnTo>
                  <a:lnTo>
                    <a:pt x="57150" y="1228725"/>
                  </a:lnTo>
                  <a:lnTo>
                    <a:pt x="54905" y="1239833"/>
                  </a:lnTo>
                  <a:lnTo>
                    <a:pt x="48782" y="1248918"/>
                  </a:lnTo>
                  <a:lnTo>
                    <a:pt x="39699" y="1255049"/>
                  </a:lnTo>
                  <a:lnTo>
                    <a:pt x="28575" y="1257300"/>
                  </a:lnTo>
                  <a:lnTo>
                    <a:pt x="17450" y="1255047"/>
                  </a:lnTo>
                  <a:lnTo>
                    <a:pt x="8367" y="1248902"/>
                  </a:lnTo>
                  <a:lnTo>
                    <a:pt x="2244" y="1239779"/>
                  </a:lnTo>
                  <a:lnTo>
                    <a:pt x="0" y="1228598"/>
                  </a:lnTo>
                  <a:lnTo>
                    <a:pt x="0" y="28575"/>
                  </a:lnTo>
                  <a:close/>
                </a:path>
              </a:pathLst>
            </a:custGeom>
            <a:ln w="12700">
              <a:solidFill>
                <a:srgbClr val="1B4F8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600" y="1381061"/>
              <a:ext cx="814387" cy="814387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19100" y="14954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5"/>
                  </a:lnTo>
                  <a:lnTo>
                    <a:pt x="167437" y="16095"/>
                  </a:lnTo>
                  <a:lnTo>
                    <a:pt x="127372" y="35122"/>
                  </a:lnTo>
                  <a:lnTo>
                    <a:pt x="91479" y="60500"/>
                  </a:lnTo>
                  <a:lnTo>
                    <a:pt x="60483" y="91500"/>
                  </a:lnTo>
                  <a:lnTo>
                    <a:pt x="35111" y="127395"/>
                  </a:lnTo>
                  <a:lnTo>
                    <a:pt x="16089" y="167457"/>
                  </a:lnTo>
                  <a:lnTo>
                    <a:pt x="4143" y="210960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403" y="510204"/>
                  </a:lnTo>
                  <a:lnTo>
                    <a:pt x="346912" y="498254"/>
                  </a:lnTo>
                  <a:lnTo>
                    <a:pt x="386977" y="479227"/>
                  </a:lnTo>
                  <a:lnTo>
                    <a:pt x="422870" y="453849"/>
                  </a:lnTo>
                  <a:lnTo>
                    <a:pt x="453866" y="422849"/>
                  </a:lnTo>
                  <a:lnTo>
                    <a:pt x="479238" y="386954"/>
                  </a:lnTo>
                  <a:lnTo>
                    <a:pt x="498260" y="346892"/>
                  </a:lnTo>
                  <a:lnTo>
                    <a:pt x="510206" y="303389"/>
                  </a:lnTo>
                  <a:lnTo>
                    <a:pt x="514350" y="257175"/>
                  </a:lnTo>
                  <a:lnTo>
                    <a:pt x="510206" y="210960"/>
                  </a:lnTo>
                  <a:lnTo>
                    <a:pt x="498260" y="167457"/>
                  </a:lnTo>
                  <a:lnTo>
                    <a:pt x="479238" y="127395"/>
                  </a:lnTo>
                  <a:lnTo>
                    <a:pt x="453866" y="91500"/>
                  </a:lnTo>
                  <a:lnTo>
                    <a:pt x="422870" y="60500"/>
                  </a:lnTo>
                  <a:lnTo>
                    <a:pt x="386977" y="35122"/>
                  </a:lnTo>
                  <a:lnTo>
                    <a:pt x="346912" y="16095"/>
                  </a:lnTo>
                  <a:lnTo>
                    <a:pt x="303403" y="4145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1B4F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19100" y="14954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60"/>
                  </a:lnTo>
                  <a:lnTo>
                    <a:pt x="16089" y="167457"/>
                  </a:lnTo>
                  <a:lnTo>
                    <a:pt x="35111" y="127395"/>
                  </a:lnTo>
                  <a:lnTo>
                    <a:pt x="60483" y="91500"/>
                  </a:lnTo>
                  <a:lnTo>
                    <a:pt x="91479" y="60500"/>
                  </a:lnTo>
                  <a:lnTo>
                    <a:pt x="127372" y="35122"/>
                  </a:lnTo>
                  <a:lnTo>
                    <a:pt x="167437" y="16095"/>
                  </a:lnTo>
                  <a:lnTo>
                    <a:pt x="210946" y="4145"/>
                  </a:lnTo>
                  <a:lnTo>
                    <a:pt x="257175" y="0"/>
                  </a:lnTo>
                  <a:lnTo>
                    <a:pt x="303403" y="4145"/>
                  </a:lnTo>
                  <a:lnTo>
                    <a:pt x="346912" y="16095"/>
                  </a:lnTo>
                  <a:lnTo>
                    <a:pt x="386977" y="35122"/>
                  </a:lnTo>
                  <a:lnTo>
                    <a:pt x="422870" y="60500"/>
                  </a:lnTo>
                  <a:lnTo>
                    <a:pt x="453866" y="91500"/>
                  </a:lnTo>
                  <a:lnTo>
                    <a:pt x="479238" y="127395"/>
                  </a:lnTo>
                  <a:lnTo>
                    <a:pt x="498260" y="167457"/>
                  </a:lnTo>
                  <a:lnTo>
                    <a:pt x="510206" y="210960"/>
                  </a:lnTo>
                  <a:lnTo>
                    <a:pt x="514350" y="257175"/>
                  </a:lnTo>
                  <a:lnTo>
                    <a:pt x="510206" y="303389"/>
                  </a:lnTo>
                  <a:lnTo>
                    <a:pt x="498260" y="346892"/>
                  </a:lnTo>
                  <a:lnTo>
                    <a:pt x="479238" y="386954"/>
                  </a:lnTo>
                  <a:lnTo>
                    <a:pt x="453866" y="422849"/>
                  </a:lnTo>
                  <a:lnTo>
                    <a:pt x="422870" y="453849"/>
                  </a:lnTo>
                  <a:lnTo>
                    <a:pt x="386977" y="479227"/>
                  </a:lnTo>
                  <a:lnTo>
                    <a:pt x="346912" y="498254"/>
                  </a:lnTo>
                  <a:lnTo>
                    <a:pt x="303403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300" y="1571625"/>
              <a:ext cx="361950" cy="371475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1030922" y="1553527"/>
            <a:ext cx="14662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Benchmark</a:t>
            </a:r>
            <a:r>
              <a:rPr dirty="0" sz="1200" spc="-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Datasets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038225" y="1847850"/>
            <a:ext cx="3219450" cy="9525"/>
          </a:xfrm>
          <a:custGeom>
            <a:avLst/>
            <a:gdLst/>
            <a:ahLst/>
            <a:cxnLst/>
            <a:rect l="l" t="t" r="r" b="b"/>
            <a:pathLst>
              <a:path w="3219450" h="9525">
                <a:moveTo>
                  <a:pt x="3219450" y="0"/>
                </a:moveTo>
                <a:lnTo>
                  <a:pt x="0" y="0"/>
                </a:lnTo>
                <a:lnTo>
                  <a:pt x="0" y="9525"/>
                </a:lnTo>
                <a:lnTo>
                  <a:pt x="3219450" y="9525"/>
                </a:lnTo>
                <a:lnTo>
                  <a:pt x="3219450" y="0"/>
                </a:lnTo>
                <a:close/>
              </a:path>
            </a:pathLst>
          </a:custGeom>
          <a:solidFill>
            <a:srgbClr val="1B4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030922" y="1883092"/>
            <a:ext cx="3067050" cy="461009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170"/>
              </a:spcBef>
            </a:pP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Leverages</a:t>
            </a:r>
            <a:r>
              <a:rPr dirty="0" sz="950" spc="3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two</a:t>
            </a:r>
            <a:r>
              <a:rPr dirty="0" sz="950" spc="5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internationally</a:t>
            </a:r>
            <a:r>
              <a:rPr dirty="0" sz="950" spc="-4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recognized</a:t>
            </a:r>
            <a:r>
              <a:rPr dirty="0" sz="950" spc="-3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datasets</a:t>
            </a:r>
            <a:r>
              <a:rPr dirty="0" sz="950" spc="3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—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NSL-</a:t>
            </a:r>
            <a:r>
              <a:rPr dirty="0" sz="950" spc="-25">
                <a:solidFill>
                  <a:srgbClr val="A8C7E8"/>
                </a:solidFill>
                <a:latin typeface="Calibri"/>
                <a:cs typeface="Calibri"/>
              </a:rPr>
              <a:t>KDD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 and</a:t>
            </a:r>
            <a:r>
              <a:rPr dirty="0" sz="950" spc="-3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UNSW-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NB15</a:t>
            </a:r>
            <a:r>
              <a:rPr dirty="0" sz="950" spc="-2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—</a:t>
            </a:r>
            <a:r>
              <a:rPr dirty="0" sz="950" spc="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ensuring</a:t>
            </a:r>
            <a:r>
              <a:rPr dirty="0" sz="950" spc="-5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reproducible and</a:t>
            </a:r>
            <a:r>
              <a:rPr dirty="0" sz="950" spc="-2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credible evaluation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4352925" y="1285875"/>
            <a:ext cx="4424680" cy="1548130"/>
            <a:chOff x="4352925" y="1285875"/>
            <a:chExt cx="4424680" cy="1548130"/>
          </a:xfrm>
        </p:grpSpPr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2925" y="1285875"/>
              <a:ext cx="4424426" cy="1547749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4538726" y="1395476"/>
              <a:ext cx="4133850" cy="1257300"/>
            </a:xfrm>
            <a:custGeom>
              <a:avLst/>
              <a:gdLst/>
              <a:ahLst/>
              <a:cxnLst/>
              <a:rect l="l" t="t" r="r" b="b"/>
              <a:pathLst>
                <a:path w="4133850" h="1257300">
                  <a:moveTo>
                    <a:pt x="4024503" y="0"/>
                  </a:moveTo>
                  <a:lnTo>
                    <a:pt x="109220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1147953"/>
                  </a:lnTo>
                  <a:lnTo>
                    <a:pt x="8582" y="1190488"/>
                  </a:lnTo>
                  <a:lnTo>
                    <a:pt x="31988" y="1225248"/>
                  </a:lnTo>
                  <a:lnTo>
                    <a:pt x="66704" y="1248697"/>
                  </a:lnTo>
                  <a:lnTo>
                    <a:pt x="109220" y="1257300"/>
                  </a:lnTo>
                  <a:lnTo>
                    <a:pt x="4024503" y="1257300"/>
                  </a:lnTo>
                  <a:lnTo>
                    <a:pt x="4067038" y="1248697"/>
                  </a:lnTo>
                  <a:lnTo>
                    <a:pt x="4101798" y="1225248"/>
                  </a:lnTo>
                  <a:lnTo>
                    <a:pt x="4125247" y="1190488"/>
                  </a:lnTo>
                  <a:lnTo>
                    <a:pt x="4133850" y="1147953"/>
                  </a:lnTo>
                  <a:lnTo>
                    <a:pt x="4133850" y="109220"/>
                  </a:lnTo>
                  <a:lnTo>
                    <a:pt x="4125247" y="66704"/>
                  </a:lnTo>
                  <a:lnTo>
                    <a:pt x="4101798" y="31988"/>
                  </a:lnTo>
                  <a:lnTo>
                    <a:pt x="4067038" y="8582"/>
                  </a:lnTo>
                  <a:lnTo>
                    <a:pt x="4024503" y="0"/>
                  </a:lnTo>
                  <a:close/>
                </a:path>
              </a:pathLst>
            </a:custGeom>
            <a:solidFill>
              <a:srgbClr val="1A3C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538726" y="1395476"/>
              <a:ext cx="4133850" cy="1257300"/>
            </a:xfrm>
            <a:custGeom>
              <a:avLst/>
              <a:gdLst/>
              <a:ahLst/>
              <a:cxnLst/>
              <a:rect l="l" t="t" r="r" b="b"/>
              <a:pathLst>
                <a:path w="4133850" h="1257300">
                  <a:moveTo>
                    <a:pt x="0" y="109220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20" y="0"/>
                  </a:lnTo>
                  <a:lnTo>
                    <a:pt x="4024503" y="0"/>
                  </a:lnTo>
                  <a:lnTo>
                    <a:pt x="4067038" y="8582"/>
                  </a:lnTo>
                  <a:lnTo>
                    <a:pt x="4101798" y="31988"/>
                  </a:lnTo>
                  <a:lnTo>
                    <a:pt x="4125247" y="66704"/>
                  </a:lnTo>
                  <a:lnTo>
                    <a:pt x="4133850" y="109220"/>
                  </a:lnTo>
                  <a:lnTo>
                    <a:pt x="4133850" y="1147953"/>
                  </a:lnTo>
                  <a:lnTo>
                    <a:pt x="4125247" y="1190488"/>
                  </a:lnTo>
                  <a:lnTo>
                    <a:pt x="4101798" y="1225248"/>
                  </a:lnTo>
                  <a:lnTo>
                    <a:pt x="4067038" y="1248697"/>
                  </a:lnTo>
                  <a:lnTo>
                    <a:pt x="4024503" y="1257300"/>
                  </a:lnTo>
                  <a:lnTo>
                    <a:pt x="109220" y="1257300"/>
                  </a:lnTo>
                  <a:lnTo>
                    <a:pt x="66704" y="1248697"/>
                  </a:lnTo>
                  <a:lnTo>
                    <a:pt x="31988" y="1225248"/>
                  </a:lnTo>
                  <a:lnTo>
                    <a:pt x="8582" y="1190488"/>
                  </a:lnTo>
                  <a:lnTo>
                    <a:pt x="0" y="1147953"/>
                  </a:lnTo>
                  <a:lnTo>
                    <a:pt x="0" y="109220"/>
                  </a:lnTo>
                  <a:close/>
                </a:path>
              </a:pathLst>
            </a:custGeom>
            <a:ln w="12700">
              <a:solidFill>
                <a:srgbClr val="1A6B4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538726" y="1395476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28575" y="0"/>
                  </a:moveTo>
                  <a:lnTo>
                    <a:pt x="17412" y="2232"/>
                  </a:lnTo>
                  <a:lnTo>
                    <a:pt x="8334" y="8334"/>
                  </a:lnTo>
                  <a:lnTo>
                    <a:pt x="2232" y="17412"/>
                  </a:lnTo>
                  <a:lnTo>
                    <a:pt x="0" y="28575"/>
                  </a:lnTo>
                  <a:lnTo>
                    <a:pt x="25" y="1228725"/>
                  </a:lnTo>
                  <a:lnTo>
                    <a:pt x="2268" y="1239833"/>
                  </a:lnTo>
                  <a:lnTo>
                    <a:pt x="8357" y="1248918"/>
                  </a:lnTo>
                  <a:lnTo>
                    <a:pt x="17422" y="1255049"/>
                  </a:lnTo>
                  <a:lnTo>
                    <a:pt x="28448" y="1257300"/>
                  </a:lnTo>
                  <a:lnTo>
                    <a:pt x="39629" y="1255049"/>
                  </a:lnTo>
                  <a:lnTo>
                    <a:pt x="48752" y="1248918"/>
                  </a:lnTo>
                  <a:lnTo>
                    <a:pt x="54897" y="1239833"/>
                  </a:lnTo>
                  <a:lnTo>
                    <a:pt x="57150" y="1228725"/>
                  </a:lnTo>
                  <a:lnTo>
                    <a:pt x="57150" y="28575"/>
                  </a:lnTo>
                  <a:lnTo>
                    <a:pt x="54899" y="17412"/>
                  </a:lnTo>
                  <a:lnTo>
                    <a:pt x="48767" y="8334"/>
                  </a:lnTo>
                  <a:lnTo>
                    <a:pt x="39683" y="2232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1A6B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538726" y="1395476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28575"/>
                  </a:moveTo>
                  <a:lnTo>
                    <a:pt x="2232" y="17412"/>
                  </a:lnTo>
                  <a:lnTo>
                    <a:pt x="8334" y="8334"/>
                  </a:lnTo>
                  <a:lnTo>
                    <a:pt x="17412" y="2232"/>
                  </a:lnTo>
                  <a:lnTo>
                    <a:pt x="28575" y="0"/>
                  </a:lnTo>
                  <a:lnTo>
                    <a:pt x="39683" y="2232"/>
                  </a:lnTo>
                  <a:lnTo>
                    <a:pt x="48767" y="8334"/>
                  </a:lnTo>
                  <a:lnTo>
                    <a:pt x="54899" y="17412"/>
                  </a:lnTo>
                  <a:lnTo>
                    <a:pt x="57150" y="28575"/>
                  </a:lnTo>
                  <a:lnTo>
                    <a:pt x="57150" y="1228725"/>
                  </a:lnTo>
                  <a:lnTo>
                    <a:pt x="54897" y="1239833"/>
                  </a:lnTo>
                  <a:lnTo>
                    <a:pt x="48752" y="1248918"/>
                  </a:lnTo>
                  <a:lnTo>
                    <a:pt x="39629" y="1255049"/>
                  </a:lnTo>
                  <a:lnTo>
                    <a:pt x="28448" y="1257300"/>
                  </a:lnTo>
                  <a:lnTo>
                    <a:pt x="17412" y="1255047"/>
                  </a:lnTo>
                  <a:lnTo>
                    <a:pt x="8334" y="1248902"/>
                  </a:lnTo>
                  <a:lnTo>
                    <a:pt x="2232" y="1239779"/>
                  </a:lnTo>
                  <a:lnTo>
                    <a:pt x="0" y="1228598"/>
                  </a:lnTo>
                  <a:lnTo>
                    <a:pt x="0" y="28575"/>
                  </a:lnTo>
                  <a:close/>
                </a:path>
              </a:pathLst>
            </a:custGeom>
            <a:ln w="12700">
              <a:solidFill>
                <a:srgbClr val="1A6B4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5325" y="1381061"/>
              <a:ext cx="814387" cy="814387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4695825" y="14954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60" y="4145"/>
                  </a:lnTo>
                  <a:lnTo>
                    <a:pt x="167457" y="16095"/>
                  </a:lnTo>
                  <a:lnTo>
                    <a:pt x="127395" y="35122"/>
                  </a:lnTo>
                  <a:lnTo>
                    <a:pt x="91500" y="60500"/>
                  </a:lnTo>
                  <a:lnTo>
                    <a:pt x="60500" y="91500"/>
                  </a:lnTo>
                  <a:lnTo>
                    <a:pt x="35122" y="127395"/>
                  </a:lnTo>
                  <a:lnTo>
                    <a:pt x="16095" y="167457"/>
                  </a:lnTo>
                  <a:lnTo>
                    <a:pt x="4145" y="210960"/>
                  </a:lnTo>
                  <a:lnTo>
                    <a:pt x="0" y="257175"/>
                  </a:lnTo>
                  <a:lnTo>
                    <a:pt x="4145" y="303389"/>
                  </a:lnTo>
                  <a:lnTo>
                    <a:pt x="16095" y="346892"/>
                  </a:lnTo>
                  <a:lnTo>
                    <a:pt x="35122" y="386954"/>
                  </a:lnTo>
                  <a:lnTo>
                    <a:pt x="60500" y="422849"/>
                  </a:lnTo>
                  <a:lnTo>
                    <a:pt x="91500" y="453849"/>
                  </a:lnTo>
                  <a:lnTo>
                    <a:pt x="127395" y="479227"/>
                  </a:lnTo>
                  <a:lnTo>
                    <a:pt x="167457" y="498254"/>
                  </a:lnTo>
                  <a:lnTo>
                    <a:pt x="210960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60"/>
                  </a:lnTo>
                  <a:lnTo>
                    <a:pt x="498254" y="167457"/>
                  </a:lnTo>
                  <a:lnTo>
                    <a:pt x="479227" y="127395"/>
                  </a:lnTo>
                  <a:lnTo>
                    <a:pt x="453849" y="91500"/>
                  </a:lnTo>
                  <a:lnTo>
                    <a:pt x="422849" y="60500"/>
                  </a:lnTo>
                  <a:lnTo>
                    <a:pt x="386954" y="35122"/>
                  </a:lnTo>
                  <a:lnTo>
                    <a:pt x="346892" y="16095"/>
                  </a:lnTo>
                  <a:lnTo>
                    <a:pt x="303389" y="4145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1A6B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695825" y="14954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5" y="210960"/>
                  </a:lnTo>
                  <a:lnTo>
                    <a:pt x="16095" y="167457"/>
                  </a:lnTo>
                  <a:lnTo>
                    <a:pt x="35122" y="127395"/>
                  </a:lnTo>
                  <a:lnTo>
                    <a:pt x="60500" y="91500"/>
                  </a:lnTo>
                  <a:lnTo>
                    <a:pt x="91500" y="60500"/>
                  </a:lnTo>
                  <a:lnTo>
                    <a:pt x="127395" y="35122"/>
                  </a:lnTo>
                  <a:lnTo>
                    <a:pt x="167457" y="16095"/>
                  </a:lnTo>
                  <a:lnTo>
                    <a:pt x="210960" y="4145"/>
                  </a:lnTo>
                  <a:lnTo>
                    <a:pt x="257175" y="0"/>
                  </a:lnTo>
                  <a:lnTo>
                    <a:pt x="303389" y="4145"/>
                  </a:lnTo>
                  <a:lnTo>
                    <a:pt x="346892" y="16095"/>
                  </a:lnTo>
                  <a:lnTo>
                    <a:pt x="386954" y="35122"/>
                  </a:lnTo>
                  <a:lnTo>
                    <a:pt x="422849" y="60500"/>
                  </a:lnTo>
                  <a:lnTo>
                    <a:pt x="453849" y="91500"/>
                  </a:lnTo>
                  <a:lnTo>
                    <a:pt x="479227" y="127395"/>
                  </a:lnTo>
                  <a:lnTo>
                    <a:pt x="498254" y="167457"/>
                  </a:lnTo>
                  <a:lnTo>
                    <a:pt x="510204" y="210960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60" y="510204"/>
                  </a:lnTo>
                  <a:lnTo>
                    <a:pt x="167457" y="498254"/>
                  </a:lnTo>
                  <a:lnTo>
                    <a:pt x="127395" y="479227"/>
                  </a:lnTo>
                  <a:lnTo>
                    <a:pt x="91500" y="453849"/>
                  </a:lnTo>
                  <a:lnTo>
                    <a:pt x="60500" y="422849"/>
                  </a:lnTo>
                  <a:lnTo>
                    <a:pt x="35122" y="386954"/>
                  </a:lnTo>
                  <a:lnTo>
                    <a:pt x="16095" y="346892"/>
                  </a:lnTo>
                  <a:lnTo>
                    <a:pt x="4145" y="303389"/>
                  </a:lnTo>
                  <a:lnTo>
                    <a:pt x="0" y="25717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72025" y="1571625"/>
              <a:ext cx="371475" cy="371475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5314696" y="1553527"/>
            <a:ext cx="25654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Quantum-</a:t>
            </a: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Inspired</a:t>
            </a:r>
            <a:r>
              <a:rPr dirty="0" sz="1200" spc="-20" b="1">
                <a:solidFill>
                  <a:srgbClr val="FFFFFF"/>
                </a:solidFill>
                <a:latin typeface="Cambria"/>
                <a:cs typeface="Cambria"/>
              </a:rPr>
              <a:t> Feature</a:t>
            </a:r>
            <a:r>
              <a:rPr dirty="0" sz="1200" spc="-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Selection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5324475" y="1847850"/>
            <a:ext cx="3219450" cy="9525"/>
          </a:xfrm>
          <a:custGeom>
            <a:avLst/>
            <a:gdLst/>
            <a:ahLst/>
            <a:cxnLst/>
            <a:rect l="l" t="t" r="r" b="b"/>
            <a:pathLst>
              <a:path w="3219450" h="9525">
                <a:moveTo>
                  <a:pt x="3219450" y="0"/>
                </a:moveTo>
                <a:lnTo>
                  <a:pt x="0" y="0"/>
                </a:lnTo>
                <a:lnTo>
                  <a:pt x="0" y="9525"/>
                </a:lnTo>
                <a:lnTo>
                  <a:pt x="3219450" y="9525"/>
                </a:lnTo>
                <a:lnTo>
                  <a:pt x="3219450" y="0"/>
                </a:lnTo>
                <a:close/>
              </a:path>
            </a:pathLst>
          </a:custGeom>
          <a:solidFill>
            <a:srgbClr val="1A6B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5314696" y="1883092"/>
            <a:ext cx="3222625" cy="3175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135"/>
              </a:lnSpc>
              <a:spcBef>
                <a:spcPts val="125"/>
              </a:spcBef>
            </a:pP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QPSO</a:t>
            </a:r>
            <a:r>
              <a:rPr dirty="0" sz="950" spc="-4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algorithm</a:t>
            </a:r>
            <a:r>
              <a:rPr dirty="0" sz="950" spc="-2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reduces</a:t>
            </a:r>
            <a:r>
              <a:rPr dirty="0" sz="950" spc="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41</a:t>
            </a:r>
            <a:r>
              <a:rPr dirty="0" sz="950" spc="-4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raw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features</a:t>
            </a:r>
            <a:r>
              <a:rPr dirty="0" sz="950" spc="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to</a:t>
            </a:r>
            <a:r>
              <a:rPr dirty="0" sz="950" spc="-5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an</a:t>
            </a:r>
            <a:r>
              <a:rPr dirty="0" sz="950" spc="2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optimal</a:t>
            </a:r>
            <a:r>
              <a:rPr dirty="0" sz="950" spc="1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subset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50">
                <a:solidFill>
                  <a:srgbClr val="A8C7E8"/>
                </a:solidFill>
                <a:latin typeface="Calibri"/>
                <a:cs typeface="Calibri"/>
              </a:rPr>
              <a:t>—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ts val="1135"/>
              </a:lnSpc>
            </a:pP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removing</a:t>
            </a:r>
            <a:r>
              <a:rPr dirty="0" sz="950" spc="-3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noise</a:t>
            </a:r>
            <a:r>
              <a:rPr dirty="0" sz="950" spc="-4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and</a:t>
            </a:r>
            <a:r>
              <a:rPr dirty="0" sz="950" spc="-5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improving</a:t>
            </a:r>
            <a:r>
              <a:rPr dirty="0" sz="950" spc="-1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model</a:t>
            </a:r>
            <a:r>
              <a:rPr dirty="0" sz="950" spc="-7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focus</a:t>
            </a:r>
            <a:r>
              <a:rPr dirty="0" sz="950" spc="-1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on</a:t>
            </a:r>
            <a:r>
              <a:rPr dirty="0" sz="950" spc="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meaningful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 signals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76200" y="2752788"/>
            <a:ext cx="4424680" cy="1548130"/>
            <a:chOff x="76200" y="2752788"/>
            <a:chExt cx="4424680" cy="1548130"/>
          </a:xfrm>
        </p:grpSpPr>
        <p:pic>
          <p:nvPicPr>
            <p:cNvPr id="37" name="object 3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2752788"/>
              <a:ext cx="4424426" cy="1547749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261937" y="2862326"/>
              <a:ext cx="4134485" cy="1257300"/>
            </a:xfrm>
            <a:custGeom>
              <a:avLst/>
              <a:gdLst/>
              <a:ahLst/>
              <a:cxnLst/>
              <a:rect l="l" t="t" r="r" b="b"/>
              <a:pathLst>
                <a:path w="4134485" h="1257300">
                  <a:moveTo>
                    <a:pt x="4024566" y="0"/>
                  </a:moveTo>
                  <a:lnTo>
                    <a:pt x="109334" y="0"/>
                  </a:lnTo>
                  <a:lnTo>
                    <a:pt x="66774" y="8582"/>
                  </a:lnTo>
                  <a:lnTo>
                    <a:pt x="32021" y="31988"/>
                  </a:lnTo>
                  <a:lnTo>
                    <a:pt x="8591" y="66704"/>
                  </a:lnTo>
                  <a:lnTo>
                    <a:pt x="0" y="109219"/>
                  </a:lnTo>
                  <a:lnTo>
                    <a:pt x="0" y="1147902"/>
                  </a:lnTo>
                  <a:lnTo>
                    <a:pt x="8591" y="1190462"/>
                  </a:lnTo>
                  <a:lnTo>
                    <a:pt x="32021" y="1225215"/>
                  </a:lnTo>
                  <a:lnTo>
                    <a:pt x="66774" y="1248645"/>
                  </a:lnTo>
                  <a:lnTo>
                    <a:pt x="109334" y="1257236"/>
                  </a:lnTo>
                  <a:lnTo>
                    <a:pt x="4024566" y="1257236"/>
                  </a:lnTo>
                  <a:lnTo>
                    <a:pt x="4067101" y="1248645"/>
                  </a:lnTo>
                  <a:lnTo>
                    <a:pt x="4101861" y="1225215"/>
                  </a:lnTo>
                  <a:lnTo>
                    <a:pt x="4125311" y="1190462"/>
                  </a:lnTo>
                  <a:lnTo>
                    <a:pt x="4133913" y="1147902"/>
                  </a:lnTo>
                  <a:lnTo>
                    <a:pt x="4133913" y="109219"/>
                  </a:lnTo>
                  <a:lnTo>
                    <a:pt x="4125311" y="66704"/>
                  </a:lnTo>
                  <a:lnTo>
                    <a:pt x="4101861" y="31988"/>
                  </a:lnTo>
                  <a:lnTo>
                    <a:pt x="4067101" y="8582"/>
                  </a:lnTo>
                  <a:lnTo>
                    <a:pt x="4024566" y="0"/>
                  </a:lnTo>
                  <a:close/>
                </a:path>
              </a:pathLst>
            </a:custGeom>
            <a:solidFill>
              <a:srgbClr val="3618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61937" y="2862326"/>
              <a:ext cx="4134485" cy="1257300"/>
            </a:xfrm>
            <a:custGeom>
              <a:avLst/>
              <a:gdLst/>
              <a:ahLst/>
              <a:cxnLst/>
              <a:rect l="l" t="t" r="r" b="b"/>
              <a:pathLst>
                <a:path w="4134485" h="1257300">
                  <a:moveTo>
                    <a:pt x="0" y="109219"/>
                  </a:moveTo>
                  <a:lnTo>
                    <a:pt x="8591" y="66704"/>
                  </a:lnTo>
                  <a:lnTo>
                    <a:pt x="32021" y="31988"/>
                  </a:lnTo>
                  <a:lnTo>
                    <a:pt x="66774" y="8582"/>
                  </a:lnTo>
                  <a:lnTo>
                    <a:pt x="109334" y="0"/>
                  </a:lnTo>
                  <a:lnTo>
                    <a:pt x="4024566" y="0"/>
                  </a:lnTo>
                  <a:lnTo>
                    <a:pt x="4067101" y="8582"/>
                  </a:lnTo>
                  <a:lnTo>
                    <a:pt x="4101861" y="31988"/>
                  </a:lnTo>
                  <a:lnTo>
                    <a:pt x="4125311" y="66704"/>
                  </a:lnTo>
                  <a:lnTo>
                    <a:pt x="4133913" y="109219"/>
                  </a:lnTo>
                  <a:lnTo>
                    <a:pt x="4133913" y="1147902"/>
                  </a:lnTo>
                  <a:lnTo>
                    <a:pt x="4125311" y="1190462"/>
                  </a:lnTo>
                  <a:lnTo>
                    <a:pt x="4101861" y="1225215"/>
                  </a:lnTo>
                  <a:lnTo>
                    <a:pt x="4067101" y="1248645"/>
                  </a:lnTo>
                  <a:lnTo>
                    <a:pt x="4024566" y="1257236"/>
                  </a:lnTo>
                  <a:lnTo>
                    <a:pt x="109334" y="1257236"/>
                  </a:lnTo>
                  <a:lnTo>
                    <a:pt x="66774" y="1248645"/>
                  </a:lnTo>
                  <a:lnTo>
                    <a:pt x="32021" y="1225215"/>
                  </a:lnTo>
                  <a:lnTo>
                    <a:pt x="8591" y="1190462"/>
                  </a:lnTo>
                  <a:lnTo>
                    <a:pt x="0" y="1147902"/>
                  </a:lnTo>
                  <a:lnTo>
                    <a:pt x="0" y="109219"/>
                  </a:lnTo>
                  <a:close/>
                </a:path>
              </a:pathLst>
            </a:custGeom>
            <a:ln w="12700">
              <a:solidFill>
                <a:srgbClr val="5B2C8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61937" y="2862326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28575" y="0"/>
                  </a:moveTo>
                  <a:lnTo>
                    <a:pt x="17450" y="2232"/>
                  </a:lnTo>
                  <a:lnTo>
                    <a:pt x="8367" y="8334"/>
                  </a:lnTo>
                  <a:lnTo>
                    <a:pt x="2244" y="17412"/>
                  </a:lnTo>
                  <a:lnTo>
                    <a:pt x="0" y="28575"/>
                  </a:lnTo>
                  <a:lnTo>
                    <a:pt x="0" y="1228661"/>
                  </a:lnTo>
                  <a:lnTo>
                    <a:pt x="2244" y="1239786"/>
                  </a:lnTo>
                  <a:lnTo>
                    <a:pt x="8367" y="1248868"/>
                  </a:lnTo>
                  <a:lnTo>
                    <a:pt x="17450" y="1254991"/>
                  </a:lnTo>
                  <a:lnTo>
                    <a:pt x="28575" y="1257236"/>
                  </a:lnTo>
                  <a:lnTo>
                    <a:pt x="39699" y="1254991"/>
                  </a:lnTo>
                  <a:lnTo>
                    <a:pt x="48782" y="1248868"/>
                  </a:lnTo>
                  <a:lnTo>
                    <a:pt x="54905" y="1239786"/>
                  </a:lnTo>
                  <a:lnTo>
                    <a:pt x="57150" y="1228661"/>
                  </a:lnTo>
                  <a:lnTo>
                    <a:pt x="57150" y="28575"/>
                  </a:lnTo>
                  <a:lnTo>
                    <a:pt x="54905" y="17412"/>
                  </a:lnTo>
                  <a:lnTo>
                    <a:pt x="48782" y="8334"/>
                  </a:lnTo>
                  <a:lnTo>
                    <a:pt x="39699" y="2232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5B2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61937" y="2862326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28575"/>
                  </a:moveTo>
                  <a:lnTo>
                    <a:pt x="2244" y="17412"/>
                  </a:lnTo>
                  <a:lnTo>
                    <a:pt x="8367" y="8334"/>
                  </a:lnTo>
                  <a:lnTo>
                    <a:pt x="17450" y="2232"/>
                  </a:lnTo>
                  <a:lnTo>
                    <a:pt x="28575" y="0"/>
                  </a:lnTo>
                  <a:lnTo>
                    <a:pt x="39699" y="2232"/>
                  </a:lnTo>
                  <a:lnTo>
                    <a:pt x="48782" y="8334"/>
                  </a:lnTo>
                  <a:lnTo>
                    <a:pt x="54905" y="17412"/>
                  </a:lnTo>
                  <a:lnTo>
                    <a:pt x="57150" y="28575"/>
                  </a:lnTo>
                  <a:lnTo>
                    <a:pt x="57150" y="1228661"/>
                  </a:lnTo>
                  <a:lnTo>
                    <a:pt x="54905" y="1239786"/>
                  </a:lnTo>
                  <a:lnTo>
                    <a:pt x="48782" y="1248868"/>
                  </a:lnTo>
                  <a:lnTo>
                    <a:pt x="39699" y="1254991"/>
                  </a:lnTo>
                  <a:lnTo>
                    <a:pt x="28575" y="1257236"/>
                  </a:lnTo>
                  <a:lnTo>
                    <a:pt x="17450" y="1254991"/>
                  </a:lnTo>
                  <a:lnTo>
                    <a:pt x="8367" y="1248868"/>
                  </a:lnTo>
                  <a:lnTo>
                    <a:pt x="2244" y="1239786"/>
                  </a:lnTo>
                  <a:lnTo>
                    <a:pt x="0" y="1228661"/>
                  </a:lnTo>
                  <a:lnTo>
                    <a:pt x="0" y="28575"/>
                  </a:lnTo>
                  <a:close/>
                </a:path>
              </a:pathLst>
            </a:custGeom>
            <a:ln w="12700">
              <a:solidFill>
                <a:srgbClr val="5B2C8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600" y="2848038"/>
              <a:ext cx="814387" cy="814387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419100" y="29622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46" y="4145"/>
                  </a:lnTo>
                  <a:lnTo>
                    <a:pt x="167437" y="16095"/>
                  </a:lnTo>
                  <a:lnTo>
                    <a:pt x="127372" y="35122"/>
                  </a:lnTo>
                  <a:lnTo>
                    <a:pt x="91479" y="60500"/>
                  </a:lnTo>
                  <a:lnTo>
                    <a:pt x="60483" y="91500"/>
                  </a:lnTo>
                  <a:lnTo>
                    <a:pt x="35111" y="127395"/>
                  </a:lnTo>
                  <a:lnTo>
                    <a:pt x="16089" y="167457"/>
                  </a:lnTo>
                  <a:lnTo>
                    <a:pt x="4143" y="210960"/>
                  </a:lnTo>
                  <a:lnTo>
                    <a:pt x="0" y="257175"/>
                  </a:lnTo>
                  <a:lnTo>
                    <a:pt x="4143" y="303389"/>
                  </a:lnTo>
                  <a:lnTo>
                    <a:pt x="16089" y="346892"/>
                  </a:lnTo>
                  <a:lnTo>
                    <a:pt x="35111" y="386954"/>
                  </a:lnTo>
                  <a:lnTo>
                    <a:pt x="60483" y="422849"/>
                  </a:lnTo>
                  <a:lnTo>
                    <a:pt x="91479" y="453849"/>
                  </a:lnTo>
                  <a:lnTo>
                    <a:pt x="127372" y="479227"/>
                  </a:lnTo>
                  <a:lnTo>
                    <a:pt x="167437" y="498254"/>
                  </a:lnTo>
                  <a:lnTo>
                    <a:pt x="210946" y="510204"/>
                  </a:lnTo>
                  <a:lnTo>
                    <a:pt x="257175" y="514350"/>
                  </a:lnTo>
                  <a:lnTo>
                    <a:pt x="303403" y="510204"/>
                  </a:lnTo>
                  <a:lnTo>
                    <a:pt x="346912" y="498254"/>
                  </a:lnTo>
                  <a:lnTo>
                    <a:pt x="386977" y="479227"/>
                  </a:lnTo>
                  <a:lnTo>
                    <a:pt x="422870" y="453849"/>
                  </a:lnTo>
                  <a:lnTo>
                    <a:pt x="453866" y="422849"/>
                  </a:lnTo>
                  <a:lnTo>
                    <a:pt x="479238" y="386954"/>
                  </a:lnTo>
                  <a:lnTo>
                    <a:pt x="498260" y="346892"/>
                  </a:lnTo>
                  <a:lnTo>
                    <a:pt x="510206" y="303389"/>
                  </a:lnTo>
                  <a:lnTo>
                    <a:pt x="514350" y="257175"/>
                  </a:lnTo>
                  <a:lnTo>
                    <a:pt x="510206" y="210960"/>
                  </a:lnTo>
                  <a:lnTo>
                    <a:pt x="498260" y="167457"/>
                  </a:lnTo>
                  <a:lnTo>
                    <a:pt x="479238" y="127395"/>
                  </a:lnTo>
                  <a:lnTo>
                    <a:pt x="453866" y="91500"/>
                  </a:lnTo>
                  <a:lnTo>
                    <a:pt x="422870" y="60500"/>
                  </a:lnTo>
                  <a:lnTo>
                    <a:pt x="386977" y="35122"/>
                  </a:lnTo>
                  <a:lnTo>
                    <a:pt x="346912" y="16095"/>
                  </a:lnTo>
                  <a:lnTo>
                    <a:pt x="303403" y="4145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5B2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19100" y="29622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3" y="210960"/>
                  </a:lnTo>
                  <a:lnTo>
                    <a:pt x="16089" y="167457"/>
                  </a:lnTo>
                  <a:lnTo>
                    <a:pt x="35111" y="127395"/>
                  </a:lnTo>
                  <a:lnTo>
                    <a:pt x="60483" y="91500"/>
                  </a:lnTo>
                  <a:lnTo>
                    <a:pt x="91479" y="60500"/>
                  </a:lnTo>
                  <a:lnTo>
                    <a:pt x="127372" y="35122"/>
                  </a:lnTo>
                  <a:lnTo>
                    <a:pt x="167437" y="16095"/>
                  </a:lnTo>
                  <a:lnTo>
                    <a:pt x="210946" y="4145"/>
                  </a:lnTo>
                  <a:lnTo>
                    <a:pt x="257175" y="0"/>
                  </a:lnTo>
                  <a:lnTo>
                    <a:pt x="303403" y="4145"/>
                  </a:lnTo>
                  <a:lnTo>
                    <a:pt x="346912" y="16095"/>
                  </a:lnTo>
                  <a:lnTo>
                    <a:pt x="386977" y="35122"/>
                  </a:lnTo>
                  <a:lnTo>
                    <a:pt x="422870" y="60500"/>
                  </a:lnTo>
                  <a:lnTo>
                    <a:pt x="453866" y="91500"/>
                  </a:lnTo>
                  <a:lnTo>
                    <a:pt x="479238" y="127395"/>
                  </a:lnTo>
                  <a:lnTo>
                    <a:pt x="498260" y="167457"/>
                  </a:lnTo>
                  <a:lnTo>
                    <a:pt x="510206" y="210960"/>
                  </a:lnTo>
                  <a:lnTo>
                    <a:pt x="514350" y="257175"/>
                  </a:lnTo>
                  <a:lnTo>
                    <a:pt x="510206" y="303389"/>
                  </a:lnTo>
                  <a:lnTo>
                    <a:pt x="498260" y="346892"/>
                  </a:lnTo>
                  <a:lnTo>
                    <a:pt x="479238" y="386954"/>
                  </a:lnTo>
                  <a:lnTo>
                    <a:pt x="453866" y="422849"/>
                  </a:lnTo>
                  <a:lnTo>
                    <a:pt x="422870" y="453849"/>
                  </a:lnTo>
                  <a:lnTo>
                    <a:pt x="386977" y="479227"/>
                  </a:lnTo>
                  <a:lnTo>
                    <a:pt x="346912" y="498254"/>
                  </a:lnTo>
                  <a:lnTo>
                    <a:pt x="303403" y="510204"/>
                  </a:lnTo>
                  <a:lnTo>
                    <a:pt x="257175" y="514350"/>
                  </a:lnTo>
                  <a:lnTo>
                    <a:pt x="210946" y="510204"/>
                  </a:lnTo>
                  <a:lnTo>
                    <a:pt x="167437" y="498254"/>
                  </a:lnTo>
                  <a:lnTo>
                    <a:pt x="127372" y="479227"/>
                  </a:lnTo>
                  <a:lnTo>
                    <a:pt x="91479" y="453849"/>
                  </a:lnTo>
                  <a:lnTo>
                    <a:pt x="60483" y="422849"/>
                  </a:lnTo>
                  <a:lnTo>
                    <a:pt x="35111" y="386954"/>
                  </a:lnTo>
                  <a:lnTo>
                    <a:pt x="16089" y="346892"/>
                  </a:lnTo>
                  <a:lnTo>
                    <a:pt x="4143" y="303389"/>
                  </a:lnTo>
                  <a:lnTo>
                    <a:pt x="0" y="25717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5300" y="3038475"/>
              <a:ext cx="361950" cy="361950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1030922" y="3019107"/>
            <a:ext cx="16675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Hybrid</a:t>
            </a:r>
            <a:r>
              <a:rPr dirty="0" sz="1200" spc="-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mbria"/>
                <a:cs typeface="Cambria"/>
              </a:rPr>
              <a:t>ML</a:t>
            </a:r>
            <a:r>
              <a:rPr dirty="0" sz="1200" spc="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Architecture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1038225" y="3314700"/>
            <a:ext cx="3219450" cy="9525"/>
          </a:xfrm>
          <a:custGeom>
            <a:avLst/>
            <a:gdLst/>
            <a:ahLst/>
            <a:cxnLst/>
            <a:rect l="l" t="t" r="r" b="b"/>
            <a:pathLst>
              <a:path w="3219450" h="9525">
                <a:moveTo>
                  <a:pt x="3219450" y="0"/>
                </a:moveTo>
                <a:lnTo>
                  <a:pt x="0" y="0"/>
                </a:lnTo>
                <a:lnTo>
                  <a:pt x="0" y="9525"/>
                </a:lnTo>
                <a:lnTo>
                  <a:pt x="3219450" y="9525"/>
                </a:lnTo>
                <a:lnTo>
                  <a:pt x="3219450" y="0"/>
                </a:lnTo>
                <a:close/>
              </a:path>
            </a:pathLst>
          </a:custGeom>
          <a:solidFill>
            <a:srgbClr val="5B2C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1030922" y="3349053"/>
            <a:ext cx="3042285" cy="3175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135"/>
              </a:lnSpc>
              <a:spcBef>
                <a:spcPts val="125"/>
              </a:spcBef>
            </a:pP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Combines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Random</a:t>
            </a:r>
            <a:r>
              <a:rPr dirty="0" sz="950" spc="-3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Forest</a:t>
            </a:r>
            <a:r>
              <a:rPr dirty="0" sz="950" spc="-2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with</a:t>
            </a:r>
            <a:r>
              <a:rPr dirty="0" sz="950" spc="1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QPSO</a:t>
            </a:r>
            <a:r>
              <a:rPr dirty="0" sz="950" spc="2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optimization</a:t>
            </a:r>
            <a:r>
              <a:rPr dirty="0" sz="950" spc="-2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—</a:t>
            </a:r>
            <a:r>
              <a:rPr dirty="0" sz="950" spc="-3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bridging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ts val="1135"/>
              </a:lnSpc>
            </a:pP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classical</a:t>
            </a:r>
            <a:r>
              <a:rPr dirty="0" sz="950" spc="1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machine</a:t>
            </a:r>
            <a:r>
              <a:rPr dirty="0" sz="950" spc="-3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learning</a:t>
            </a:r>
            <a:r>
              <a:rPr dirty="0" sz="950" spc="-7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with</a:t>
            </a:r>
            <a:r>
              <a:rPr dirty="0" sz="950" spc="2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quantum-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inspired</a:t>
            </a:r>
            <a:r>
              <a:rPr dirty="0" sz="950" spc="-5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intelligence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4352925" y="2752788"/>
            <a:ext cx="4424680" cy="1548130"/>
            <a:chOff x="4352925" y="2752788"/>
            <a:chExt cx="4424680" cy="1548130"/>
          </a:xfrm>
        </p:grpSpPr>
        <p:pic>
          <p:nvPicPr>
            <p:cNvPr id="50" name="object 5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2925" y="2752788"/>
              <a:ext cx="4424426" cy="1547749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4538726" y="2862326"/>
              <a:ext cx="4133850" cy="1257300"/>
            </a:xfrm>
            <a:custGeom>
              <a:avLst/>
              <a:gdLst/>
              <a:ahLst/>
              <a:cxnLst/>
              <a:rect l="l" t="t" r="r" b="b"/>
              <a:pathLst>
                <a:path w="4133850" h="1257300">
                  <a:moveTo>
                    <a:pt x="4024503" y="0"/>
                  </a:moveTo>
                  <a:lnTo>
                    <a:pt x="109220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19"/>
                  </a:lnTo>
                  <a:lnTo>
                    <a:pt x="0" y="1147902"/>
                  </a:lnTo>
                  <a:lnTo>
                    <a:pt x="8582" y="1190462"/>
                  </a:lnTo>
                  <a:lnTo>
                    <a:pt x="31988" y="1225215"/>
                  </a:lnTo>
                  <a:lnTo>
                    <a:pt x="66704" y="1248645"/>
                  </a:lnTo>
                  <a:lnTo>
                    <a:pt x="109220" y="1257236"/>
                  </a:lnTo>
                  <a:lnTo>
                    <a:pt x="4024503" y="1257236"/>
                  </a:lnTo>
                  <a:lnTo>
                    <a:pt x="4067038" y="1248645"/>
                  </a:lnTo>
                  <a:lnTo>
                    <a:pt x="4101798" y="1225215"/>
                  </a:lnTo>
                  <a:lnTo>
                    <a:pt x="4125247" y="1190462"/>
                  </a:lnTo>
                  <a:lnTo>
                    <a:pt x="4133850" y="1147902"/>
                  </a:lnTo>
                  <a:lnTo>
                    <a:pt x="4133850" y="109219"/>
                  </a:lnTo>
                  <a:lnTo>
                    <a:pt x="4125247" y="66704"/>
                  </a:lnTo>
                  <a:lnTo>
                    <a:pt x="4101798" y="31988"/>
                  </a:lnTo>
                  <a:lnTo>
                    <a:pt x="4067038" y="8582"/>
                  </a:lnTo>
                  <a:lnTo>
                    <a:pt x="4024503" y="0"/>
                  </a:lnTo>
                  <a:close/>
                </a:path>
              </a:pathLst>
            </a:custGeom>
            <a:solidFill>
              <a:srgbClr val="6B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538726" y="2862326"/>
              <a:ext cx="4133850" cy="1257300"/>
            </a:xfrm>
            <a:custGeom>
              <a:avLst/>
              <a:gdLst/>
              <a:ahLst/>
              <a:cxnLst/>
              <a:rect l="l" t="t" r="r" b="b"/>
              <a:pathLst>
                <a:path w="4133850" h="1257300">
                  <a:moveTo>
                    <a:pt x="0" y="109219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20" y="0"/>
                  </a:lnTo>
                  <a:lnTo>
                    <a:pt x="4024503" y="0"/>
                  </a:lnTo>
                  <a:lnTo>
                    <a:pt x="4067038" y="8582"/>
                  </a:lnTo>
                  <a:lnTo>
                    <a:pt x="4101798" y="31988"/>
                  </a:lnTo>
                  <a:lnTo>
                    <a:pt x="4125247" y="66704"/>
                  </a:lnTo>
                  <a:lnTo>
                    <a:pt x="4133850" y="109219"/>
                  </a:lnTo>
                  <a:lnTo>
                    <a:pt x="4133850" y="1147902"/>
                  </a:lnTo>
                  <a:lnTo>
                    <a:pt x="4125247" y="1190462"/>
                  </a:lnTo>
                  <a:lnTo>
                    <a:pt x="4101798" y="1225215"/>
                  </a:lnTo>
                  <a:lnTo>
                    <a:pt x="4067038" y="1248645"/>
                  </a:lnTo>
                  <a:lnTo>
                    <a:pt x="4024503" y="1257236"/>
                  </a:lnTo>
                  <a:lnTo>
                    <a:pt x="109220" y="1257236"/>
                  </a:lnTo>
                  <a:lnTo>
                    <a:pt x="66704" y="1248645"/>
                  </a:lnTo>
                  <a:lnTo>
                    <a:pt x="31988" y="1225215"/>
                  </a:lnTo>
                  <a:lnTo>
                    <a:pt x="8582" y="1190462"/>
                  </a:lnTo>
                  <a:lnTo>
                    <a:pt x="0" y="1147902"/>
                  </a:lnTo>
                  <a:lnTo>
                    <a:pt x="0" y="109219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538726" y="2862326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28575" y="0"/>
                  </a:moveTo>
                  <a:lnTo>
                    <a:pt x="17412" y="2232"/>
                  </a:lnTo>
                  <a:lnTo>
                    <a:pt x="8334" y="8334"/>
                  </a:lnTo>
                  <a:lnTo>
                    <a:pt x="2232" y="17412"/>
                  </a:lnTo>
                  <a:lnTo>
                    <a:pt x="0" y="28575"/>
                  </a:lnTo>
                  <a:lnTo>
                    <a:pt x="0" y="1228661"/>
                  </a:lnTo>
                  <a:lnTo>
                    <a:pt x="2232" y="1239786"/>
                  </a:lnTo>
                  <a:lnTo>
                    <a:pt x="8334" y="1248868"/>
                  </a:lnTo>
                  <a:lnTo>
                    <a:pt x="17412" y="1254991"/>
                  </a:lnTo>
                  <a:lnTo>
                    <a:pt x="28448" y="1257236"/>
                  </a:lnTo>
                  <a:lnTo>
                    <a:pt x="39629" y="1254991"/>
                  </a:lnTo>
                  <a:lnTo>
                    <a:pt x="48752" y="1248868"/>
                  </a:lnTo>
                  <a:lnTo>
                    <a:pt x="54897" y="1239786"/>
                  </a:lnTo>
                  <a:lnTo>
                    <a:pt x="57150" y="1228661"/>
                  </a:lnTo>
                  <a:lnTo>
                    <a:pt x="57150" y="28575"/>
                  </a:lnTo>
                  <a:lnTo>
                    <a:pt x="54899" y="17412"/>
                  </a:lnTo>
                  <a:lnTo>
                    <a:pt x="48767" y="8334"/>
                  </a:lnTo>
                  <a:lnTo>
                    <a:pt x="39683" y="2232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538726" y="2862326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28575"/>
                  </a:moveTo>
                  <a:lnTo>
                    <a:pt x="2232" y="17412"/>
                  </a:lnTo>
                  <a:lnTo>
                    <a:pt x="8334" y="8334"/>
                  </a:lnTo>
                  <a:lnTo>
                    <a:pt x="17412" y="2232"/>
                  </a:lnTo>
                  <a:lnTo>
                    <a:pt x="28575" y="0"/>
                  </a:lnTo>
                  <a:lnTo>
                    <a:pt x="39683" y="2232"/>
                  </a:lnTo>
                  <a:lnTo>
                    <a:pt x="48767" y="8334"/>
                  </a:lnTo>
                  <a:lnTo>
                    <a:pt x="54899" y="17412"/>
                  </a:lnTo>
                  <a:lnTo>
                    <a:pt x="57150" y="28575"/>
                  </a:lnTo>
                  <a:lnTo>
                    <a:pt x="57150" y="1228661"/>
                  </a:lnTo>
                  <a:lnTo>
                    <a:pt x="54897" y="1239786"/>
                  </a:lnTo>
                  <a:lnTo>
                    <a:pt x="48752" y="1248868"/>
                  </a:lnTo>
                  <a:lnTo>
                    <a:pt x="39629" y="1254991"/>
                  </a:lnTo>
                  <a:lnTo>
                    <a:pt x="28448" y="1257236"/>
                  </a:lnTo>
                  <a:lnTo>
                    <a:pt x="17412" y="1254991"/>
                  </a:lnTo>
                  <a:lnTo>
                    <a:pt x="8334" y="1248868"/>
                  </a:lnTo>
                  <a:lnTo>
                    <a:pt x="2232" y="1239786"/>
                  </a:lnTo>
                  <a:lnTo>
                    <a:pt x="0" y="1228661"/>
                  </a:lnTo>
                  <a:lnTo>
                    <a:pt x="0" y="28575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05325" y="2848038"/>
              <a:ext cx="814387" cy="814387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4695825" y="29622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60" y="4145"/>
                  </a:lnTo>
                  <a:lnTo>
                    <a:pt x="167457" y="16095"/>
                  </a:lnTo>
                  <a:lnTo>
                    <a:pt x="127395" y="35122"/>
                  </a:lnTo>
                  <a:lnTo>
                    <a:pt x="91500" y="60500"/>
                  </a:lnTo>
                  <a:lnTo>
                    <a:pt x="60500" y="91500"/>
                  </a:lnTo>
                  <a:lnTo>
                    <a:pt x="35122" y="127395"/>
                  </a:lnTo>
                  <a:lnTo>
                    <a:pt x="16095" y="167457"/>
                  </a:lnTo>
                  <a:lnTo>
                    <a:pt x="4145" y="210960"/>
                  </a:lnTo>
                  <a:lnTo>
                    <a:pt x="0" y="257175"/>
                  </a:lnTo>
                  <a:lnTo>
                    <a:pt x="4145" y="303389"/>
                  </a:lnTo>
                  <a:lnTo>
                    <a:pt x="16095" y="346892"/>
                  </a:lnTo>
                  <a:lnTo>
                    <a:pt x="35122" y="386954"/>
                  </a:lnTo>
                  <a:lnTo>
                    <a:pt x="60500" y="422849"/>
                  </a:lnTo>
                  <a:lnTo>
                    <a:pt x="91500" y="453849"/>
                  </a:lnTo>
                  <a:lnTo>
                    <a:pt x="127395" y="479227"/>
                  </a:lnTo>
                  <a:lnTo>
                    <a:pt x="167457" y="498254"/>
                  </a:lnTo>
                  <a:lnTo>
                    <a:pt x="210960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60"/>
                  </a:lnTo>
                  <a:lnTo>
                    <a:pt x="498254" y="167457"/>
                  </a:lnTo>
                  <a:lnTo>
                    <a:pt x="479227" y="127395"/>
                  </a:lnTo>
                  <a:lnTo>
                    <a:pt x="453849" y="91500"/>
                  </a:lnTo>
                  <a:lnTo>
                    <a:pt x="422849" y="60500"/>
                  </a:lnTo>
                  <a:lnTo>
                    <a:pt x="386954" y="35122"/>
                  </a:lnTo>
                  <a:lnTo>
                    <a:pt x="346892" y="16095"/>
                  </a:lnTo>
                  <a:lnTo>
                    <a:pt x="303389" y="4145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695825" y="29622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5" y="210960"/>
                  </a:lnTo>
                  <a:lnTo>
                    <a:pt x="16095" y="167457"/>
                  </a:lnTo>
                  <a:lnTo>
                    <a:pt x="35122" y="127395"/>
                  </a:lnTo>
                  <a:lnTo>
                    <a:pt x="60500" y="91500"/>
                  </a:lnTo>
                  <a:lnTo>
                    <a:pt x="91500" y="60500"/>
                  </a:lnTo>
                  <a:lnTo>
                    <a:pt x="127395" y="35122"/>
                  </a:lnTo>
                  <a:lnTo>
                    <a:pt x="167457" y="16095"/>
                  </a:lnTo>
                  <a:lnTo>
                    <a:pt x="210960" y="4145"/>
                  </a:lnTo>
                  <a:lnTo>
                    <a:pt x="257175" y="0"/>
                  </a:lnTo>
                  <a:lnTo>
                    <a:pt x="303389" y="4145"/>
                  </a:lnTo>
                  <a:lnTo>
                    <a:pt x="346892" y="16095"/>
                  </a:lnTo>
                  <a:lnTo>
                    <a:pt x="386954" y="35122"/>
                  </a:lnTo>
                  <a:lnTo>
                    <a:pt x="422849" y="60500"/>
                  </a:lnTo>
                  <a:lnTo>
                    <a:pt x="453849" y="91500"/>
                  </a:lnTo>
                  <a:lnTo>
                    <a:pt x="479227" y="127395"/>
                  </a:lnTo>
                  <a:lnTo>
                    <a:pt x="498254" y="167457"/>
                  </a:lnTo>
                  <a:lnTo>
                    <a:pt x="510204" y="210960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60" y="510204"/>
                  </a:lnTo>
                  <a:lnTo>
                    <a:pt x="167457" y="498254"/>
                  </a:lnTo>
                  <a:lnTo>
                    <a:pt x="127395" y="479227"/>
                  </a:lnTo>
                  <a:lnTo>
                    <a:pt x="91500" y="453849"/>
                  </a:lnTo>
                  <a:lnTo>
                    <a:pt x="60500" y="422849"/>
                  </a:lnTo>
                  <a:lnTo>
                    <a:pt x="35122" y="386954"/>
                  </a:lnTo>
                  <a:lnTo>
                    <a:pt x="16095" y="346892"/>
                  </a:lnTo>
                  <a:lnTo>
                    <a:pt x="4145" y="303389"/>
                  </a:lnTo>
                  <a:lnTo>
                    <a:pt x="0" y="25717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72025" y="3038475"/>
              <a:ext cx="371475" cy="361950"/>
            </a:xfrm>
            <a:prstGeom prst="rect">
              <a:avLst/>
            </a:prstGeom>
          </p:spPr>
        </p:pic>
      </p:grpSp>
      <p:sp>
        <p:nvSpPr>
          <p:cNvPr id="59" name="object 59" descr=""/>
          <p:cNvSpPr txBox="1"/>
          <p:nvPr/>
        </p:nvSpPr>
        <p:spPr>
          <a:xfrm>
            <a:off x="5314696" y="3019107"/>
            <a:ext cx="16097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Real-World</a:t>
            </a:r>
            <a:r>
              <a:rPr dirty="0" sz="1200" spc="-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mbria"/>
                <a:cs typeface="Cambria"/>
              </a:rPr>
              <a:t>Simulation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60" name="object 60" descr=""/>
          <p:cNvSpPr/>
          <p:nvPr/>
        </p:nvSpPr>
        <p:spPr>
          <a:xfrm>
            <a:off x="5324475" y="3314700"/>
            <a:ext cx="3219450" cy="9525"/>
          </a:xfrm>
          <a:custGeom>
            <a:avLst/>
            <a:gdLst/>
            <a:ahLst/>
            <a:cxnLst/>
            <a:rect l="l" t="t" r="r" b="b"/>
            <a:pathLst>
              <a:path w="3219450" h="9525">
                <a:moveTo>
                  <a:pt x="3219450" y="0"/>
                </a:moveTo>
                <a:lnTo>
                  <a:pt x="0" y="0"/>
                </a:lnTo>
                <a:lnTo>
                  <a:pt x="0" y="9525"/>
                </a:lnTo>
                <a:lnTo>
                  <a:pt x="3219450" y="9525"/>
                </a:lnTo>
                <a:lnTo>
                  <a:pt x="3219450" y="0"/>
                </a:lnTo>
                <a:close/>
              </a:path>
            </a:pathLst>
          </a:custGeom>
          <a:solidFill>
            <a:srgbClr val="C039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 txBox="1"/>
          <p:nvPr/>
        </p:nvSpPr>
        <p:spPr>
          <a:xfrm>
            <a:off x="5314696" y="3349053"/>
            <a:ext cx="3221355" cy="46037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40"/>
              </a:spcBef>
            </a:pP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A</a:t>
            </a:r>
            <a:r>
              <a:rPr dirty="0" sz="950" spc="-3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Python</a:t>
            </a:r>
            <a:r>
              <a:rPr dirty="0" sz="950" spc="-4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GUI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 simulator</a:t>
            </a:r>
            <a:r>
              <a:rPr dirty="0" sz="950" spc="-2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enables</a:t>
            </a:r>
            <a:r>
              <a:rPr dirty="0" sz="950" spc="1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live</a:t>
            </a:r>
            <a:r>
              <a:rPr dirty="0" sz="950" spc="-2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attack</a:t>
            </a:r>
            <a:r>
              <a:rPr dirty="0" sz="950" spc="2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detection</a:t>
            </a:r>
            <a:r>
              <a:rPr dirty="0" sz="950" spc="25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visualization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and</a:t>
            </a:r>
            <a:r>
              <a:rPr dirty="0" sz="950" spc="-2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side-by-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side</a:t>
            </a:r>
            <a:r>
              <a:rPr dirty="0" sz="950" spc="1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comparison</a:t>
            </a:r>
            <a:r>
              <a:rPr dirty="0" sz="950" spc="7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of</a:t>
            </a:r>
            <a:r>
              <a:rPr dirty="0" sz="950" spc="-3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classical</a:t>
            </a:r>
            <a:r>
              <a:rPr dirty="0" sz="950" spc="-3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A8C7E8"/>
                </a:solidFill>
                <a:latin typeface="Calibri"/>
                <a:cs typeface="Calibri"/>
              </a:rPr>
              <a:t>vs.</a:t>
            </a:r>
            <a:r>
              <a:rPr dirty="0" sz="950" spc="30">
                <a:solidFill>
                  <a:srgbClr val="A8C7E8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A8C7E8"/>
                </a:solidFill>
                <a:latin typeface="Calibri"/>
                <a:cs typeface="Calibri"/>
              </a:rPr>
              <a:t>quantum-enhanced results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76200" y="4524375"/>
            <a:ext cx="8920480" cy="619125"/>
            <a:chOff x="76200" y="4524375"/>
            <a:chExt cx="8920480" cy="619125"/>
          </a:xfrm>
        </p:grpSpPr>
        <p:pic>
          <p:nvPicPr>
            <p:cNvPr id="63" name="object 6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200" y="4524375"/>
              <a:ext cx="8920226" cy="619125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261937" y="4633912"/>
              <a:ext cx="8630285" cy="400050"/>
            </a:xfrm>
            <a:custGeom>
              <a:avLst/>
              <a:gdLst/>
              <a:ahLst/>
              <a:cxnLst/>
              <a:rect l="l" t="t" r="r" b="b"/>
              <a:pathLst>
                <a:path w="8630285" h="400050">
                  <a:moveTo>
                    <a:pt x="8538781" y="0"/>
                  </a:moveTo>
                  <a:lnTo>
                    <a:pt x="90919" y="0"/>
                  </a:lnTo>
                  <a:lnTo>
                    <a:pt x="55528" y="7144"/>
                  </a:lnTo>
                  <a:lnTo>
                    <a:pt x="26628" y="26628"/>
                  </a:lnTo>
                  <a:lnTo>
                    <a:pt x="7144" y="55528"/>
                  </a:lnTo>
                  <a:lnTo>
                    <a:pt x="0" y="90919"/>
                  </a:lnTo>
                  <a:lnTo>
                    <a:pt x="0" y="309130"/>
                  </a:lnTo>
                  <a:lnTo>
                    <a:pt x="7144" y="344521"/>
                  </a:lnTo>
                  <a:lnTo>
                    <a:pt x="26628" y="373421"/>
                  </a:lnTo>
                  <a:lnTo>
                    <a:pt x="55528" y="392905"/>
                  </a:lnTo>
                  <a:lnTo>
                    <a:pt x="90919" y="400050"/>
                  </a:lnTo>
                  <a:lnTo>
                    <a:pt x="8538781" y="400050"/>
                  </a:lnTo>
                  <a:lnTo>
                    <a:pt x="8574152" y="392905"/>
                  </a:lnTo>
                  <a:lnTo>
                    <a:pt x="8603059" y="373421"/>
                  </a:lnTo>
                  <a:lnTo>
                    <a:pt x="8622559" y="344521"/>
                  </a:lnTo>
                  <a:lnTo>
                    <a:pt x="8629713" y="309130"/>
                  </a:lnTo>
                  <a:lnTo>
                    <a:pt x="8629713" y="90919"/>
                  </a:lnTo>
                  <a:lnTo>
                    <a:pt x="8622559" y="55528"/>
                  </a:lnTo>
                  <a:lnTo>
                    <a:pt x="8603059" y="26628"/>
                  </a:lnTo>
                  <a:lnTo>
                    <a:pt x="8574152" y="7144"/>
                  </a:lnTo>
                  <a:lnTo>
                    <a:pt x="8538781" y="0"/>
                  </a:lnTo>
                  <a:close/>
                </a:path>
              </a:pathLst>
            </a:custGeom>
            <a:solidFill>
              <a:srgbClr val="0E1E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61937" y="4633912"/>
              <a:ext cx="8630285" cy="400050"/>
            </a:xfrm>
            <a:custGeom>
              <a:avLst/>
              <a:gdLst/>
              <a:ahLst/>
              <a:cxnLst/>
              <a:rect l="l" t="t" r="r" b="b"/>
              <a:pathLst>
                <a:path w="8630285" h="400050">
                  <a:moveTo>
                    <a:pt x="0" y="90919"/>
                  </a:moveTo>
                  <a:lnTo>
                    <a:pt x="7144" y="55528"/>
                  </a:lnTo>
                  <a:lnTo>
                    <a:pt x="26628" y="26628"/>
                  </a:lnTo>
                  <a:lnTo>
                    <a:pt x="55528" y="7144"/>
                  </a:lnTo>
                  <a:lnTo>
                    <a:pt x="90919" y="0"/>
                  </a:lnTo>
                  <a:lnTo>
                    <a:pt x="8538781" y="0"/>
                  </a:lnTo>
                  <a:lnTo>
                    <a:pt x="8574152" y="7144"/>
                  </a:lnTo>
                  <a:lnTo>
                    <a:pt x="8603059" y="26628"/>
                  </a:lnTo>
                  <a:lnTo>
                    <a:pt x="8622559" y="55528"/>
                  </a:lnTo>
                  <a:lnTo>
                    <a:pt x="8629713" y="90919"/>
                  </a:lnTo>
                  <a:lnTo>
                    <a:pt x="8629713" y="309130"/>
                  </a:lnTo>
                  <a:lnTo>
                    <a:pt x="8622559" y="344521"/>
                  </a:lnTo>
                  <a:lnTo>
                    <a:pt x="8603059" y="373421"/>
                  </a:lnTo>
                  <a:lnTo>
                    <a:pt x="8574152" y="392905"/>
                  </a:lnTo>
                  <a:lnTo>
                    <a:pt x="8538781" y="400050"/>
                  </a:lnTo>
                  <a:lnTo>
                    <a:pt x="90919" y="400050"/>
                  </a:lnTo>
                  <a:lnTo>
                    <a:pt x="55528" y="392905"/>
                  </a:lnTo>
                  <a:lnTo>
                    <a:pt x="26628" y="373421"/>
                  </a:lnTo>
                  <a:lnTo>
                    <a:pt x="7144" y="344521"/>
                  </a:lnTo>
                  <a:lnTo>
                    <a:pt x="0" y="309130"/>
                  </a:lnTo>
                  <a:lnTo>
                    <a:pt x="0" y="90919"/>
                  </a:lnTo>
                  <a:close/>
                </a:path>
              </a:pathLst>
            </a:custGeom>
            <a:ln w="12700">
              <a:solidFill>
                <a:srgbClr val="395F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1530350" y="4738370"/>
            <a:ext cx="60877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A</a:t>
            </a:r>
            <a:r>
              <a:rPr dirty="0" sz="950" spc="11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novel</a:t>
            </a:r>
            <a:r>
              <a:rPr dirty="0" sz="950" spc="7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contribution</a:t>
            </a:r>
            <a:r>
              <a:rPr dirty="0" sz="950" spc="105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to</a:t>
            </a:r>
            <a:r>
              <a:rPr dirty="0" sz="950" spc="10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cybersecurity</a:t>
            </a:r>
            <a:r>
              <a:rPr dirty="0" sz="950" spc="9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research</a:t>
            </a:r>
            <a:r>
              <a:rPr dirty="0" sz="950" spc="10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in</a:t>
            </a:r>
            <a:r>
              <a:rPr dirty="0" sz="950" spc="10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Pakistan</a:t>
            </a:r>
            <a:r>
              <a:rPr dirty="0" sz="950" spc="38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·</a:t>
            </a:r>
            <a:r>
              <a:rPr dirty="0" sz="950" spc="33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Achievable</a:t>
            </a:r>
            <a:r>
              <a:rPr dirty="0" sz="950" spc="15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within</a:t>
            </a:r>
            <a:r>
              <a:rPr dirty="0" sz="950" spc="10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a</a:t>
            </a:r>
            <a:r>
              <a:rPr dirty="0" sz="950" spc="10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4</a:t>
            </a:r>
            <a:r>
              <a:rPr dirty="0" sz="950" spc="-7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-month</a:t>
            </a:r>
            <a:r>
              <a:rPr dirty="0" sz="950" spc="10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timeline</a:t>
            </a:r>
            <a:r>
              <a:rPr dirty="0" sz="950" spc="34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·</a:t>
            </a:r>
            <a:r>
              <a:rPr dirty="0" sz="950" spc="325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5A9BC5"/>
                </a:solidFill>
                <a:latin typeface="Calibri"/>
                <a:cs typeface="Calibri"/>
              </a:rPr>
              <a:t>Open-source</a:t>
            </a:r>
            <a:r>
              <a:rPr dirty="0" sz="950" spc="50" i="1">
                <a:solidFill>
                  <a:srgbClr val="5A9BC5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5A9BC5"/>
                </a:solidFill>
                <a:latin typeface="Calibri"/>
                <a:cs typeface="Calibri"/>
              </a:rPr>
              <a:t>tools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7" name="object 67" descr=""/>
          <p:cNvSpPr/>
          <p:nvPr/>
        </p:nvSpPr>
        <p:spPr>
          <a:xfrm>
            <a:off x="0" y="5029200"/>
            <a:ext cx="9144000" cy="114300"/>
          </a:xfrm>
          <a:custGeom>
            <a:avLst/>
            <a:gdLst/>
            <a:ahLst/>
            <a:cxnLst/>
            <a:rect l="l" t="t" r="r" b="b"/>
            <a:pathLst>
              <a:path w="9144000" h="114300">
                <a:moveTo>
                  <a:pt x="9144000" y="0"/>
                </a:moveTo>
                <a:lnTo>
                  <a:pt x="0" y="0"/>
                </a:lnTo>
                <a:lnTo>
                  <a:pt x="0" y="114300"/>
                </a:lnTo>
                <a:lnTo>
                  <a:pt x="9144000" y="1143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B4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Quantum-Inspired</a:t>
            </a:r>
            <a:r>
              <a:rPr dirty="0" spc="80"/>
              <a:t> </a:t>
            </a:r>
            <a:r>
              <a:rPr dirty="0"/>
              <a:t>NIDS</a:t>
            </a:r>
            <a:r>
              <a:rPr dirty="0" spc="355"/>
              <a:t> </a:t>
            </a:r>
            <a:r>
              <a:rPr dirty="0"/>
              <a:t>|</a:t>
            </a:r>
            <a:r>
              <a:rPr dirty="0" spc="250"/>
              <a:t> </a:t>
            </a:r>
            <a:r>
              <a:rPr dirty="0"/>
              <a:t>Ini</a:t>
            </a:r>
            <a:r>
              <a:rPr dirty="0" spc="-55"/>
              <a:t> </a:t>
            </a:r>
            <a:r>
              <a:rPr dirty="0"/>
              <a:t>tial</a:t>
            </a:r>
            <a:r>
              <a:rPr dirty="0" spc="155"/>
              <a:t> </a:t>
            </a:r>
            <a:r>
              <a:rPr dirty="0" spc="-10"/>
              <a:t>Defence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28600" y="152400"/>
            <a:ext cx="1885950" cy="257175"/>
          </a:xfrm>
          <a:custGeom>
            <a:avLst/>
            <a:gdLst/>
            <a:ahLst/>
            <a:cxnLst/>
            <a:rect l="l" t="t" r="r" b="b"/>
            <a:pathLst>
              <a:path w="1885950" h="257175">
                <a:moveTo>
                  <a:pt x="1757426" y="0"/>
                </a:moveTo>
                <a:lnTo>
                  <a:pt x="128587" y="0"/>
                </a:lnTo>
                <a:lnTo>
                  <a:pt x="78534" y="10098"/>
                </a:lnTo>
                <a:lnTo>
                  <a:pt x="37661" y="37639"/>
                </a:lnTo>
                <a:lnTo>
                  <a:pt x="10104" y="78491"/>
                </a:lnTo>
                <a:lnTo>
                  <a:pt x="0" y="128524"/>
                </a:lnTo>
                <a:lnTo>
                  <a:pt x="10104" y="178629"/>
                </a:lnTo>
                <a:lnTo>
                  <a:pt x="37661" y="219519"/>
                </a:lnTo>
                <a:lnTo>
                  <a:pt x="78534" y="247074"/>
                </a:lnTo>
                <a:lnTo>
                  <a:pt x="128587" y="257175"/>
                </a:lnTo>
                <a:lnTo>
                  <a:pt x="1757426" y="257175"/>
                </a:lnTo>
                <a:lnTo>
                  <a:pt x="1807458" y="247074"/>
                </a:lnTo>
                <a:lnTo>
                  <a:pt x="1848310" y="219519"/>
                </a:lnTo>
                <a:lnTo>
                  <a:pt x="1875851" y="178629"/>
                </a:lnTo>
                <a:lnTo>
                  <a:pt x="1885950" y="128524"/>
                </a:lnTo>
                <a:lnTo>
                  <a:pt x="1875851" y="78491"/>
                </a:lnTo>
                <a:lnTo>
                  <a:pt x="1848310" y="37639"/>
                </a:lnTo>
                <a:lnTo>
                  <a:pt x="1807458" y="10098"/>
                </a:lnTo>
                <a:lnTo>
                  <a:pt x="1757426" y="0"/>
                </a:lnTo>
                <a:close/>
              </a:path>
            </a:pathLst>
          </a:custGeom>
          <a:solidFill>
            <a:srgbClr val="1B4F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89242" y="201040"/>
            <a:ext cx="144081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80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60" b="1">
                <a:solidFill>
                  <a:srgbClr val="FFFFFF"/>
                </a:solidFill>
                <a:latin typeface="Calibri"/>
                <a:cs typeface="Calibri"/>
              </a:rPr>
              <a:t>LS</a:t>
            </a:r>
            <a:r>
              <a:rPr dirty="0" sz="800" spc="3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800" spc="229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80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8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55" b="1">
                <a:solidFill>
                  <a:srgbClr val="FFFFFF"/>
                </a:solidFill>
                <a:latin typeface="Calibri"/>
                <a:cs typeface="Calibri"/>
              </a:rPr>
              <a:t>HN</a:t>
            </a:r>
            <a:r>
              <a:rPr dirty="0" sz="8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dirty="0" sz="80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8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8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/>
              <a:t>Technical</a:t>
            </a:r>
            <a:r>
              <a:rPr dirty="0" spc="-70"/>
              <a:t> </a:t>
            </a:r>
            <a:r>
              <a:rPr dirty="0" spc="-20"/>
              <a:t>Stack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216217" y="995362"/>
            <a:ext cx="25990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All</a:t>
            </a:r>
            <a:r>
              <a:rPr dirty="0" sz="950" spc="2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tools</a:t>
            </a:r>
            <a:r>
              <a:rPr dirty="0" sz="950" spc="10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are</a:t>
            </a:r>
            <a:r>
              <a:rPr dirty="0" sz="950" spc="-7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free,</a:t>
            </a:r>
            <a:r>
              <a:rPr dirty="0" sz="950" spc="5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6B7C8E"/>
                </a:solidFill>
                <a:latin typeface="Calibri"/>
                <a:cs typeface="Calibri"/>
              </a:rPr>
              <a:t>open-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source,</a:t>
            </a:r>
            <a:r>
              <a:rPr dirty="0" sz="950" spc="10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i="1">
                <a:solidFill>
                  <a:srgbClr val="6B7C8E"/>
                </a:solidFill>
                <a:latin typeface="Calibri"/>
                <a:cs typeface="Calibri"/>
              </a:rPr>
              <a:t>and</a:t>
            </a:r>
            <a:r>
              <a:rPr dirty="0" sz="950" spc="-30" i="1">
                <a:solidFill>
                  <a:srgbClr val="6B7C8E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6B7C8E"/>
                </a:solidFill>
                <a:latin typeface="Calibri"/>
                <a:cs typeface="Calibri"/>
              </a:rPr>
              <a:t>well-documented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5029200"/>
            <a:ext cx="9144000" cy="114300"/>
          </a:xfrm>
          <a:custGeom>
            <a:avLst/>
            <a:gdLst/>
            <a:ahLst/>
            <a:cxnLst/>
            <a:rect l="l" t="t" r="r" b="b"/>
            <a:pathLst>
              <a:path w="9144000" h="114300">
                <a:moveTo>
                  <a:pt x="9144000" y="0"/>
                </a:moveTo>
                <a:lnTo>
                  <a:pt x="0" y="0"/>
                </a:lnTo>
                <a:lnTo>
                  <a:pt x="0" y="114300"/>
                </a:lnTo>
                <a:lnTo>
                  <a:pt x="9144000" y="1143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B4F8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9050" y="1209547"/>
            <a:ext cx="3091180" cy="1833880"/>
            <a:chOff x="19050" y="1209547"/>
            <a:chExt cx="3091180" cy="183388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" y="1209547"/>
              <a:ext cx="3090926" cy="183362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04787" y="1319275"/>
              <a:ext cx="2800985" cy="1543050"/>
            </a:xfrm>
            <a:custGeom>
              <a:avLst/>
              <a:gdLst/>
              <a:ahLst/>
              <a:cxnLst/>
              <a:rect l="l" t="t" r="r" b="b"/>
              <a:pathLst>
                <a:path w="2800985" h="1543050">
                  <a:moveTo>
                    <a:pt x="2708465" y="0"/>
                  </a:moveTo>
                  <a:lnTo>
                    <a:pt x="91846" y="0"/>
                  </a:lnTo>
                  <a:lnTo>
                    <a:pt x="56096" y="7203"/>
                  </a:lnTo>
                  <a:lnTo>
                    <a:pt x="26901" y="26860"/>
                  </a:lnTo>
                  <a:lnTo>
                    <a:pt x="7217" y="56042"/>
                  </a:lnTo>
                  <a:lnTo>
                    <a:pt x="0" y="91821"/>
                  </a:lnTo>
                  <a:lnTo>
                    <a:pt x="0" y="1451102"/>
                  </a:lnTo>
                  <a:lnTo>
                    <a:pt x="7217" y="1486900"/>
                  </a:lnTo>
                  <a:lnTo>
                    <a:pt x="26901" y="1516126"/>
                  </a:lnTo>
                  <a:lnTo>
                    <a:pt x="56096" y="1535826"/>
                  </a:lnTo>
                  <a:lnTo>
                    <a:pt x="91846" y="1543050"/>
                  </a:lnTo>
                  <a:lnTo>
                    <a:pt x="2708465" y="1543050"/>
                  </a:lnTo>
                  <a:lnTo>
                    <a:pt x="2744263" y="1535826"/>
                  </a:lnTo>
                  <a:lnTo>
                    <a:pt x="2773489" y="1516126"/>
                  </a:lnTo>
                  <a:lnTo>
                    <a:pt x="2793190" y="1486900"/>
                  </a:lnTo>
                  <a:lnTo>
                    <a:pt x="2800413" y="1451102"/>
                  </a:lnTo>
                  <a:lnTo>
                    <a:pt x="2800413" y="91821"/>
                  </a:lnTo>
                  <a:lnTo>
                    <a:pt x="2793190" y="56042"/>
                  </a:lnTo>
                  <a:lnTo>
                    <a:pt x="2773489" y="26860"/>
                  </a:lnTo>
                  <a:lnTo>
                    <a:pt x="2744263" y="7203"/>
                  </a:lnTo>
                  <a:lnTo>
                    <a:pt x="2708465" y="0"/>
                  </a:lnTo>
                  <a:close/>
                </a:path>
              </a:pathLst>
            </a:custGeom>
            <a:solidFill>
              <a:srgbClr val="EBF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04787" y="1319275"/>
              <a:ext cx="2800985" cy="1543050"/>
            </a:xfrm>
            <a:custGeom>
              <a:avLst/>
              <a:gdLst/>
              <a:ahLst/>
              <a:cxnLst/>
              <a:rect l="l" t="t" r="r" b="b"/>
              <a:pathLst>
                <a:path w="2800985" h="1543050">
                  <a:moveTo>
                    <a:pt x="0" y="91821"/>
                  </a:moveTo>
                  <a:lnTo>
                    <a:pt x="7217" y="56042"/>
                  </a:lnTo>
                  <a:lnTo>
                    <a:pt x="26901" y="26860"/>
                  </a:lnTo>
                  <a:lnTo>
                    <a:pt x="56096" y="7203"/>
                  </a:lnTo>
                  <a:lnTo>
                    <a:pt x="91846" y="0"/>
                  </a:lnTo>
                  <a:lnTo>
                    <a:pt x="2708465" y="0"/>
                  </a:lnTo>
                  <a:lnTo>
                    <a:pt x="2744263" y="7203"/>
                  </a:lnTo>
                  <a:lnTo>
                    <a:pt x="2773489" y="26860"/>
                  </a:lnTo>
                  <a:lnTo>
                    <a:pt x="2793190" y="56042"/>
                  </a:lnTo>
                  <a:lnTo>
                    <a:pt x="2800413" y="91821"/>
                  </a:lnTo>
                  <a:lnTo>
                    <a:pt x="2800413" y="1451102"/>
                  </a:lnTo>
                  <a:lnTo>
                    <a:pt x="2793190" y="1486900"/>
                  </a:lnTo>
                  <a:lnTo>
                    <a:pt x="2773489" y="1516126"/>
                  </a:lnTo>
                  <a:lnTo>
                    <a:pt x="2744263" y="1535826"/>
                  </a:lnTo>
                  <a:lnTo>
                    <a:pt x="2708465" y="1543050"/>
                  </a:lnTo>
                  <a:lnTo>
                    <a:pt x="91846" y="1543050"/>
                  </a:lnTo>
                  <a:lnTo>
                    <a:pt x="56096" y="1535826"/>
                  </a:lnTo>
                  <a:lnTo>
                    <a:pt x="26901" y="1516126"/>
                  </a:lnTo>
                  <a:lnTo>
                    <a:pt x="7217" y="1486900"/>
                  </a:lnTo>
                  <a:lnTo>
                    <a:pt x="0" y="1451102"/>
                  </a:lnTo>
                  <a:lnTo>
                    <a:pt x="0" y="91821"/>
                  </a:lnTo>
                  <a:close/>
                </a:path>
              </a:pathLst>
            </a:custGeom>
            <a:ln w="8890">
              <a:solidFill>
                <a:srgbClr val="1B4F8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00025" y="1314449"/>
              <a:ext cx="2800350" cy="333375"/>
            </a:xfrm>
            <a:custGeom>
              <a:avLst/>
              <a:gdLst/>
              <a:ahLst/>
              <a:cxnLst/>
              <a:rect l="l" t="t" r="r" b="b"/>
              <a:pathLst>
                <a:path w="2800350" h="333375">
                  <a:moveTo>
                    <a:pt x="2800350" y="92583"/>
                  </a:moveTo>
                  <a:lnTo>
                    <a:pt x="2793073" y="56527"/>
                  </a:lnTo>
                  <a:lnTo>
                    <a:pt x="2773248" y="27101"/>
                  </a:lnTo>
                  <a:lnTo>
                    <a:pt x="2743822" y="7277"/>
                  </a:lnTo>
                  <a:lnTo>
                    <a:pt x="2707767" y="0"/>
                  </a:lnTo>
                  <a:lnTo>
                    <a:pt x="92608" y="0"/>
                  </a:lnTo>
                  <a:lnTo>
                    <a:pt x="56553" y="7277"/>
                  </a:lnTo>
                  <a:lnTo>
                    <a:pt x="27114" y="27101"/>
                  </a:lnTo>
                  <a:lnTo>
                    <a:pt x="7277" y="56527"/>
                  </a:lnTo>
                  <a:lnTo>
                    <a:pt x="0" y="92583"/>
                  </a:lnTo>
                  <a:lnTo>
                    <a:pt x="0" y="171450"/>
                  </a:lnTo>
                  <a:lnTo>
                    <a:pt x="0" y="240792"/>
                  </a:lnTo>
                  <a:lnTo>
                    <a:pt x="0" y="333375"/>
                  </a:lnTo>
                  <a:lnTo>
                    <a:pt x="92608" y="333375"/>
                  </a:lnTo>
                  <a:lnTo>
                    <a:pt x="2707767" y="333375"/>
                  </a:lnTo>
                  <a:lnTo>
                    <a:pt x="2800350" y="333375"/>
                  </a:lnTo>
                  <a:lnTo>
                    <a:pt x="2800350" y="240792"/>
                  </a:lnTo>
                  <a:lnTo>
                    <a:pt x="2800350" y="171450"/>
                  </a:lnTo>
                  <a:lnTo>
                    <a:pt x="2800350" y="92583"/>
                  </a:lnTo>
                  <a:close/>
                </a:path>
              </a:pathLst>
            </a:custGeom>
            <a:solidFill>
              <a:srgbClr val="1B4F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225" y="1352549"/>
              <a:ext cx="257175" cy="257175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573087" y="1385823"/>
            <a:ext cx="79184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r>
              <a:rPr dirty="0" sz="950" spc="1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26072" y="1803082"/>
            <a:ext cx="76962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1610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Python</a:t>
            </a:r>
            <a:r>
              <a:rPr dirty="0" sz="1050" spc="-5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3.x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26072" y="2160206"/>
            <a:ext cx="116268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1610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Jupyter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Notebook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26072" y="2517457"/>
            <a:ext cx="85344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1610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VS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Code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IDE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962275" y="1209547"/>
            <a:ext cx="3091180" cy="1833880"/>
            <a:chOff x="2962275" y="1209547"/>
            <a:chExt cx="3091180" cy="1833880"/>
          </a:xfrm>
        </p:grpSpPr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2275" y="1209547"/>
              <a:ext cx="3090926" cy="183362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148076" y="1319275"/>
              <a:ext cx="2800350" cy="1543050"/>
            </a:xfrm>
            <a:custGeom>
              <a:avLst/>
              <a:gdLst/>
              <a:ahLst/>
              <a:cxnLst/>
              <a:rect l="l" t="t" r="r" b="b"/>
              <a:pathLst>
                <a:path w="2800350" h="1543050">
                  <a:moveTo>
                    <a:pt x="2708402" y="0"/>
                  </a:moveTo>
                  <a:lnTo>
                    <a:pt x="91821" y="0"/>
                  </a:lnTo>
                  <a:lnTo>
                    <a:pt x="56042" y="7203"/>
                  </a:lnTo>
                  <a:lnTo>
                    <a:pt x="26860" y="26860"/>
                  </a:lnTo>
                  <a:lnTo>
                    <a:pt x="7203" y="56042"/>
                  </a:lnTo>
                  <a:lnTo>
                    <a:pt x="0" y="91821"/>
                  </a:lnTo>
                  <a:lnTo>
                    <a:pt x="0" y="1451102"/>
                  </a:lnTo>
                  <a:lnTo>
                    <a:pt x="7203" y="1486900"/>
                  </a:lnTo>
                  <a:lnTo>
                    <a:pt x="26860" y="1516126"/>
                  </a:lnTo>
                  <a:lnTo>
                    <a:pt x="56042" y="1535826"/>
                  </a:lnTo>
                  <a:lnTo>
                    <a:pt x="91821" y="1543050"/>
                  </a:lnTo>
                  <a:lnTo>
                    <a:pt x="2708402" y="1543050"/>
                  </a:lnTo>
                  <a:lnTo>
                    <a:pt x="2744200" y="1535826"/>
                  </a:lnTo>
                  <a:lnTo>
                    <a:pt x="2773426" y="1516126"/>
                  </a:lnTo>
                  <a:lnTo>
                    <a:pt x="2793126" y="1486900"/>
                  </a:lnTo>
                  <a:lnTo>
                    <a:pt x="2800350" y="1451102"/>
                  </a:lnTo>
                  <a:lnTo>
                    <a:pt x="2800350" y="91821"/>
                  </a:lnTo>
                  <a:lnTo>
                    <a:pt x="2793126" y="56042"/>
                  </a:lnTo>
                  <a:lnTo>
                    <a:pt x="2773426" y="26860"/>
                  </a:lnTo>
                  <a:lnTo>
                    <a:pt x="2744200" y="7203"/>
                  </a:lnTo>
                  <a:lnTo>
                    <a:pt x="2708402" y="0"/>
                  </a:lnTo>
                  <a:close/>
                </a:path>
              </a:pathLst>
            </a:custGeom>
            <a:solidFill>
              <a:srgbClr val="F5EE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148076" y="1319275"/>
              <a:ext cx="2800350" cy="1543050"/>
            </a:xfrm>
            <a:custGeom>
              <a:avLst/>
              <a:gdLst/>
              <a:ahLst/>
              <a:cxnLst/>
              <a:rect l="l" t="t" r="r" b="b"/>
              <a:pathLst>
                <a:path w="2800350" h="1543050">
                  <a:moveTo>
                    <a:pt x="0" y="91821"/>
                  </a:moveTo>
                  <a:lnTo>
                    <a:pt x="7203" y="56042"/>
                  </a:lnTo>
                  <a:lnTo>
                    <a:pt x="26860" y="26860"/>
                  </a:lnTo>
                  <a:lnTo>
                    <a:pt x="56042" y="7203"/>
                  </a:lnTo>
                  <a:lnTo>
                    <a:pt x="91821" y="0"/>
                  </a:lnTo>
                  <a:lnTo>
                    <a:pt x="2708402" y="0"/>
                  </a:lnTo>
                  <a:lnTo>
                    <a:pt x="2744200" y="7203"/>
                  </a:lnTo>
                  <a:lnTo>
                    <a:pt x="2773426" y="26860"/>
                  </a:lnTo>
                  <a:lnTo>
                    <a:pt x="2793126" y="56042"/>
                  </a:lnTo>
                  <a:lnTo>
                    <a:pt x="2800350" y="91821"/>
                  </a:lnTo>
                  <a:lnTo>
                    <a:pt x="2800350" y="1451102"/>
                  </a:lnTo>
                  <a:lnTo>
                    <a:pt x="2793126" y="1486900"/>
                  </a:lnTo>
                  <a:lnTo>
                    <a:pt x="2773426" y="1516126"/>
                  </a:lnTo>
                  <a:lnTo>
                    <a:pt x="2744200" y="1535826"/>
                  </a:lnTo>
                  <a:lnTo>
                    <a:pt x="2708402" y="1543050"/>
                  </a:lnTo>
                  <a:lnTo>
                    <a:pt x="91821" y="1543050"/>
                  </a:lnTo>
                  <a:lnTo>
                    <a:pt x="56042" y="1535826"/>
                  </a:lnTo>
                  <a:lnTo>
                    <a:pt x="26860" y="1516126"/>
                  </a:lnTo>
                  <a:lnTo>
                    <a:pt x="7203" y="1486900"/>
                  </a:lnTo>
                  <a:lnTo>
                    <a:pt x="0" y="1451102"/>
                  </a:lnTo>
                  <a:lnTo>
                    <a:pt x="0" y="91821"/>
                  </a:lnTo>
                  <a:close/>
                </a:path>
              </a:pathLst>
            </a:custGeom>
            <a:ln w="8890">
              <a:solidFill>
                <a:srgbClr val="6C3A8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143250" y="1314449"/>
              <a:ext cx="2800350" cy="333375"/>
            </a:xfrm>
            <a:custGeom>
              <a:avLst/>
              <a:gdLst/>
              <a:ahLst/>
              <a:cxnLst/>
              <a:rect l="l" t="t" r="r" b="b"/>
              <a:pathLst>
                <a:path w="2800350" h="333375">
                  <a:moveTo>
                    <a:pt x="2800350" y="92583"/>
                  </a:moveTo>
                  <a:lnTo>
                    <a:pt x="2793073" y="56527"/>
                  </a:lnTo>
                  <a:lnTo>
                    <a:pt x="2773248" y="27101"/>
                  </a:lnTo>
                  <a:lnTo>
                    <a:pt x="2743822" y="7277"/>
                  </a:lnTo>
                  <a:lnTo>
                    <a:pt x="2707767" y="0"/>
                  </a:lnTo>
                  <a:lnTo>
                    <a:pt x="92583" y="0"/>
                  </a:lnTo>
                  <a:lnTo>
                    <a:pt x="56515" y="7277"/>
                  </a:lnTo>
                  <a:lnTo>
                    <a:pt x="27089" y="27101"/>
                  </a:lnTo>
                  <a:lnTo>
                    <a:pt x="7264" y="56527"/>
                  </a:lnTo>
                  <a:lnTo>
                    <a:pt x="0" y="92583"/>
                  </a:lnTo>
                  <a:lnTo>
                    <a:pt x="0" y="171450"/>
                  </a:lnTo>
                  <a:lnTo>
                    <a:pt x="0" y="240792"/>
                  </a:lnTo>
                  <a:lnTo>
                    <a:pt x="0" y="333375"/>
                  </a:lnTo>
                  <a:lnTo>
                    <a:pt x="92583" y="333375"/>
                  </a:lnTo>
                  <a:lnTo>
                    <a:pt x="2707767" y="333375"/>
                  </a:lnTo>
                  <a:lnTo>
                    <a:pt x="2800350" y="333375"/>
                  </a:lnTo>
                  <a:lnTo>
                    <a:pt x="2800350" y="240792"/>
                  </a:lnTo>
                  <a:lnTo>
                    <a:pt x="2800350" y="171450"/>
                  </a:lnTo>
                  <a:lnTo>
                    <a:pt x="2800350" y="92583"/>
                  </a:lnTo>
                  <a:close/>
                </a:path>
              </a:pathLst>
            </a:custGeom>
            <a:solidFill>
              <a:srgbClr val="6C3A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9450" y="1352549"/>
              <a:ext cx="257175" cy="257175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3520440" y="1385823"/>
            <a:ext cx="66675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dirty="0" sz="950" spc="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Libraries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273425" y="1803082"/>
            <a:ext cx="79311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1610" algn="l"/>
              </a:tabLst>
            </a:pP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scikit-learn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273425" y="2160206"/>
            <a:ext cx="123444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1610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TensorFlow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/</a:t>
            </a:r>
            <a:r>
              <a:rPr dirty="0" sz="1050" spc="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Keras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273425" y="2517457"/>
            <a:ext cx="109093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1610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NumPy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/</a:t>
            </a:r>
            <a:r>
              <a:rPr dirty="0" sz="1050" spc="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Pandas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905500" y="1209547"/>
            <a:ext cx="3091180" cy="1833880"/>
            <a:chOff x="5905500" y="1209547"/>
            <a:chExt cx="3091180" cy="1833880"/>
          </a:xfrm>
        </p:grpSpPr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5500" y="1209547"/>
              <a:ext cx="3090926" cy="1833626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6091301" y="1319275"/>
              <a:ext cx="2800350" cy="1543050"/>
            </a:xfrm>
            <a:custGeom>
              <a:avLst/>
              <a:gdLst/>
              <a:ahLst/>
              <a:cxnLst/>
              <a:rect l="l" t="t" r="r" b="b"/>
              <a:pathLst>
                <a:path w="2800350" h="1543050">
                  <a:moveTo>
                    <a:pt x="2708402" y="0"/>
                  </a:moveTo>
                  <a:lnTo>
                    <a:pt x="91821" y="0"/>
                  </a:lnTo>
                  <a:lnTo>
                    <a:pt x="56042" y="7203"/>
                  </a:lnTo>
                  <a:lnTo>
                    <a:pt x="26860" y="26860"/>
                  </a:lnTo>
                  <a:lnTo>
                    <a:pt x="7203" y="56042"/>
                  </a:lnTo>
                  <a:lnTo>
                    <a:pt x="0" y="91821"/>
                  </a:lnTo>
                  <a:lnTo>
                    <a:pt x="0" y="1451102"/>
                  </a:lnTo>
                  <a:lnTo>
                    <a:pt x="7203" y="1486900"/>
                  </a:lnTo>
                  <a:lnTo>
                    <a:pt x="26860" y="1516126"/>
                  </a:lnTo>
                  <a:lnTo>
                    <a:pt x="56042" y="1535826"/>
                  </a:lnTo>
                  <a:lnTo>
                    <a:pt x="91821" y="1543050"/>
                  </a:lnTo>
                  <a:lnTo>
                    <a:pt x="2708402" y="1543050"/>
                  </a:lnTo>
                  <a:lnTo>
                    <a:pt x="2744200" y="1535826"/>
                  </a:lnTo>
                  <a:lnTo>
                    <a:pt x="2773426" y="1516126"/>
                  </a:lnTo>
                  <a:lnTo>
                    <a:pt x="2793126" y="1486900"/>
                  </a:lnTo>
                  <a:lnTo>
                    <a:pt x="2800350" y="1451102"/>
                  </a:lnTo>
                  <a:lnTo>
                    <a:pt x="2800350" y="91821"/>
                  </a:lnTo>
                  <a:lnTo>
                    <a:pt x="2793126" y="56042"/>
                  </a:lnTo>
                  <a:lnTo>
                    <a:pt x="2773426" y="26860"/>
                  </a:lnTo>
                  <a:lnTo>
                    <a:pt x="2744200" y="7203"/>
                  </a:lnTo>
                  <a:lnTo>
                    <a:pt x="2708402" y="0"/>
                  </a:lnTo>
                  <a:close/>
                </a:path>
              </a:pathLst>
            </a:custGeom>
            <a:solidFill>
              <a:srgbClr val="E6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091301" y="1319275"/>
              <a:ext cx="2800350" cy="1543050"/>
            </a:xfrm>
            <a:custGeom>
              <a:avLst/>
              <a:gdLst/>
              <a:ahLst/>
              <a:cxnLst/>
              <a:rect l="l" t="t" r="r" b="b"/>
              <a:pathLst>
                <a:path w="2800350" h="1543050">
                  <a:moveTo>
                    <a:pt x="0" y="91821"/>
                  </a:moveTo>
                  <a:lnTo>
                    <a:pt x="7203" y="56042"/>
                  </a:lnTo>
                  <a:lnTo>
                    <a:pt x="26860" y="26860"/>
                  </a:lnTo>
                  <a:lnTo>
                    <a:pt x="56042" y="7203"/>
                  </a:lnTo>
                  <a:lnTo>
                    <a:pt x="91821" y="0"/>
                  </a:lnTo>
                  <a:lnTo>
                    <a:pt x="2708402" y="0"/>
                  </a:lnTo>
                  <a:lnTo>
                    <a:pt x="2744200" y="7203"/>
                  </a:lnTo>
                  <a:lnTo>
                    <a:pt x="2773426" y="26860"/>
                  </a:lnTo>
                  <a:lnTo>
                    <a:pt x="2793126" y="56042"/>
                  </a:lnTo>
                  <a:lnTo>
                    <a:pt x="2800350" y="91821"/>
                  </a:lnTo>
                  <a:lnTo>
                    <a:pt x="2800350" y="1451102"/>
                  </a:lnTo>
                  <a:lnTo>
                    <a:pt x="2793126" y="1486900"/>
                  </a:lnTo>
                  <a:lnTo>
                    <a:pt x="2773426" y="1516126"/>
                  </a:lnTo>
                  <a:lnTo>
                    <a:pt x="2744200" y="1535826"/>
                  </a:lnTo>
                  <a:lnTo>
                    <a:pt x="2708402" y="1543050"/>
                  </a:lnTo>
                  <a:lnTo>
                    <a:pt x="91821" y="1543050"/>
                  </a:lnTo>
                  <a:lnTo>
                    <a:pt x="56042" y="1535826"/>
                  </a:lnTo>
                  <a:lnTo>
                    <a:pt x="26860" y="1516126"/>
                  </a:lnTo>
                  <a:lnTo>
                    <a:pt x="7203" y="1486900"/>
                  </a:lnTo>
                  <a:lnTo>
                    <a:pt x="0" y="1451102"/>
                  </a:lnTo>
                  <a:lnTo>
                    <a:pt x="0" y="91821"/>
                  </a:lnTo>
                  <a:close/>
                </a:path>
              </a:pathLst>
            </a:custGeom>
            <a:ln w="8890">
              <a:solidFill>
                <a:srgbClr val="00798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086475" y="1314449"/>
              <a:ext cx="2800350" cy="333375"/>
            </a:xfrm>
            <a:custGeom>
              <a:avLst/>
              <a:gdLst/>
              <a:ahLst/>
              <a:cxnLst/>
              <a:rect l="l" t="t" r="r" b="b"/>
              <a:pathLst>
                <a:path w="2800350" h="333375">
                  <a:moveTo>
                    <a:pt x="2800350" y="92583"/>
                  </a:moveTo>
                  <a:lnTo>
                    <a:pt x="2793073" y="56527"/>
                  </a:lnTo>
                  <a:lnTo>
                    <a:pt x="2773248" y="27101"/>
                  </a:lnTo>
                  <a:lnTo>
                    <a:pt x="2743822" y="7277"/>
                  </a:lnTo>
                  <a:lnTo>
                    <a:pt x="2707767" y="0"/>
                  </a:lnTo>
                  <a:lnTo>
                    <a:pt x="92583" y="0"/>
                  </a:lnTo>
                  <a:lnTo>
                    <a:pt x="56515" y="7277"/>
                  </a:lnTo>
                  <a:lnTo>
                    <a:pt x="27089" y="27101"/>
                  </a:lnTo>
                  <a:lnTo>
                    <a:pt x="7264" y="56527"/>
                  </a:lnTo>
                  <a:lnTo>
                    <a:pt x="0" y="92583"/>
                  </a:lnTo>
                  <a:lnTo>
                    <a:pt x="0" y="171450"/>
                  </a:lnTo>
                  <a:lnTo>
                    <a:pt x="0" y="240792"/>
                  </a:lnTo>
                  <a:lnTo>
                    <a:pt x="0" y="333375"/>
                  </a:lnTo>
                  <a:lnTo>
                    <a:pt x="92583" y="333375"/>
                  </a:lnTo>
                  <a:lnTo>
                    <a:pt x="2707767" y="333375"/>
                  </a:lnTo>
                  <a:lnTo>
                    <a:pt x="2800350" y="333375"/>
                  </a:lnTo>
                  <a:lnTo>
                    <a:pt x="2800350" y="240792"/>
                  </a:lnTo>
                  <a:lnTo>
                    <a:pt x="2800350" y="171450"/>
                  </a:lnTo>
                  <a:lnTo>
                    <a:pt x="2800350" y="92583"/>
                  </a:lnTo>
                  <a:close/>
                </a:path>
              </a:pathLst>
            </a:custGeom>
            <a:solidFill>
              <a:srgbClr val="0079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2675" y="1352549"/>
              <a:ext cx="257175" cy="257175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6468109" y="1385823"/>
            <a:ext cx="93916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Quantum</a:t>
            </a:r>
            <a:r>
              <a:rPr dirty="0" sz="950" spc="1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(QPSO)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220714" y="1803082"/>
            <a:ext cx="86677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2245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DEAP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library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220714" y="2160206"/>
            <a:ext cx="69405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2245" algn="l"/>
              </a:tabLst>
            </a:pP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pyswarm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6220714" y="2517457"/>
            <a:ext cx="124968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2245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Custom</a:t>
            </a:r>
            <a:r>
              <a:rPr dirty="0" sz="1050" spc="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QPSO</a:t>
            </a:r>
            <a:r>
              <a:rPr dirty="0" sz="1050" spc="-5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impl.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19050" y="2905061"/>
            <a:ext cx="3091180" cy="1824355"/>
            <a:chOff x="19050" y="2905061"/>
            <a:chExt cx="3091180" cy="1824355"/>
          </a:xfrm>
        </p:grpSpPr>
        <p:pic>
          <p:nvPicPr>
            <p:cNvPr id="38" name="object 3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50" y="2905061"/>
              <a:ext cx="3090926" cy="1824101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204787" y="3014725"/>
              <a:ext cx="2800985" cy="1533525"/>
            </a:xfrm>
            <a:custGeom>
              <a:avLst/>
              <a:gdLst/>
              <a:ahLst/>
              <a:cxnLst/>
              <a:rect l="l" t="t" r="r" b="b"/>
              <a:pathLst>
                <a:path w="2800985" h="1533525">
                  <a:moveTo>
                    <a:pt x="2709100" y="0"/>
                  </a:moveTo>
                  <a:lnTo>
                    <a:pt x="91274" y="0"/>
                  </a:lnTo>
                  <a:lnTo>
                    <a:pt x="55748" y="7157"/>
                  </a:lnTo>
                  <a:lnTo>
                    <a:pt x="26735" y="26685"/>
                  </a:lnTo>
                  <a:lnTo>
                    <a:pt x="7173" y="55667"/>
                  </a:lnTo>
                  <a:lnTo>
                    <a:pt x="0" y="91186"/>
                  </a:lnTo>
                  <a:lnTo>
                    <a:pt x="0" y="1442186"/>
                  </a:lnTo>
                  <a:lnTo>
                    <a:pt x="7173" y="1477713"/>
                  </a:lnTo>
                  <a:lnTo>
                    <a:pt x="26735" y="1506726"/>
                  </a:lnTo>
                  <a:lnTo>
                    <a:pt x="55748" y="1526288"/>
                  </a:lnTo>
                  <a:lnTo>
                    <a:pt x="91274" y="1533461"/>
                  </a:lnTo>
                  <a:lnTo>
                    <a:pt x="2709100" y="1533461"/>
                  </a:lnTo>
                  <a:lnTo>
                    <a:pt x="2744638" y="1526288"/>
                  </a:lnTo>
                  <a:lnTo>
                    <a:pt x="2773664" y="1506726"/>
                  </a:lnTo>
                  <a:lnTo>
                    <a:pt x="2793236" y="1477713"/>
                  </a:lnTo>
                  <a:lnTo>
                    <a:pt x="2800413" y="1442186"/>
                  </a:lnTo>
                  <a:lnTo>
                    <a:pt x="2800413" y="91186"/>
                  </a:lnTo>
                  <a:lnTo>
                    <a:pt x="2793236" y="55667"/>
                  </a:lnTo>
                  <a:lnTo>
                    <a:pt x="2773664" y="26685"/>
                  </a:lnTo>
                  <a:lnTo>
                    <a:pt x="2744638" y="7157"/>
                  </a:lnTo>
                  <a:lnTo>
                    <a:pt x="2709100" y="0"/>
                  </a:lnTo>
                  <a:close/>
                </a:path>
              </a:pathLst>
            </a:custGeom>
            <a:solidFill>
              <a:srgbClr val="FFEF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04787" y="3014725"/>
              <a:ext cx="2800985" cy="1533525"/>
            </a:xfrm>
            <a:custGeom>
              <a:avLst/>
              <a:gdLst/>
              <a:ahLst/>
              <a:cxnLst/>
              <a:rect l="l" t="t" r="r" b="b"/>
              <a:pathLst>
                <a:path w="2800985" h="1533525">
                  <a:moveTo>
                    <a:pt x="0" y="91186"/>
                  </a:moveTo>
                  <a:lnTo>
                    <a:pt x="7173" y="55667"/>
                  </a:lnTo>
                  <a:lnTo>
                    <a:pt x="26735" y="26685"/>
                  </a:lnTo>
                  <a:lnTo>
                    <a:pt x="55748" y="7157"/>
                  </a:lnTo>
                  <a:lnTo>
                    <a:pt x="91274" y="0"/>
                  </a:lnTo>
                  <a:lnTo>
                    <a:pt x="2709100" y="0"/>
                  </a:lnTo>
                  <a:lnTo>
                    <a:pt x="2744638" y="7157"/>
                  </a:lnTo>
                  <a:lnTo>
                    <a:pt x="2773664" y="26685"/>
                  </a:lnTo>
                  <a:lnTo>
                    <a:pt x="2793236" y="55667"/>
                  </a:lnTo>
                  <a:lnTo>
                    <a:pt x="2800413" y="91186"/>
                  </a:lnTo>
                  <a:lnTo>
                    <a:pt x="2800413" y="1442186"/>
                  </a:lnTo>
                  <a:lnTo>
                    <a:pt x="2793236" y="1477713"/>
                  </a:lnTo>
                  <a:lnTo>
                    <a:pt x="2773664" y="1506726"/>
                  </a:lnTo>
                  <a:lnTo>
                    <a:pt x="2744638" y="1526288"/>
                  </a:lnTo>
                  <a:lnTo>
                    <a:pt x="2709100" y="1533461"/>
                  </a:lnTo>
                  <a:lnTo>
                    <a:pt x="91274" y="1533461"/>
                  </a:lnTo>
                  <a:lnTo>
                    <a:pt x="55748" y="1526288"/>
                  </a:lnTo>
                  <a:lnTo>
                    <a:pt x="26735" y="1506726"/>
                  </a:lnTo>
                  <a:lnTo>
                    <a:pt x="7173" y="1477713"/>
                  </a:lnTo>
                  <a:lnTo>
                    <a:pt x="0" y="1442186"/>
                  </a:lnTo>
                  <a:lnTo>
                    <a:pt x="0" y="91186"/>
                  </a:lnTo>
                  <a:close/>
                </a:path>
              </a:pathLst>
            </a:custGeom>
            <a:ln w="8889">
              <a:solidFill>
                <a:srgbClr val="DF5A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00025" y="3009899"/>
              <a:ext cx="2800350" cy="323850"/>
            </a:xfrm>
            <a:custGeom>
              <a:avLst/>
              <a:gdLst/>
              <a:ahLst/>
              <a:cxnLst/>
              <a:rect l="l" t="t" r="r" b="b"/>
              <a:pathLst>
                <a:path w="2800350" h="323850">
                  <a:moveTo>
                    <a:pt x="2800350" y="89916"/>
                  </a:moveTo>
                  <a:lnTo>
                    <a:pt x="2793276" y="54927"/>
                  </a:lnTo>
                  <a:lnTo>
                    <a:pt x="2774010" y="26339"/>
                  </a:lnTo>
                  <a:lnTo>
                    <a:pt x="2745422" y="7073"/>
                  </a:lnTo>
                  <a:lnTo>
                    <a:pt x="2710434" y="0"/>
                  </a:lnTo>
                  <a:lnTo>
                    <a:pt x="89954" y="0"/>
                  </a:lnTo>
                  <a:lnTo>
                    <a:pt x="54927" y="7073"/>
                  </a:lnTo>
                  <a:lnTo>
                    <a:pt x="26339" y="26339"/>
                  </a:lnTo>
                  <a:lnTo>
                    <a:pt x="7061" y="54927"/>
                  </a:lnTo>
                  <a:lnTo>
                    <a:pt x="0" y="89916"/>
                  </a:lnTo>
                  <a:lnTo>
                    <a:pt x="0" y="161925"/>
                  </a:lnTo>
                  <a:lnTo>
                    <a:pt x="0" y="233934"/>
                  </a:lnTo>
                  <a:lnTo>
                    <a:pt x="0" y="323850"/>
                  </a:lnTo>
                  <a:lnTo>
                    <a:pt x="89954" y="323850"/>
                  </a:lnTo>
                  <a:lnTo>
                    <a:pt x="2710434" y="323850"/>
                  </a:lnTo>
                  <a:lnTo>
                    <a:pt x="2800350" y="323850"/>
                  </a:lnTo>
                  <a:lnTo>
                    <a:pt x="2800350" y="233934"/>
                  </a:lnTo>
                  <a:lnTo>
                    <a:pt x="2800350" y="161925"/>
                  </a:lnTo>
                  <a:lnTo>
                    <a:pt x="2800350" y="89916"/>
                  </a:lnTo>
                  <a:close/>
                </a:path>
              </a:pathLst>
            </a:custGeom>
            <a:solidFill>
              <a:srgbClr val="DF5A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6225" y="3047999"/>
              <a:ext cx="257175" cy="257175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573087" y="3080067"/>
            <a:ext cx="7016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Visualization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326072" y="3498215"/>
            <a:ext cx="7626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2245" algn="l"/>
              </a:tabLst>
            </a:pP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Matplotlib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326072" y="3855084"/>
            <a:ext cx="64833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1610" algn="l"/>
              </a:tabLst>
            </a:pP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Seaborn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326072" y="4212272"/>
            <a:ext cx="505459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1610" algn="l"/>
              </a:tabLst>
            </a:pP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Plotly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2962275" y="2905061"/>
            <a:ext cx="3091180" cy="1824355"/>
            <a:chOff x="2962275" y="2905061"/>
            <a:chExt cx="3091180" cy="1824355"/>
          </a:xfrm>
        </p:grpSpPr>
        <p:pic>
          <p:nvPicPr>
            <p:cNvPr id="48" name="object 4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62275" y="2905061"/>
              <a:ext cx="3090926" cy="1824101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3148076" y="3014725"/>
              <a:ext cx="2800350" cy="1533525"/>
            </a:xfrm>
            <a:custGeom>
              <a:avLst/>
              <a:gdLst/>
              <a:ahLst/>
              <a:cxnLst/>
              <a:rect l="l" t="t" r="r" b="b"/>
              <a:pathLst>
                <a:path w="2800350" h="1533525">
                  <a:moveTo>
                    <a:pt x="2709037" y="0"/>
                  </a:moveTo>
                  <a:lnTo>
                    <a:pt x="91186" y="0"/>
                  </a:lnTo>
                  <a:lnTo>
                    <a:pt x="55667" y="7157"/>
                  </a:lnTo>
                  <a:lnTo>
                    <a:pt x="26685" y="26685"/>
                  </a:lnTo>
                  <a:lnTo>
                    <a:pt x="7157" y="55667"/>
                  </a:lnTo>
                  <a:lnTo>
                    <a:pt x="0" y="91186"/>
                  </a:lnTo>
                  <a:lnTo>
                    <a:pt x="0" y="1442186"/>
                  </a:lnTo>
                  <a:lnTo>
                    <a:pt x="7157" y="1477713"/>
                  </a:lnTo>
                  <a:lnTo>
                    <a:pt x="26685" y="1506726"/>
                  </a:lnTo>
                  <a:lnTo>
                    <a:pt x="55667" y="1526288"/>
                  </a:lnTo>
                  <a:lnTo>
                    <a:pt x="91186" y="1533461"/>
                  </a:lnTo>
                  <a:lnTo>
                    <a:pt x="2709037" y="1533461"/>
                  </a:lnTo>
                  <a:lnTo>
                    <a:pt x="2744575" y="1526288"/>
                  </a:lnTo>
                  <a:lnTo>
                    <a:pt x="2773600" y="1506726"/>
                  </a:lnTo>
                  <a:lnTo>
                    <a:pt x="2793172" y="1477713"/>
                  </a:lnTo>
                  <a:lnTo>
                    <a:pt x="2800350" y="1442186"/>
                  </a:lnTo>
                  <a:lnTo>
                    <a:pt x="2800350" y="91186"/>
                  </a:lnTo>
                  <a:lnTo>
                    <a:pt x="2793172" y="55667"/>
                  </a:lnTo>
                  <a:lnTo>
                    <a:pt x="2773600" y="26685"/>
                  </a:lnTo>
                  <a:lnTo>
                    <a:pt x="2744575" y="7157"/>
                  </a:lnTo>
                  <a:lnTo>
                    <a:pt x="2709037" y="0"/>
                  </a:lnTo>
                  <a:close/>
                </a:path>
              </a:pathLst>
            </a:custGeom>
            <a:solidFill>
              <a:srgbClr val="FFF3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148076" y="3014725"/>
              <a:ext cx="2800350" cy="1533525"/>
            </a:xfrm>
            <a:custGeom>
              <a:avLst/>
              <a:gdLst/>
              <a:ahLst/>
              <a:cxnLst/>
              <a:rect l="l" t="t" r="r" b="b"/>
              <a:pathLst>
                <a:path w="2800350" h="1533525">
                  <a:moveTo>
                    <a:pt x="0" y="91186"/>
                  </a:moveTo>
                  <a:lnTo>
                    <a:pt x="7157" y="55667"/>
                  </a:lnTo>
                  <a:lnTo>
                    <a:pt x="26685" y="26685"/>
                  </a:lnTo>
                  <a:lnTo>
                    <a:pt x="55667" y="7157"/>
                  </a:lnTo>
                  <a:lnTo>
                    <a:pt x="91186" y="0"/>
                  </a:lnTo>
                  <a:lnTo>
                    <a:pt x="2709037" y="0"/>
                  </a:lnTo>
                  <a:lnTo>
                    <a:pt x="2744575" y="7157"/>
                  </a:lnTo>
                  <a:lnTo>
                    <a:pt x="2773600" y="26685"/>
                  </a:lnTo>
                  <a:lnTo>
                    <a:pt x="2793172" y="55667"/>
                  </a:lnTo>
                  <a:lnTo>
                    <a:pt x="2800350" y="91186"/>
                  </a:lnTo>
                  <a:lnTo>
                    <a:pt x="2800350" y="1442186"/>
                  </a:lnTo>
                  <a:lnTo>
                    <a:pt x="2793172" y="1477713"/>
                  </a:lnTo>
                  <a:lnTo>
                    <a:pt x="2773600" y="1506726"/>
                  </a:lnTo>
                  <a:lnTo>
                    <a:pt x="2744575" y="1526288"/>
                  </a:lnTo>
                  <a:lnTo>
                    <a:pt x="2709037" y="1533461"/>
                  </a:lnTo>
                  <a:lnTo>
                    <a:pt x="91186" y="1533461"/>
                  </a:lnTo>
                  <a:lnTo>
                    <a:pt x="55667" y="1526288"/>
                  </a:lnTo>
                  <a:lnTo>
                    <a:pt x="26685" y="1506726"/>
                  </a:lnTo>
                  <a:lnTo>
                    <a:pt x="7157" y="1477713"/>
                  </a:lnTo>
                  <a:lnTo>
                    <a:pt x="0" y="1442186"/>
                  </a:lnTo>
                  <a:lnTo>
                    <a:pt x="0" y="91186"/>
                  </a:lnTo>
                  <a:close/>
                </a:path>
              </a:pathLst>
            </a:custGeom>
            <a:ln w="8890">
              <a:solidFill>
                <a:srgbClr val="7A3E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143250" y="3009899"/>
              <a:ext cx="2800350" cy="323850"/>
            </a:xfrm>
            <a:custGeom>
              <a:avLst/>
              <a:gdLst/>
              <a:ahLst/>
              <a:cxnLst/>
              <a:rect l="l" t="t" r="r" b="b"/>
              <a:pathLst>
                <a:path w="2800350" h="323850">
                  <a:moveTo>
                    <a:pt x="2800350" y="89916"/>
                  </a:moveTo>
                  <a:lnTo>
                    <a:pt x="2793276" y="54927"/>
                  </a:lnTo>
                  <a:lnTo>
                    <a:pt x="2774010" y="26339"/>
                  </a:lnTo>
                  <a:lnTo>
                    <a:pt x="2745422" y="7073"/>
                  </a:lnTo>
                  <a:lnTo>
                    <a:pt x="2710434" y="0"/>
                  </a:lnTo>
                  <a:lnTo>
                    <a:pt x="89916" y="0"/>
                  </a:lnTo>
                  <a:lnTo>
                    <a:pt x="54914" y="7073"/>
                  </a:lnTo>
                  <a:lnTo>
                    <a:pt x="26327" y="26339"/>
                  </a:lnTo>
                  <a:lnTo>
                    <a:pt x="7061" y="54927"/>
                  </a:lnTo>
                  <a:lnTo>
                    <a:pt x="0" y="89916"/>
                  </a:lnTo>
                  <a:lnTo>
                    <a:pt x="0" y="161925"/>
                  </a:lnTo>
                  <a:lnTo>
                    <a:pt x="0" y="233934"/>
                  </a:lnTo>
                  <a:lnTo>
                    <a:pt x="0" y="323850"/>
                  </a:lnTo>
                  <a:lnTo>
                    <a:pt x="89916" y="323850"/>
                  </a:lnTo>
                  <a:lnTo>
                    <a:pt x="2710434" y="323850"/>
                  </a:lnTo>
                  <a:lnTo>
                    <a:pt x="2800350" y="323850"/>
                  </a:lnTo>
                  <a:lnTo>
                    <a:pt x="2800350" y="233934"/>
                  </a:lnTo>
                  <a:lnTo>
                    <a:pt x="2800350" y="161925"/>
                  </a:lnTo>
                  <a:lnTo>
                    <a:pt x="2800350" y="89916"/>
                  </a:lnTo>
                  <a:close/>
                </a:path>
              </a:pathLst>
            </a:custGeom>
            <a:solidFill>
              <a:srgbClr val="7A3E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19450" y="3047999"/>
              <a:ext cx="257175" cy="257175"/>
            </a:xfrm>
            <a:prstGeom prst="rect">
              <a:avLst/>
            </a:prstGeom>
          </p:spPr>
        </p:pic>
      </p:grpSp>
      <p:sp>
        <p:nvSpPr>
          <p:cNvPr id="53" name="object 53" descr=""/>
          <p:cNvSpPr txBox="1"/>
          <p:nvPr/>
        </p:nvSpPr>
        <p:spPr>
          <a:xfrm>
            <a:off x="3520440" y="3080067"/>
            <a:ext cx="848994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GUI</a:t>
            </a:r>
            <a:r>
              <a:rPr dirty="0" sz="950" spc="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Framework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3273425" y="3498215"/>
            <a:ext cx="103060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2245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Tkinter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/</a:t>
            </a:r>
            <a:r>
              <a:rPr dirty="0" sz="1050" spc="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PyQt5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3273425" y="3855084"/>
            <a:ext cx="106108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1610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Dark</a:t>
            </a:r>
            <a:r>
              <a:rPr dirty="0" sz="10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dashboard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3273425" y="4212272"/>
            <a:ext cx="113728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1610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Live</a:t>
            </a:r>
            <a:r>
              <a:rPr dirty="0" sz="1050" spc="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chart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embed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5905500" y="2905061"/>
            <a:ext cx="3091180" cy="1824355"/>
            <a:chOff x="5905500" y="2905061"/>
            <a:chExt cx="3091180" cy="1824355"/>
          </a:xfrm>
        </p:grpSpPr>
        <p:pic>
          <p:nvPicPr>
            <p:cNvPr id="58" name="object 5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05500" y="2905061"/>
              <a:ext cx="3090926" cy="1824101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6091301" y="3014725"/>
              <a:ext cx="2800350" cy="1533525"/>
            </a:xfrm>
            <a:custGeom>
              <a:avLst/>
              <a:gdLst/>
              <a:ahLst/>
              <a:cxnLst/>
              <a:rect l="l" t="t" r="r" b="b"/>
              <a:pathLst>
                <a:path w="2800350" h="1533525">
                  <a:moveTo>
                    <a:pt x="2709037" y="0"/>
                  </a:moveTo>
                  <a:lnTo>
                    <a:pt x="91186" y="0"/>
                  </a:lnTo>
                  <a:lnTo>
                    <a:pt x="55667" y="7157"/>
                  </a:lnTo>
                  <a:lnTo>
                    <a:pt x="26685" y="26685"/>
                  </a:lnTo>
                  <a:lnTo>
                    <a:pt x="7157" y="55667"/>
                  </a:lnTo>
                  <a:lnTo>
                    <a:pt x="0" y="91186"/>
                  </a:lnTo>
                  <a:lnTo>
                    <a:pt x="0" y="1442186"/>
                  </a:lnTo>
                  <a:lnTo>
                    <a:pt x="7157" y="1477713"/>
                  </a:lnTo>
                  <a:lnTo>
                    <a:pt x="26685" y="1506726"/>
                  </a:lnTo>
                  <a:lnTo>
                    <a:pt x="55667" y="1526288"/>
                  </a:lnTo>
                  <a:lnTo>
                    <a:pt x="91186" y="1533461"/>
                  </a:lnTo>
                  <a:lnTo>
                    <a:pt x="2709037" y="1533461"/>
                  </a:lnTo>
                  <a:lnTo>
                    <a:pt x="2744575" y="1526288"/>
                  </a:lnTo>
                  <a:lnTo>
                    <a:pt x="2773600" y="1506726"/>
                  </a:lnTo>
                  <a:lnTo>
                    <a:pt x="2793172" y="1477713"/>
                  </a:lnTo>
                  <a:lnTo>
                    <a:pt x="2800350" y="1442186"/>
                  </a:lnTo>
                  <a:lnTo>
                    <a:pt x="2800350" y="91186"/>
                  </a:lnTo>
                  <a:lnTo>
                    <a:pt x="2793172" y="55667"/>
                  </a:lnTo>
                  <a:lnTo>
                    <a:pt x="2773600" y="26685"/>
                  </a:lnTo>
                  <a:lnTo>
                    <a:pt x="2744575" y="7157"/>
                  </a:lnTo>
                  <a:lnTo>
                    <a:pt x="2709037" y="0"/>
                  </a:lnTo>
                  <a:close/>
                </a:path>
              </a:pathLst>
            </a:custGeom>
            <a:solidFill>
              <a:srgbClr val="E8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091301" y="3014725"/>
              <a:ext cx="2800350" cy="1533525"/>
            </a:xfrm>
            <a:custGeom>
              <a:avLst/>
              <a:gdLst/>
              <a:ahLst/>
              <a:cxnLst/>
              <a:rect l="l" t="t" r="r" b="b"/>
              <a:pathLst>
                <a:path w="2800350" h="1533525">
                  <a:moveTo>
                    <a:pt x="0" y="91186"/>
                  </a:moveTo>
                  <a:lnTo>
                    <a:pt x="7157" y="55667"/>
                  </a:lnTo>
                  <a:lnTo>
                    <a:pt x="26685" y="26685"/>
                  </a:lnTo>
                  <a:lnTo>
                    <a:pt x="55667" y="7157"/>
                  </a:lnTo>
                  <a:lnTo>
                    <a:pt x="91186" y="0"/>
                  </a:lnTo>
                  <a:lnTo>
                    <a:pt x="2709037" y="0"/>
                  </a:lnTo>
                  <a:lnTo>
                    <a:pt x="2744575" y="7157"/>
                  </a:lnTo>
                  <a:lnTo>
                    <a:pt x="2773600" y="26685"/>
                  </a:lnTo>
                  <a:lnTo>
                    <a:pt x="2793172" y="55667"/>
                  </a:lnTo>
                  <a:lnTo>
                    <a:pt x="2800350" y="91186"/>
                  </a:lnTo>
                  <a:lnTo>
                    <a:pt x="2800350" y="1442186"/>
                  </a:lnTo>
                  <a:lnTo>
                    <a:pt x="2793172" y="1477713"/>
                  </a:lnTo>
                  <a:lnTo>
                    <a:pt x="2773600" y="1506726"/>
                  </a:lnTo>
                  <a:lnTo>
                    <a:pt x="2744575" y="1526288"/>
                  </a:lnTo>
                  <a:lnTo>
                    <a:pt x="2709037" y="1533461"/>
                  </a:lnTo>
                  <a:lnTo>
                    <a:pt x="91186" y="1533461"/>
                  </a:lnTo>
                  <a:lnTo>
                    <a:pt x="55667" y="1526288"/>
                  </a:lnTo>
                  <a:lnTo>
                    <a:pt x="26685" y="1506726"/>
                  </a:lnTo>
                  <a:lnTo>
                    <a:pt x="7157" y="1477713"/>
                  </a:lnTo>
                  <a:lnTo>
                    <a:pt x="0" y="1442186"/>
                  </a:lnTo>
                  <a:lnTo>
                    <a:pt x="0" y="91186"/>
                  </a:lnTo>
                  <a:close/>
                </a:path>
              </a:pathLst>
            </a:custGeom>
            <a:ln w="8890">
              <a:solidFill>
                <a:srgbClr val="1A79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086475" y="3009899"/>
              <a:ext cx="2800350" cy="323850"/>
            </a:xfrm>
            <a:custGeom>
              <a:avLst/>
              <a:gdLst/>
              <a:ahLst/>
              <a:cxnLst/>
              <a:rect l="l" t="t" r="r" b="b"/>
              <a:pathLst>
                <a:path w="2800350" h="323850">
                  <a:moveTo>
                    <a:pt x="2800350" y="89916"/>
                  </a:moveTo>
                  <a:lnTo>
                    <a:pt x="2793276" y="54927"/>
                  </a:lnTo>
                  <a:lnTo>
                    <a:pt x="2774010" y="26339"/>
                  </a:lnTo>
                  <a:lnTo>
                    <a:pt x="2745422" y="7073"/>
                  </a:lnTo>
                  <a:lnTo>
                    <a:pt x="2710434" y="0"/>
                  </a:lnTo>
                  <a:lnTo>
                    <a:pt x="89916" y="0"/>
                  </a:lnTo>
                  <a:lnTo>
                    <a:pt x="54914" y="7073"/>
                  </a:lnTo>
                  <a:lnTo>
                    <a:pt x="26327" y="26339"/>
                  </a:lnTo>
                  <a:lnTo>
                    <a:pt x="7061" y="54927"/>
                  </a:lnTo>
                  <a:lnTo>
                    <a:pt x="0" y="89916"/>
                  </a:lnTo>
                  <a:lnTo>
                    <a:pt x="0" y="161925"/>
                  </a:lnTo>
                  <a:lnTo>
                    <a:pt x="0" y="233934"/>
                  </a:lnTo>
                  <a:lnTo>
                    <a:pt x="0" y="323850"/>
                  </a:lnTo>
                  <a:lnTo>
                    <a:pt x="89916" y="323850"/>
                  </a:lnTo>
                  <a:lnTo>
                    <a:pt x="2710434" y="323850"/>
                  </a:lnTo>
                  <a:lnTo>
                    <a:pt x="2800350" y="323850"/>
                  </a:lnTo>
                  <a:lnTo>
                    <a:pt x="2800350" y="233934"/>
                  </a:lnTo>
                  <a:lnTo>
                    <a:pt x="2800350" y="161925"/>
                  </a:lnTo>
                  <a:lnTo>
                    <a:pt x="2800350" y="89916"/>
                  </a:lnTo>
                  <a:close/>
                </a:path>
              </a:pathLst>
            </a:custGeom>
            <a:solidFill>
              <a:srgbClr val="1A794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62675" y="3047999"/>
              <a:ext cx="257175" cy="257175"/>
            </a:xfrm>
            <a:prstGeom prst="rect">
              <a:avLst/>
            </a:prstGeom>
          </p:spPr>
        </p:pic>
      </p:grpSp>
      <p:sp>
        <p:nvSpPr>
          <p:cNvPr id="63" name="object 63" descr=""/>
          <p:cNvSpPr txBox="1"/>
          <p:nvPr/>
        </p:nvSpPr>
        <p:spPr>
          <a:xfrm>
            <a:off x="6468109" y="3080067"/>
            <a:ext cx="48450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Datasets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7" name="object 6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Quantum-Inspired</a:t>
            </a:r>
            <a:r>
              <a:rPr dirty="0" spc="80"/>
              <a:t> </a:t>
            </a:r>
            <a:r>
              <a:rPr dirty="0"/>
              <a:t>NIDS</a:t>
            </a:r>
            <a:r>
              <a:rPr dirty="0" spc="355"/>
              <a:t> </a:t>
            </a:r>
            <a:r>
              <a:rPr dirty="0"/>
              <a:t>|</a:t>
            </a:r>
            <a:r>
              <a:rPr dirty="0" spc="250"/>
              <a:t> </a:t>
            </a:r>
            <a:r>
              <a:rPr dirty="0"/>
              <a:t>Ini</a:t>
            </a:r>
            <a:r>
              <a:rPr dirty="0" spc="-55"/>
              <a:t> </a:t>
            </a:r>
            <a:r>
              <a:rPr dirty="0"/>
              <a:t>tial</a:t>
            </a:r>
            <a:r>
              <a:rPr dirty="0" spc="155"/>
              <a:t> </a:t>
            </a:r>
            <a:r>
              <a:rPr dirty="0" spc="-10"/>
              <a:t>Defence</a:t>
            </a:r>
          </a:p>
        </p:txBody>
      </p:sp>
      <p:sp>
        <p:nvSpPr>
          <p:cNvPr id="64" name="object 64" descr=""/>
          <p:cNvSpPr txBox="1"/>
          <p:nvPr/>
        </p:nvSpPr>
        <p:spPr>
          <a:xfrm>
            <a:off x="6220714" y="3498215"/>
            <a:ext cx="11899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2245" algn="l"/>
              </a:tabLst>
            </a:pP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NSL-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KDD</a:t>
            </a:r>
            <a:r>
              <a:rPr dirty="0" sz="1050" spc="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(UNB.ca)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6220714" y="3855084"/>
            <a:ext cx="88773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2245" algn="l"/>
              </a:tabLst>
            </a:pP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UNSW-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NB15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6220714" y="4212272"/>
            <a:ext cx="112077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82245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Publicly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available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855" y="301307"/>
            <a:ext cx="4812030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400">
                <a:solidFill>
                  <a:srgbClr val="FFFFFF"/>
                </a:solidFill>
              </a:rPr>
              <a:t>Expected</a:t>
            </a:r>
            <a:r>
              <a:rPr dirty="0" sz="4400" spc="-229">
                <a:solidFill>
                  <a:srgbClr val="FFFFFF"/>
                </a:solidFill>
              </a:rPr>
              <a:t> </a:t>
            </a:r>
            <a:r>
              <a:rPr dirty="0" sz="4400" spc="-10">
                <a:solidFill>
                  <a:srgbClr val="FFFFFF"/>
                </a:solidFill>
              </a:rPr>
              <a:t>Interface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27087" y="4437062"/>
            <a:ext cx="4080510" cy="450850"/>
            <a:chOff x="827087" y="4437062"/>
            <a:chExt cx="4080510" cy="450850"/>
          </a:xfrm>
        </p:grpSpPr>
        <p:sp>
          <p:nvSpPr>
            <p:cNvPr id="4" name="object 4" descr=""/>
            <p:cNvSpPr/>
            <p:nvPr/>
          </p:nvSpPr>
          <p:spPr>
            <a:xfrm>
              <a:off x="833437" y="4443412"/>
              <a:ext cx="4067810" cy="438150"/>
            </a:xfrm>
            <a:custGeom>
              <a:avLst/>
              <a:gdLst/>
              <a:ahLst/>
              <a:cxnLst/>
              <a:rect l="l" t="t" r="r" b="b"/>
              <a:pathLst>
                <a:path w="4067810" h="438150">
                  <a:moveTo>
                    <a:pt x="3975925" y="0"/>
                  </a:moveTo>
                  <a:lnTo>
                    <a:pt x="91274" y="0"/>
                  </a:lnTo>
                  <a:lnTo>
                    <a:pt x="55748" y="7173"/>
                  </a:lnTo>
                  <a:lnTo>
                    <a:pt x="26735" y="26736"/>
                  </a:lnTo>
                  <a:lnTo>
                    <a:pt x="7173" y="55753"/>
                  </a:lnTo>
                  <a:lnTo>
                    <a:pt x="0" y="91287"/>
                  </a:lnTo>
                  <a:lnTo>
                    <a:pt x="0" y="346875"/>
                  </a:lnTo>
                  <a:lnTo>
                    <a:pt x="7173" y="382401"/>
                  </a:lnTo>
                  <a:lnTo>
                    <a:pt x="26735" y="411414"/>
                  </a:lnTo>
                  <a:lnTo>
                    <a:pt x="55748" y="430976"/>
                  </a:lnTo>
                  <a:lnTo>
                    <a:pt x="91274" y="438150"/>
                  </a:lnTo>
                  <a:lnTo>
                    <a:pt x="3975925" y="438150"/>
                  </a:lnTo>
                  <a:lnTo>
                    <a:pt x="4011463" y="430976"/>
                  </a:lnTo>
                  <a:lnTo>
                    <a:pt x="4040489" y="411414"/>
                  </a:lnTo>
                  <a:lnTo>
                    <a:pt x="4060061" y="382401"/>
                  </a:lnTo>
                  <a:lnTo>
                    <a:pt x="4067238" y="346875"/>
                  </a:lnTo>
                  <a:lnTo>
                    <a:pt x="4067238" y="91287"/>
                  </a:lnTo>
                  <a:lnTo>
                    <a:pt x="4060061" y="55753"/>
                  </a:lnTo>
                  <a:lnTo>
                    <a:pt x="4040489" y="26736"/>
                  </a:lnTo>
                  <a:lnTo>
                    <a:pt x="4011463" y="7173"/>
                  </a:lnTo>
                  <a:lnTo>
                    <a:pt x="3975925" y="0"/>
                  </a:lnTo>
                  <a:close/>
                </a:path>
              </a:pathLst>
            </a:custGeom>
            <a:solidFill>
              <a:srgbClr val="1B3C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437" y="4443412"/>
              <a:ext cx="4067810" cy="438150"/>
            </a:xfrm>
            <a:custGeom>
              <a:avLst/>
              <a:gdLst/>
              <a:ahLst/>
              <a:cxnLst/>
              <a:rect l="l" t="t" r="r" b="b"/>
              <a:pathLst>
                <a:path w="4067810" h="438150">
                  <a:moveTo>
                    <a:pt x="0" y="91287"/>
                  </a:moveTo>
                  <a:lnTo>
                    <a:pt x="7173" y="55753"/>
                  </a:lnTo>
                  <a:lnTo>
                    <a:pt x="26735" y="26736"/>
                  </a:lnTo>
                  <a:lnTo>
                    <a:pt x="55748" y="7173"/>
                  </a:lnTo>
                  <a:lnTo>
                    <a:pt x="91274" y="0"/>
                  </a:lnTo>
                  <a:lnTo>
                    <a:pt x="3975925" y="0"/>
                  </a:lnTo>
                  <a:lnTo>
                    <a:pt x="4011463" y="7173"/>
                  </a:lnTo>
                  <a:lnTo>
                    <a:pt x="4040489" y="26736"/>
                  </a:lnTo>
                  <a:lnTo>
                    <a:pt x="4060061" y="55753"/>
                  </a:lnTo>
                  <a:lnTo>
                    <a:pt x="4067238" y="91287"/>
                  </a:lnTo>
                  <a:lnTo>
                    <a:pt x="4067238" y="346875"/>
                  </a:lnTo>
                  <a:lnTo>
                    <a:pt x="4060061" y="382401"/>
                  </a:lnTo>
                  <a:lnTo>
                    <a:pt x="4040489" y="411414"/>
                  </a:lnTo>
                  <a:lnTo>
                    <a:pt x="4011463" y="430976"/>
                  </a:lnTo>
                  <a:lnTo>
                    <a:pt x="3975925" y="438150"/>
                  </a:lnTo>
                  <a:lnTo>
                    <a:pt x="91274" y="438150"/>
                  </a:lnTo>
                  <a:lnTo>
                    <a:pt x="55748" y="430976"/>
                  </a:lnTo>
                  <a:lnTo>
                    <a:pt x="26735" y="411414"/>
                  </a:lnTo>
                  <a:lnTo>
                    <a:pt x="7173" y="382401"/>
                  </a:lnTo>
                  <a:lnTo>
                    <a:pt x="0" y="346875"/>
                  </a:lnTo>
                  <a:lnTo>
                    <a:pt x="0" y="91287"/>
                  </a:lnTo>
                  <a:close/>
                </a:path>
              </a:pathLst>
            </a:custGeom>
            <a:ln w="12700">
              <a:solidFill>
                <a:srgbClr val="395F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273810" y="4564697"/>
            <a:ext cx="303085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5A8BAF"/>
                </a:solidFill>
                <a:latin typeface="Calibri"/>
                <a:cs typeface="Calibri"/>
              </a:rPr>
              <a:t>Supervised</a:t>
            </a:r>
            <a:r>
              <a:rPr dirty="0" sz="950" spc="65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5A8BAF"/>
                </a:solidFill>
                <a:latin typeface="Calibri"/>
                <a:cs typeface="Calibri"/>
              </a:rPr>
              <a:t>by:</a:t>
            </a:r>
            <a:r>
              <a:rPr dirty="0" sz="950" spc="90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5A8BAF"/>
                </a:solidFill>
                <a:latin typeface="Calibri"/>
                <a:cs typeface="Calibri"/>
              </a:rPr>
              <a:t>Prof.</a:t>
            </a:r>
            <a:r>
              <a:rPr dirty="0" sz="950" spc="114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5A8BAF"/>
                </a:solidFill>
                <a:latin typeface="Calibri"/>
                <a:cs typeface="Calibri"/>
              </a:rPr>
              <a:t>Dr</a:t>
            </a:r>
            <a:r>
              <a:rPr dirty="0" sz="950" spc="90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5A8BAF"/>
                </a:solidFill>
                <a:latin typeface="Calibri"/>
                <a:cs typeface="Calibri"/>
              </a:rPr>
              <a:t>Syed</a:t>
            </a:r>
            <a:r>
              <a:rPr dirty="0" sz="950" spc="65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5A8BAF"/>
                </a:solidFill>
                <a:latin typeface="Calibri"/>
                <a:cs typeface="Calibri"/>
              </a:rPr>
              <a:t>Ali</a:t>
            </a:r>
            <a:r>
              <a:rPr dirty="0" sz="950" spc="50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5A8BAF"/>
                </a:solidFill>
                <a:latin typeface="Calibri"/>
                <a:cs typeface="Calibri"/>
              </a:rPr>
              <a:t>Abbas</a:t>
            </a:r>
            <a:r>
              <a:rPr dirty="0" sz="950" spc="370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5A8BAF"/>
                </a:solidFill>
                <a:latin typeface="Calibri"/>
                <a:cs typeface="Calibri"/>
              </a:rPr>
              <a:t>|</a:t>
            </a:r>
            <a:r>
              <a:rPr dirty="0" sz="950" spc="315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5A8BAF"/>
                </a:solidFill>
                <a:latin typeface="Calibri"/>
                <a:cs typeface="Calibri"/>
              </a:rPr>
              <a:t>BSCS</a:t>
            </a:r>
            <a:r>
              <a:rPr dirty="0" sz="950" spc="55">
                <a:solidFill>
                  <a:srgbClr val="5A8BA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5A8BAF"/>
                </a:solidFill>
                <a:latin typeface="Calibri"/>
                <a:cs typeface="Calibri"/>
              </a:rPr>
              <a:t>2022–2026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1285875"/>
            <a:ext cx="5038725" cy="3105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2026-02-27T01:16:53Z</dcterms:created>
  <dcterms:modified xsi:type="dcterms:W3CDTF">2026-02-27T01:16:53Z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2026-02-26T00:00:00Z</vt:filetime>
  </property>
  <property fmtid="{D5CDD505-2E9C-101B-9397-08002B2CF9AE}" pid="3" name="LastSaved">
    <vt:filetime>2026-02-27T00:00:00Z</vt:filetime>
  </property>
</Properties>
</file>